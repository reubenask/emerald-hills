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3" r:id="rId4"/>
    <p:sldId id="258" r:id="rId5"/>
    <p:sldId id="259" r:id="rId6"/>
    <p:sldId id="260" r:id="rId7"/>
    <p:sldId id="261" r:id="rId8"/>
    <p:sldId id="262" r:id="rId9"/>
    <p:sldId id="264" r:id="rId10"/>
    <p:sldId id="265" r:id="rId11"/>
    <p:sldId id="268"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8"/>
    <p:restoredTop sz="84315"/>
  </p:normalViewPr>
  <p:slideViewPr>
    <p:cSldViewPr snapToGrid="0" snapToObjects="1">
      <p:cViewPr varScale="1">
        <p:scale>
          <a:sx n="141" d="100"/>
          <a:sy n="141" d="100"/>
        </p:scale>
        <p:origin x="4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0936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'What does a detective do?' Guide them to discover that today they'll be Grammar Detectives — hunting mistakes instead of criminals. Point to Xiaohei on the screen: 'This is our helper. He's holding a magnifying glass. What do you think he's looking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station box on the conveyor belt one at a time. Ask: 'A conveyor belt moves things forward — what does that tell us about this task?' Read the tip at the bottom aloud, then have students repeat it back to you. Xiaohei is standing at the end looking proud — he's waiting for YOU to reach Step 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sz="1200" b="1" u="none" strike="noStrike" kern="1200" dirty="0">
                <a:solidFill>
                  <a:schemeClr val="tx1"/>
                </a:solidFill>
                <a:effectLst/>
                <a:latin typeface="+mn-lt"/>
                <a:ea typeface="+mn-ea"/>
                <a:cs typeface="+mn-cs"/>
              </a:rPr>
              <a:t>Incorrect:</a:t>
            </a:r>
            <a:r>
              <a:rPr lang="en-GB" sz="1200" b="0" u="none" strike="noStrike" kern="1200" dirty="0">
                <a:solidFill>
                  <a:schemeClr val="tx1"/>
                </a:solidFill>
                <a:effectLst/>
                <a:latin typeface="+mn-lt"/>
                <a:ea typeface="+mn-ea"/>
                <a:cs typeface="+mn-cs"/>
              </a:rPr>
              <a:t> we plays soccer after school\🟢 </a:t>
            </a:r>
            <a:r>
              <a:rPr lang="en-GB" sz="1200" b="1" u="none" strike="noStrike" kern="1200" dirty="0">
                <a:solidFill>
                  <a:schemeClr val="tx1"/>
                </a:solidFill>
                <a:effectLst/>
                <a:latin typeface="+mn-lt"/>
                <a:ea typeface="+mn-ea"/>
                <a:cs typeface="+mn-cs"/>
              </a:rPr>
              <a:t>Correction:</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W</a:t>
            </a:r>
            <a:r>
              <a:rPr lang="en-GB" sz="1200" b="0" u="none" strike="noStrike" kern="1200" dirty="0">
                <a:solidFill>
                  <a:schemeClr val="tx1"/>
                </a:solidFill>
                <a:effectLst/>
                <a:latin typeface="+mn-lt"/>
                <a:ea typeface="+mn-ea"/>
                <a:cs typeface="+mn-cs"/>
              </a:rPr>
              <a:t>e </a:t>
            </a:r>
            <a:r>
              <a:rPr lang="en-GB" sz="1200" b="1" u="none" strike="noStrike" kern="1200" dirty="0">
                <a:solidFill>
                  <a:schemeClr val="tx1"/>
                </a:solidFill>
                <a:effectLst/>
                <a:latin typeface="+mn-lt"/>
                <a:ea typeface="+mn-ea"/>
                <a:cs typeface="+mn-cs"/>
              </a:rPr>
              <a:t>play</a:t>
            </a:r>
            <a:r>
              <a:rPr lang="en-GB" sz="1200" b="0" u="none" strike="noStrike" kern="1200" dirty="0">
                <a:solidFill>
                  <a:schemeClr val="tx1"/>
                </a:solidFill>
                <a:effectLst/>
                <a:latin typeface="+mn-lt"/>
                <a:ea typeface="+mn-ea"/>
                <a:cs typeface="+mn-cs"/>
              </a:rPr>
              <a:t> soccer after school.</a:t>
            </a:r>
          </a:p>
          <a:p>
            <a:r>
              <a:rPr lang="en-GB" sz="1200" b="0" i="1" u="none" strike="noStrike" kern="1200" dirty="0">
                <a:solidFill>
                  <a:schemeClr val="tx1"/>
                </a:solidFill>
                <a:effectLst/>
                <a:latin typeface="+mn-lt"/>
                <a:ea typeface="+mn-ea"/>
                <a:cs typeface="+mn-cs"/>
              </a:rPr>
              <a:t>Errors:</a:t>
            </a:r>
            <a:r>
              <a:rPr lang="en-GB" sz="1200" b="0" u="none" strike="noStrike" kern="1200" dirty="0">
                <a:solidFill>
                  <a:schemeClr val="tx1"/>
                </a:solidFill>
                <a:effectLst/>
                <a:latin typeface="+mn-lt"/>
                <a:ea typeface="+mn-ea"/>
                <a:cs typeface="+mn-cs"/>
              </a:rPr>
              <a:t> Capitalization, verb grammar ("we play"), missing period.</a:t>
            </a:r>
          </a:p>
          <a:p>
            <a:r>
              <a:rPr lang="en-GB" sz="1200" b="1" u="none" strike="noStrike" kern="1200" dirty="0">
                <a:solidFill>
                  <a:schemeClr val="tx1"/>
                </a:solidFill>
                <a:effectLst/>
                <a:latin typeface="+mn-lt"/>
                <a:ea typeface="+mn-ea"/>
                <a:cs typeface="+mn-cs"/>
              </a:rPr>
              <a:t>Incorrect:</a:t>
            </a:r>
            <a:r>
              <a:rPr lang="en-GB" sz="1200" b="0" u="none" strike="noStrike" kern="1200" dirty="0">
                <a:solidFill>
                  <a:schemeClr val="tx1"/>
                </a:solidFill>
                <a:effectLst/>
                <a:latin typeface="+mn-lt"/>
                <a:ea typeface="+mn-ea"/>
                <a:cs typeface="+mn-cs"/>
              </a:rPr>
              <a:t> the baby cry because he is hungry\🟢 </a:t>
            </a:r>
            <a:r>
              <a:rPr lang="en-GB" sz="1200" b="1" u="none" strike="noStrike" kern="1200" dirty="0">
                <a:solidFill>
                  <a:schemeClr val="tx1"/>
                </a:solidFill>
                <a:effectLst/>
                <a:latin typeface="+mn-lt"/>
                <a:ea typeface="+mn-ea"/>
                <a:cs typeface="+mn-cs"/>
              </a:rPr>
              <a:t>Correction:</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T</a:t>
            </a:r>
            <a:r>
              <a:rPr lang="en-GB" sz="1200" b="0" u="none" strike="noStrike" kern="1200" dirty="0">
                <a:solidFill>
                  <a:schemeClr val="tx1"/>
                </a:solidFill>
                <a:effectLst/>
                <a:latin typeface="+mn-lt"/>
                <a:ea typeface="+mn-ea"/>
                <a:cs typeface="+mn-cs"/>
              </a:rPr>
              <a:t>he baby </a:t>
            </a:r>
            <a:r>
              <a:rPr lang="en-GB" sz="1200" b="1" u="none" strike="noStrike" kern="1200" dirty="0">
                <a:solidFill>
                  <a:schemeClr val="tx1"/>
                </a:solidFill>
                <a:effectLst/>
                <a:latin typeface="+mn-lt"/>
                <a:ea typeface="+mn-ea"/>
                <a:cs typeface="+mn-cs"/>
              </a:rPr>
              <a:t>cries</a:t>
            </a:r>
            <a:r>
              <a:rPr lang="en-GB" sz="1200" b="0" u="none" strike="noStrike" kern="1200" dirty="0">
                <a:solidFill>
                  <a:schemeClr val="tx1"/>
                </a:solidFill>
                <a:effectLst/>
                <a:latin typeface="+mn-lt"/>
                <a:ea typeface="+mn-ea"/>
                <a:cs typeface="+mn-cs"/>
              </a:rPr>
              <a:t> because he is hungry.</a:t>
            </a:r>
          </a:p>
          <a:p>
            <a:r>
              <a:rPr lang="en-GB" sz="1200" b="0" i="1" u="none" strike="noStrike" kern="1200" dirty="0">
                <a:solidFill>
                  <a:schemeClr val="tx1"/>
                </a:solidFill>
                <a:effectLst/>
                <a:latin typeface="+mn-lt"/>
                <a:ea typeface="+mn-ea"/>
                <a:cs typeface="+mn-cs"/>
              </a:rPr>
              <a:t>Errors:</a:t>
            </a:r>
            <a:r>
              <a:rPr lang="en-GB" sz="1200" b="0" u="none" strike="noStrike" kern="1200" dirty="0">
                <a:solidFill>
                  <a:schemeClr val="tx1"/>
                </a:solidFill>
                <a:effectLst/>
                <a:latin typeface="+mn-lt"/>
                <a:ea typeface="+mn-ea"/>
                <a:cs typeface="+mn-cs"/>
              </a:rPr>
              <a:t> Capitalization, verb grammar ("baby cries"), missing period.</a:t>
            </a:r>
          </a:p>
          <a:p>
            <a:r>
              <a:rPr lang="en-GB" sz="1200" b="1" u="none" strike="noStrike" kern="1200" dirty="0">
                <a:solidFill>
                  <a:schemeClr val="tx1"/>
                </a:solidFill>
                <a:effectLst/>
                <a:latin typeface="+mn-lt"/>
                <a:ea typeface="+mn-ea"/>
                <a:cs typeface="+mn-cs"/>
              </a:rPr>
              <a:t>Incorrect:</a:t>
            </a:r>
            <a:r>
              <a:rPr lang="en-GB" sz="1200" b="0" u="none" strike="noStrike" kern="1200" dirty="0">
                <a:solidFill>
                  <a:schemeClr val="tx1"/>
                </a:solidFill>
                <a:effectLst/>
                <a:latin typeface="+mn-lt"/>
                <a:ea typeface="+mn-ea"/>
                <a:cs typeface="+mn-cs"/>
              </a:rPr>
              <a:t> look at that big yellow bus\🟢 </a:t>
            </a:r>
            <a:r>
              <a:rPr lang="en-GB" sz="1200" b="1" u="none" strike="noStrike" kern="1200" dirty="0">
                <a:solidFill>
                  <a:schemeClr val="tx1"/>
                </a:solidFill>
                <a:effectLst/>
                <a:latin typeface="+mn-lt"/>
                <a:ea typeface="+mn-ea"/>
                <a:cs typeface="+mn-cs"/>
              </a:rPr>
              <a:t>Correction:</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L</a:t>
            </a:r>
            <a:r>
              <a:rPr lang="en-GB" sz="1200" b="0" u="none" strike="noStrike" kern="1200" dirty="0">
                <a:solidFill>
                  <a:schemeClr val="tx1"/>
                </a:solidFill>
                <a:effectLst/>
                <a:latin typeface="+mn-lt"/>
                <a:ea typeface="+mn-ea"/>
                <a:cs typeface="+mn-cs"/>
              </a:rPr>
              <a:t>ook at that big yellow bus. (or </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a:t>
            </a:r>
          </a:p>
          <a:p>
            <a:r>
              <a:rPr lang="en-GB" sz="1200" b="0" i="1" u="none" strike="noStrike" kern="1200" dirty="0">
                <a:solidFill>
                  <a:schemeClr val="tx1"/>
                </a:solidFill>
                <a:effectLst/>
                <a:latin typeface="+mn-lt"/>
                <a:ea typeface="+mn-ea"/>
                <a:cs typeface="+mn-cs"/>
              </a:rPr>
              <a:t>Errors:</a:t>
            </a:r>
            <a:r>
              <a:rPr lang="en-GB" sz="1200" b="0" u="none" strike="noStrike" kern="1200" dirty="0">
                <a:solidFill>
                  <a:schemeClr val="tx1"/>
                </a:solidFill>
                <a:effectLst/>
                <a:latin typeface="+mn-lt"/>
                <a:ea typeface="+mn-ea"/>
                <a:cs typeface="+mn-cs"/>
              </a:rPr>
              <a:t> Capitalization, missing punctuation at the end.</a:t>
            </a:r>
          </a:p>
          <a:p>
            <a:r>
              <a:rPr lang="en-GB" sz="1200" b="1" u="none" strike="noStrike" kern="1200" dirty="0">
                <a:solidFill>
                  <a:schemeClr val="tx1"/>
                </a:solidFill>
                <a:effectLst/>
                <a:latin typeface="+mn-lt"/>
                <a:ea typeface="+mn-ea"/>
                <a:cs typeface="+mn-cs"/>
              </a:rPr>
              <a:t>Incorrect: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saw three birds in the tree\🟢 </a:t>
            </a:r>
            <a:r>
              <a:rPr lang="en-GB" sz="1200" b="1" u="none" strike="noStrike" kern="1200" dirty="0">
                <a:solidFill>
                  <a:schemeClr val="tx1"/>
                </a:solidFill>
                <a:effectLst/>
                <a:latin typeface="+mn-lt"/>
                <a:ea typeface="+mn-ea"/>
                <a:cs typeface="+mn-cs"/>
              </a:rPr>
              <a:t>Correction:</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saw three birds in the tree.</a:t>
            </a:r>
          </a:p>
          <a:p>
            <a:r>
              <a:rPr lang="en-GB" sz="1200" b="0" i="1" u="none" strike="noStrike" kern="1200" dirty="0">
                <a:solidFill>
                  <a:schemeClr val="tx1"/>
                </a:solidFill>
                <a:effectLst/>
                <a:latin typeface="+mn-lt"/>
                <a:ea typeface="+mn-ea"/>
                <a:cs typeface="+mn-cs"/>
              </a:rPr>
              <a:t>Errors:</a:t>
            </a:r>
            <a:r>
              <a:rPr lang="en-GB" sz="1200" b="0" u="none" strike="noStrike" kern="1200" dirty="0">
                <a:solidFill>
                  <a:schemeClr val="tx1"/>
                </a:solidFill>
                <a:effectLst/>
                <a:latin typeface="+mn-lt"/>
                <a:ea typeface="+mn-ea"/>
                <a:cs typeface="+mn-cs"/>
              </a:rPr>
              <a:t> Capitalization of pronoun "I", missing period.</a:t>
            </a:r>
          </a:p>
          <a:p>
            <a:r>
              <a:rPr lang="en-GB" sz="1200" b="1" u="none" strike="noStrike" kern="1200" dirty="0">
                <a:solidFill>
                  <a:schemeClr val="tx1"/>
                </a:solidFill>
                <a:effectLst/>
                <a:latin typeface="+mn-lt"/>
                <a:ea typeface="+mn-ea"/>
                <a:cs typeface="+mn-cs"/>
              </a:rPr>
              <a:t>Incorrect:</a:t>
            </a:r>
            <a:r>
              <a:rPr lang="en-GB" sz="1200" b="0" u="none" strike="noStrike" kern="1200" dirty="0">
                <a:solidFill>
                  <a:schemeClr val="tx1"/>
                </a:solidFill>
                <a:effectLst/>
                <a:latin typeface="+mn-lt"/>
                <a:ea typeface="+mn-ea"/>
                <a:cs typeface="+mn-cs"/>
              </a:rPr>
              <a:t> tomorrow we will visits the library\🟢 </a:t>
            </a:r>
            <a:r>
              <a:rPr lang="en-GB" sz="1200" b="1" u="none" strike="noStrike" kern="1200" dirty="0">
                <a:solidFill>
                  <a:schemeClr val="tx1"/>
                </a:solidFill>
                <a:effectLst/>
                <a:latin typeface="+mn-lt"/>
                <a:ea typeface="+mn-ea"/>
                <a:cs typeface="+mn-cs"/>
              </a:rPr>
              <a:t>Correction:</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T</a:t>
            </a:r>
            <a:r>
              <a:rPr lang="en-GB" sz="1200" b="0" u="none" strike="noStrike" kern="1200" dirty="0">
                <a:solidFill>
                  <a:schemeClr val="tx1"/>
                </a:solidFill>
                <a:effectLst/>
                <a:latin typeface="+mn-lt"/>
                <a:ea typeface="+mn-ea"/>
                <a:cs typeface="+mn-cs"/>
              </a:rPr>
              <a:t>omorrow we will </a:t>
            </a:r>
            <a:r>
              <a:rPr lang="en-GB" sz="1200" b="1" u="none" strike="noStrike" kern="1200" dirty="0">
                <a:solidFill>
                  <a:schemeClr val="tx1"/>
                </a:solidFill>
                <a:effectLst/>
                <a:latin typeface="+mn-lt"/>
                <a:ea typeface="+mn-ea"/>
                <a:cs typeface="+mn-cs"/>
              </a:rPr>
              <a:t>visit</a:t>
            </a:r>
            <a:r>
              <a:rPr lang="en-GB" sz="1200" b="0" u="none" strike="noStrike" kern="1200" dirty="0">
                <a:solidFill>
                  <a:schemeClr val="tx1"/>
                </a:solidFill>
                <a:effectLst/>
                <a:latin typeface="+mn-lt"/>
                <a:ea typeface="+mn-ea"/>
                <a:cs typeface="+mn-cs"/>
              </a:rPr>
              <a:t> the library.</a:t>
            </a:r>
          </a:p>
          <a:p>
            <a:r>
              <a:rPr lang="en-GB" sz="1200" b="0" i="1" u="none" strike="noStrike" kern="1200" dirty="0">
                <a:solidFill>
                  <a:schemeClr val="tx1"/>
                </a:solidFill>
                <a:effectLst/>
                <a:latin typeface="+mn-lt"/>
                <a:ea typeface="+mn-ea"/>
                <a:cs typeface="+mn-cs"/>
              </a:rPr>
              <a:t>Errors:</a:t>
            </a:r>
            <a:r>
              <a:rPr lang="en-GB" sz="1200" b="0" u="none" strike="noStrike" kern="1200" dirty="0">
                <a:solidFill>
                  <a:schemeClr val="tx1"/>
                </a:solidFill>
                <a:effectLst/>
                <a:latin typeface="+mn-lt"/>
                <a:ea typeface="+mn-ea"/>
                <a:cs typeface="+mn-cs"/>
              </a:rPr>
              <a:t> Capitalization, future tense verb grammar ("will visit"), missing period</a:t>
            </a:r>
          </a:p>
          <a:p>
            <a:endParaRPr lang="en-US" dirty="0"/>
          </a:p>
        </p:txBody>
      </p:sp>
    </p:spTree>
    <p:extLst>
      <p:ext uri="{BB962C8B-B14F-4D97-AF65-F5344CB8AC3E}">
        <p14:creationId xmlns:p14="http://schemas.microsoft.com/office/powerpoint/2010/main" val="3756527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your hand to mime three 'sweeps' across the board as you describe each pass. Pass 1 (red): 'Go back and CHECK — did the sentence start with a capital? Does it end with a period?' Pass 2 (orange): 'Sound out each word. Banana-e-s? Is that right?' Pass 3 (blue): 'Point to the verb. Does it match its subject?' Ask Xiaohei fans: 'What is Xiaohei doing here — is he checking once or three times?'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trap pit and the little Xiaohei falling in. For each one: read the WRONG form aloud with an exaggerated mistake, then ask 'What's wrong here?' before revealing. Trap 2 (pronoun): 'Sarah is a girl — so should we say HIS bag?' After all four, have students chant: 'Subject-verb! Pronoun! Past tense! Capital!'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'Xiaohei already found ONE error — can you find the rest?' Give 90 seconds of silent reading. Then call on students one at a time. After each correct answer: 'Which PASS did you use? Pass 1? 2? 3?' Do NOT show the answer slide yet — build the suspense. Hint if needed: 'Look at the very last word. Something is missing.'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correction slip at a time if possible (use animation or cover with a shape). For each: read the rule label aloud and have students repeat it. Point to the Pass tag: 'Which pass catches this one?' At the end: '4 out of 4 = Elite Detective status! How many did you get?' For students who got 2-3: 'Real detectives always get better with practice!'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three cards and ask students to recall each rule from memory. Mime each one: hold up fingers for '3 times', point your finger for Rule 2, cup your ear for Rule 3. Close by asking: 'Name ONE thing you will do differently next time you edit a text.' Xiaohei at the bottom has earned his Detective badge — so have your students.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274320"/>
            <a:ext cx="7772400" cy="4572000"/>
          </a:xfrm>
          <a:prstGeom prst="rect">
            <a:avLst/>
          </a:prstGeom>
        </p:spPr>
      </p:pic>
      <p:sp>
        <p:nvSpPr>
          <p:cNvPr id="3" name="Text 0"/>
          <p:cNvSpPr/>
          <p:nvPr/>
        </p:nvSpPr>
        <p:spPr>
          <a:xfrm>
            <a:off x="5669280" y="548640"/>
            <a:ext cx="3291840" cy="502920"/>
          </a:xfrm>
          <a:prstGeom prst="rect">
            <a:avLst/>
          </a:prstGeom>
          <a:noFill/>
          <a:ln/>
        </p:spPr>
        <p:txBody>
          <a:bodyPr wrap="square" lIns="0" tIns="0" rIns="0" bIns="0" rtlCol="0" anchor="ctr"/>
          <a:lstStyle/>
          <a:p>
            <a:pPr marL="0" indent="0" algn="l">
              <a:buNone/>
            </a:pPr>
            <a:r>
              <a:rPr lang="en-US" sz="2200" i="1" dirty="0">
                <a:solidFill>
                  <a:srgbClr val="888888"/>
                </a:solidFill>
                <a:latin typeface="Cambria" pitchFamily="34" charset="0"/>
                <a:ea typeface="Cambria" pitchFamily="34" charset="-122"/>
                <a:cs typeface="Cambria" pitchFamily="34" charset="-120"/>
              </a:rPr>
              <a:t>Becoming a</a:t>
            </a:r>
            <a:endParaRPr lang="en-US" sz="2200" dirty="0"/>
          </a:p>
        </p:txBody>
      </p:sp>
      <p:sp>
        <p:nvSpPr>
          <p:cNvPr id="4" name="Text 1"/>
          <p:cNvSpPr/>
          <p:nvPr/>
        </p:nvSpPr>
        <p:spPr>
          <a:xfrm>
            <a:off x="5577840" y="1005840"/>
            <a:ext cx="3429000" cy="1280160"/>
          </a:xfrm>
          <a:prstGeom prst="rect">
            <a:avLst/>
          </a:prstGeom>
          <a:noFill/>
          <a:ln/>
        </p:spPr>
        <p:txBody>
          <a:bodyPr wrap="square" lIns="0" tIns="0" rIns="0" bIns="0" rtlCol="0" anchor="ctr"/>
          <a:lstStyle/>
          <a:p>
            <a:pPr marL="0" indent="0" algn="l">
              <a:buNone/>
            </a:pPr>
            <a:r>
              <a:rPr lang="en-US" sz="4000" b="1" dirty="0">
                <a:solidFill>
                  <a:srgbClr val="1A1A1A"/>
                </a:solidFill>
                <a:latin typeface="Cambria" pitchFamily="34" charset="0"/>
                <a:ea typeface="Cambria" pitchFamily="34" charset="-122"/>
                <a:cs typeface="Cambria" pitchFamily="34" charset="-120"/>
              </a:rPr>
              <a:t>Grammar</a:t>
            </a:r>
            <a:endParaRPr lang="en-US" sz="4000" dirty="0"/>
          </a:p>
          <a:p>
            <a:pPr marL="0" indent="0" algn="l">
              <a:buNone/>
            </a:pPr>
            <a:r>
              <a:rPr lang="en-US" sz="4000" b="1" dirty="0">
                <a:solidFill>
                  <a:srgbClr val="1A1A1A"/>
                </a:solidFill>
                <a:latin typeface="Cambria" pitchFamily="34" charset="0"/>
                <a:ea typeface="Cambria" pitchFamily="34" charset="-122"/>
                <a:cs typeface="Cambria" pitchFamily="34" charset="-120"/>
              </a:rPr>
              <a:t>Detective</a:t>
            </a:r>
            <a:endParaRPr lang="en-US" sz="4000" dirty="0"/>
          </a:p>
        </p:txBody>
      </p:sp>
      <p:sp>
        <p:nvSpPr>
          <p:cNvPr id="5" name="Text 2"/>
          <p:cNvSpPr/>
          <p:nvPr/>
        </p:nvSpPr>
        <p:spPr>
          <a:xfrm>
            <a:off x="5577840" y="2377440"/>
            <a:ext cx="3429000" cy="411480"/>
          </a:xfrm>
          <a:prstGeom prst="rect">
            <a:avLst/>
          </a:prstGeom>
          <a:noFill/>
          <a:ln/>
        </p:spPr>
        <p:txBody>
          <a:bodyPr wrap="square" lIns="0" tIns="0" rIns="0" bIns="0" rtlCol="0" anchor="ctr"/>
          <a:lstStyle/>
          <a:p>
            <a:pPr marL="0" indent="0" algn="l">
              <a:buNone/>
            </a:pPr>
            <a:r>
              <a:rPr lang="en-US" sz="1500" i="1" dirty="0">
                <a:solidFill>
                  <a:srgbClr val="DD6B20"/>
                </a:solidFill>
                <a:latin typeface="Cambria" pitchFamily="34" charset="0"/>
                <a:ea typeface="Cambria" pitchFamily="34" charset="-122"/>
                <a:cs typeface="Cambria" pitchFamily="34" charset="-120"/>
              </a:rPr>
              <a:t>TOEFL Primary Step 2 Writing</a:t>
            </a:r>
            <a:endParaRPr lang="en-US" sz="1500" dirty="0"/>
          </a:p>
        </p:txBody>
      </p:sp>
      <p:sp>
        <p:nvSpPr>
          <p:cNvPr id="6" name="Shape 3"/>
          <p:cNvSpPr/>
          <p:nvPr/>
        </p:nvSpPr>
        <p:spPr>
          <a:xfrm>
            <a:off x="5577840" y="2834640"/>
            <a:ext cx="2926080" cy="0"/>
          </a:xfrm>
          <a:prstGeom prst="line">
            <a:avLst/>
          </a:prstGeom>
          <a:noFill/>
          <a:ln w="19050">
            <a:solidFill>
              <a:srgbClr val="DD6B20"/>
            </a:solidFill>
            <a:prstDash val="dash"/>
          </a:ln>
        </p:spPr>
        <p:txBody>
          <a:bodyPr/>
          <a:lstStyle/>
          <a:p>
            <a:endParaRPr lang="en-US"/>
          </a:p>
        </p:txBody>
      </p:sp>
      <p:sp>
        <p:nvSpPr>
          <p:cNvPr id="7" name="Text 4"/>
          <p:cNvSpPr/>
          <p:nvPr/>
        </p:nvSpPr>
        <p:spPr>
          <a:xfrm>
            <a:off x="5577840" y="4297680"/>
            <a:ext cx="2926080" cy="411480"/>
          </a:xfrm>
          <a:prstGeom prst="rect">
            <a:avLst/>
          </a:prstGeom>
          <a:noFill/>
          <a:ln/>
        </p:spPr>
        <p:txBody>
          <a:bodyPr wrap="square" lIns="0" tIns="0" rIns="0" bIns="0" rtlCol="0" anchor="ctr"/>
          <a:lstStyle/>
          <a:p>
            <a:pPr marL="0" indent="0" algn="l">
              <a:buNone/>
            </a:pPr>
            <a:r>
              <a:rPr lang="en-US" sz="1300" i="1" dirty="0">
                <a:solidFill>
                  <a:srgbClr val="2B6CB0"/>
                </a:solidFill>
                <a:latin typeface="Cambria" pitchFamily="34" charset="0"/>
                <a:ea typeface="Cambria" pitchFamily="34" charset="-122"/>
                <a:cs typeface="Cambria" pitchFamily="34" charset="-120"/>
              </a:rPr>
              <a:t>Edit a Text Task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731520"/>
            <a:ext cx="9144000" cy="4114800"/>
          </a:xfrm>
          <a:prstGeom prst="rect">
            <a:avLst/>
          </a:prstGeom>
        </p:spPr>
      </p:pic>
      <p:sp>
        <p:nvSpPr>
          <p:cNvPr id="3" name="Text 0"/>
          <p:cNvSpPr/>
          <p:nvPr/>
        </p:nvSpPr>
        <p:spPr>
          <a:xfrm>
            <a:off x="365760" y="45720"/>
            <a:ext cx="8229600" cy="594360"/>
          </a:xfrm>
          <a:prstGeom prst="rect">
            <a:avLst/>
          </a:prstGeom>
          <a:noFill/>
          <a:ln/>
        </p:spPr>
        <p:txBody>
          <a:bodyPr wrap="square" lIns="0" tIns="0" rIns="0" bIns="0" rtlCol="0" anchor="ctr"/>
          <a:lstStyle/>
          <a:p>
            <a:pPr marL="0" indent="0" algn="l">
              <a:buNone/>
            </a:pPr>
            <a:r>
              <a:rPr lang="en-US" sz="2800" b="1" dirty="0">
                <a:solidFill>
                  <a:srgbClr val="1A1A1A"/>
                </a:solidFill>
                <a:latin typeface="Cambria" pitchFamily="34" charset="0"/>
                <a:ea typeface="Cambria" pitchFamily="34" charset="-122"/>
                <a:cs typeface="Cambria" pitchFamily="34" charset="-120"/>
              </a:rPr>
              <a:t>What is the Goal?</a:t>
            </a:r>
            <a:endParaRPr lang="en-US" sz="2800" dirty="0"/>
          </a:p>
        </p:txBody>
      </p:sp>
      <p:sp>
        <p:nvSpPr>
          <p:cNvPr id="4" name="Shape 1"/>
          <p:cNvSpPr/>
          <p:nvPr/>
        </p:nvSpPr>
        <p:spPr>
          <a:xfrm>
            <a:off x="365760" y="658368"/>
            <a:ext cx="4114800" cy="0"/>
          </a:xfrm>
          <a:prstGeom prst="line">
            <a:avLst/>
          </a:prstGeom>
          <a:noFill/>
          <a:ln w="19050">
            <a:solidFill>
              <a:srgbClr val="E53E3E"/>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393440-9262-8611-8036-1B16D7C514FB}"/>
              </a:ext>
            </a:extLst>
          </p:cNvPr>
          <p:cNvSpPr txBox="1"/>
          <p:nvPr/>
        </p:nvSpPr>
        <p:spPr>
          <a:xfrm>
            <a:off x="622091" y="277318"/>
            <a:ext cx="7390151" cy="4301177"/>
          </a:xfrm>
          <a:prstGeom prst="rect">
            <a:avLst/>
          </a:prstGeom>
          <a:noFill/>
        </p:spPr>
        <p:txBody>
          <a:bodyPr wrap="square">
            <a:spAutoFit/>
          </a:bodyPr>
          <a:lstStyle/>
          <a:p>
            <a:pPr>
              <a:spcBef>
                <a:spcPts val="900"/>
              </a:spcBef>
              <a:spcAft>
                <a:spcPts val="1200"/>
              </a:spcAft>
              <a:buNone/>
            </a:pPr>
            <a:r>
              <a:rPr lang="en-GB" sz="2800" b="0" u="none" strike="noStrike" dirty="0">
                <a:effectLst/>
                <a:latin typeface="Google Sans"/>
              </a:rPr>
              <a:t>Here are 5 completely different incorrect sentences:</a:t>
            </a:r>
          </a:p>
          <a:p>
            <a:pPr>
              <a:spcBef>
                <a:spcPts val="900"/>
              </a:spcBef>
              <a:spcAft>
                <a:spcPts val="900"/>
              </a:spcAft>
              <a:buFont typeface="+mj-lt"/>
              <a:buAutoNum type="arabicPeriod"/>
            </a:pPr>
            <a:r>
              <a:rPr lang="en-GB" sz="2800" b="0" u="none" strike="noStrike" dirty="0">
                <a:effectLst/>
                <a:latin typeface="Google Sans"/>
              </a:rPr>
              <a:t>we plays soccer after school</a:t>
            </a:r>
          </a:p>
          <a:p>
            <a:pPr>
              <a:spcBef>
                <a:spcPts val="900"/>
              </a:spcBef>
              <a:spcAft>
                <a:spcPts val="900"/>
              </a:spcAft>
              <a:buFont typeface="+mj-lt"/>
              <a:buAutoNum type="arabicPeriod"/>
            </a:pPr>
            <a:r>
              <a:rPr lang="en-GB" sz="2800" b="0" u="none" strike="noStrike" dirty="0">
                <a:effectLst/>
                <a:latin typeface="Google Sans"/>
              </a:rPr>
              <a:t>the baby cry because he is hungry</a:t>
            </a:r>
          </a:p>
          <a:p>
            <a:pPr>
              <a:spcBef>
                <a:spcPts val="900"/>
              </a:spcBef>
              <a:spcAft>
                <a:spcPts val="900"/>
              </a:spcAft>
              <a:buFont typeface="+mj-lt"/>
              <a:buAutoNum type="arabicPeriod"/>
            </a:pPr>
            <a:r>
              <a:rPr lang="en-GB" sz="2800" b="0" u="none" strike="noStrike" dirty="0">
                <a:effectLst/>
                <a:latin typeface="Google Sans"/>
              </a:rPr>
              <a:t>look at that big yellow bus</a:t>
            </a:r>
          </a:p>
          <a:p>
            <a:pPr>
              <a:spcBef>
                <a:spcPts val="900"/>
              </a:spcBef>
              <a:spcAft>
                <a:spcPts val="900"/>
              </a:spcAft>
              <a:buFont typeface="+mj-lt"/>
              <a:buAutoNum type="arabicPeriod"/>
            </a:pPr>
            <a:r>
              <a:rPr lang="en-GB" sz="2800" b="0" u="none" strike="noStrike" dirty="0" err="1">
                <a:effectLst/>
                <a:latin typeface="Google Sans"/>
              </a:rPr>
              <a:t>i</a:t>
            </a:r>
            <a:r>
              <a:rPr lang="en-GB" sz="2800" b="0" u="none" strike="noStrike" dirty="0">
                <a:effectLst/>
                <a:latin typeface="Google Sans"/>
              </a:rPr>
              <a:t> saw three birds in the tree</a:t>
            </a:r>
          </a:p>
          <a:p>
            <a:pPr>
              <a:spcBef>
                <a:spcPts val="900"/>
              </a:spcBef>
              <a:spcAft>
                <a:spcPts val="900"/>
              </a:spcAft>
              <a:buFont typeface="+mj-lt"/>
              <a:buAutoNum type="arabicPeriod"/>
            </a:pPr>
            <a:r>
              <a:rPr lang="en-GB" sz="2800" b="0" u="none" strike="noStrike" dirty="0">
                <a:effectLst/>
                <a:latin typeface="Google Sans"/>
              </a:rPr>
              <a:t>tomorrow we will visits the library</a:t>
            </a:r>
          </a:p>
        </p:txBody>
      </p:sp>
    </p:spTree>
    <p:extLst>
      <p:ext uri="{BB962C8B-B14F-4D97-AF65-F5344CB8AC3E}">
        <p14:creationId xmlns:p14="http://schemas.microsoft.com/office/powerpoint/2010/main" val="2081008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640080"/>
            <a:ext cx="9144000" cy="4206240"/>
          </a:xfrm>
          <a:prstGeom prst="rect">
            <a:avLst/>
          </a:prstGeom>
        </p:spPr>
      </p:pic>
      <p:sp>
        <p:nvSpPr>
          <p:cNvPr id="3" name="Text 0"/>
          <p:cNvSpPr/>
          <p:nvPr/>
        </p:nvSpPr>
        <p:spPr>
          <a:xfrm>
            <a:off x="365760" y="45720"/>
            <a:ext cx="8229600" cy="548640"/>
          </a:xfrm>
          <a:prstGeom prst="rect">
            <a:avLst/>
          </a:prstGeom>
          <a:noFill/>
          <a:ln/>
        </p:spPr>
        <p:txBody>
          <a:bodyPr wrap="square" lIns="0" tIns="0" rIns="0" bIns="0" rtlCol="0" anchor="ctr"/>
          <a:lstStyle/>
          <a:p>
            <a:pPr marL="0" indent="0" algn="l">
              <a:buNone/>
            </a:pPr>
            <a:r>
              <a:rPr lang="en-US" sz="2800" b="1" dirty="0">
                <a:solidFill>
                  <a:srgbClr val="1A1A1A"/>
                </a:solidFill>
                <a:latin typeface="Cambria" pitchFamily="34" charset="0"/>
                <a:ea typeface="Cambria" pitchFamily="34" charset="-122"/>
                <a:cs typeface="Cambria" pitchFamily="34" charset="-120"/>
              </a:rPr>
              <a:t>The 3-Step Search Strategy</a:t>
            </a:r>
            <a:endParaRPr lang="en-US" sz="2800" dirty="0"/>
          </a:p>
        </p:txBody>
      </p:sp>
      <p:sp>
        <p:nvSpPr>
          <p:cNvPr id="4" name="Shape 1"/>
          <p:cNvSpPr/>
          <p:nvPr/>
        </p:nvSpPr>
        <p:spPr>
          <a:xfrm>
            <a:off x="365760" y="612648"/>
            <a:ext cx="5029200" cy="0"/>
          </a:xfrm>
          <a:prstGeom prst="line">
            <a:avLst/>
          </a:prstGeom>
          <a:noFill/>
          <a:ln w="19050">
            <a:solidFill>
              <a:srgbClr val="DD6B20"/>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594360"/>
            <a:ext cx="9144000" cy="4251960"/>
          </a:xfrm>
          <a:prstGeom prst="rect">
            <a:avLst/>
          </a:prstGeom>
        </p:spPr>
      </p:pic>
      <p:sp>
        <p:nvSpPr>
          <p:cNvPr id="3" name="Text 0"/>
          <p:cNvSpPr/>
          <p:nvPr/>
        </p:nvSpPr>
        <p:spPr>
          <a:xfrm>
            <a:off x="365760" y="45720"/>
            <a:ext cx="8229600" cy="502920"/>
          </a:xfrm>
          <a:prstGeom prst="rect">
            <a:avLst/>
          </a:prstGeom>
          <a:noFill/>
          <a:ln/>
        </p:spPr>
        <p:txBody>
          <a:bodyPr wrap="square" lIns="0" tIns="0" rIns="0" bIns="0" rtlCol="0" anchor="ctr"/>
          <a:lstStyle/>
          <a:p>
            <a:pPr marL="0" indent="0" algn="l">
              <a:buNone/>
            </a:pPr>
            <a:r>
              <a:rPr lang="en-US" sz="2800" b="1" dirty="0">
                <a:solidFill>
                  <a:srgbClr val="1A1A1A"/>
                </a:solidFill>
                <a:latin typeface="Cambria" pitchFamily="34" charset="0"/>
                <a:ea typeface="Cambria" pitchFamily="34" charset="-122"/>
                <a:cs typeface="Cambria" pitchFamily="34" charset="-120"/>
              </a:rPr>
              <a:t>Common TOEFL Traps</a:t>
            </a:r>
            <a:endParaRPr lang="en-US" sz="2800" dirty="0"/>
          </a:p>
        </p:txBody>
      </p:sp>
      <p:sp>
        <p:nvSpPr>
          <p:cNvPr id="4" name="Shape 1"/>
          <p:cNvSpPr/>
          <p:nvPr/>
        </p:nvSpPr>
        <p:spPr>
          <a:xfrm>
            <a:off x="365760" y="566928"/>
            <a:ext cx="3657600" cy="0"/>
          </a:xfrm>
          <a:prstGeom prst="line">
            <a:avLst/>
          </a:prstGeom>
          <a:noFill/>
          <a:ln w="19050">
            <a:solidFill>
              <a:srgbClr val="E53E3E"/>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640080"/>
            <a:ext cx="9144000" cy="4206240"/>
          </a:xfrm>
          <a:prstGeom prst="rect">
            <a:avLst/>
          </a:prstGeom>
        </p:spPr>
      </p:pic>
      <p:sp>
        <p:nvSpPr>
          <p:cNvPr id="3" name="Text 0"/>
          <p:cNvSpPr/>
          <p:nvPr/>
        </p:nvSpPr>
        <p:spPr>
          <a:xfrm>
            <a:off x="365760" y="45720"/>
            <a:ext cx="8412480" cy="548640"/>
          </a:xfrm>
          <a:prstGeom prst="rect">
            <a:avLst/>
          </a:prstGeom>
          <a:noFill/>
          <a:ln/>
        </p:spPr>
        <p:txBody>
          <a:bodyPr wrap="square" lIns="0" tIns="0" rIns="0" bIns="0" rtlCol="0" anchor="ctr"/>
          <a:lstStyle/>
          <a:p>
            <a:pPr marL="0" indent="0" algn="l">
              <a:buNone/>
            </a:pPr>
            <a:r>
              <a:rPr lang="en-US" sz="2600" b="1" dirty="0">
                <a:solidFill>
                  <a:srgbClr val="E53E3E"/>
                </a:solidFill>
                <a:latin typeface="Cambria" pitchFamily="34" charset="0"/>
                <a:ea typeface="Cambria" pitchFamily="34" charset="-122"/>
                <a:cs typeface="Cambria" pitchFamily="34" charset="-120"/>
              </a:rPr>
              <a:t>Class Mission: Find the 4 Errors!</a:t>
            </a:r>
            <a:endParaRPr lang="en-US" sz="2600" dirty="0"/>
          </a:p>
        </p:txBody>
      </p:sp>
      <p:sp>
        <p:nvSpPr>
          <p:cNvPr id="4" name="Shape 1"/>
          <p:cNvSpPr/>
          <p:nvPr/>
        </p:nvSpPr>
        <p:spPr>
          <a:xfrm>
            <a:off x="365760" y="612648"/>
            <a:ext cx="5943600" cy="0"/>
          </a:xfrm>
          <a:prstGeom prst="line">
            <a:avLst/>
          </a:prstGeom>
          <a:noFill/>
          <a:ln w="19050">
            <a:solidFill>
              <a:srgbClr val="E53E3E"/>
            </a:solidFill>
            <a:prstDash val="dash"/>
          </a:ln>
        </p:spPr>
        <p:txBody>
          <a:bodyPr/>
          <a:lstStyle/>
          <a:p>
            <a:endParaRPr lang="en-US"/>
          </a:p>
        </p:txBody>
      </p:sp>
      <p:sp>
        <p:nvSpPr>
          <p:cNvPr id="5" name="Oval 4">
            <a:extLst>
              <a:ext uri="{FF2B5EF4-FFF2-40B4-BE49-F238E27FC236}">
                <a16:creationId xmlns:a16="http://schemas.microsoft.com/office/drawing/2014/main" id="{312636C6-6C4D-3A8C-EDE8-82C8BB3E4A41}"/>
              </a:ext>
            </a:extLst>
          </p:cNvPr>
          <p:cNvSpPr/>
          <p:nvPr/>
        </p:nvSpPr>
        <p:spPr>
          <a:xfrm>
            <a:off x="2114550" y="1671638"/>
            <a:ext cx="564356" cy="3786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502920"/>
            <a:ext cx="9144000" cy="4343400"/>
          </a:xfrm>
          <a:prstGeom prst="rect">
            <a:avLst/>
          </a:prstGeom>
        </p:spPr>
      </p:pic>
      <p:sp>
        <p:nvSpPr>
          <p:cNvPr id="3" name="Text 0"/>
          <p:cNvSpPr/>
          <p:nvPr/>
        </p:nvSpPr>
        <p:spPr>
          <a:xfrm>
            <a:off x="365760" y="45720"/>
            <a:ext cx="8229600" cy="502920"/>
          </a:xfrm>
          <a:prstGeom prst="rect">
            <a:avLst/>
          </a:prstGeom>
          <a:noFill/>
          <a:ln/>
        </p:spPr>
        <p:txBody>
          <a:bodyPr wrap="square" lIns="0" tIns="0" rIns="0" bIns="0" rtlCol="0" anchor="ctr"/>
          <a:lstStyle/>
          <a:p>
            <a:pPr marL="0" indent="0" algn="l">
              <a:buNone/>
            </a:pPr>
            <a:r>
              <a:rPr lang="en-US" sz="2800" b="1" dirty="0">
                <a:solidFill>
                  <a:srgbClr val="2B6CB0"/>
                </a:solidFill>
                <a:latin typeface="Cambria" pitchFamily="34" charset="0"/>
                <a:ea typeface="Cambria" pitchFamily="34" charset="-122"/>
                <a:cs typeface="Cambria" pitchFamily="34" charset="-120"/>
              </a:rPr>
              <a:t>Mission Accomplished!</a:t>
            </a:r>
            <a:endParaRPr lang="en-US" sz="2800" dirty="0"/>
          </a:p>
        </p:txBody>
      </p:sp>
      <p:sp>
        <p:nvSpPr>
          <p:cNvPr id="4" name="Shape 1"/>
          <p:cNvSpPr/>
          <p:nvPr/>
        </p:nvSpPr>
        <p:spPr>
          <a:xfrm>
            <a:off x="365760" y="566928"/>
            <a:ext cx="3657600" cy="0"/>
          </a:xfrm>
          <a:prstGeom prst="line">
            <a:avLst/>
          </a:prstGeom>
          <a:noFill/>
          <a:ln w="19050">
            <a:solidFill>
              <a:srgbClr val="DD6B20"/>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594360"/>
            <a:ext cx="9144000" cy="4251960"/>
          </a:xfrm>
          <a:prstGeom prst="rect">
            <a:avLst/>
          </a:prstGeom>
        </p:spPr>
      </p:pic>
      <p:sp>
        <p:nvSpPr>
          <p:cNvPr id="3" name="Text 0"/>
          <p:cNvSpPr/>
          <p:nvPr/>
        </p:nvSpPr>
        <p:spPr>
          <a:xfrm>
            <a:off x="365760" y="45720"/>
            <a:ext cx="8229600" cy="530352"/>
          </a:xfrm>
          <a:prstGeom prst="rect">
            <a:avLst/>
          </a:prstGeom>
          <a:noFill/>
          <a:ln/>
        </p:spPr>
        <p:txBody>
          <a:bodyPr wrap="square" lIns="0" tIns="0" rIns="0" bIns="0" rtlCol="0" anchor="ctr"/>
          <a:lstStyle/>
          <a:p>
            <a:pPr marL="0" indent="0" algn="l">
              <a:buNone/>
            </a:pPr>
            <a:r>
              <a:rPr lang="en-US" sz="2700" b="1" dirty="0">
                <a:solidFill>
                  <a:srgbClr val="1A1A1A"/>
                </a:solidFill>
                <a:latin typeface="Cambria" pitchFamily="34" charset="0"/>
                <a:ea typeface="Cambria" pitchFamily="34" charset="-122"/>
                <a:cs typeface="Cambria" pitchFamily="34" charset="-120"/>
              </a:rPr>
              <a:t>Remember Your Detective Tools!</a:t>
            </a:r>
            <a:endParaRPr lang="en-US" sz="2700" dirty="0"/>
          </a:p>
        </p:txBody>
      </p:sp>
      <p:sp>
        <p:nvSpPr>
          <p:cNvPr id="4" name="Shape 1"/>
          <p:cNvSpPr/>
          <p:nvPr/>
        </p:nvSpPr>
        <p:spPr>
          <a:xfrm>
            <a:off x="365760" y="576072"/>
            <a:ext cx="5029200" cy="0"/>
          </a:xfrm>
          <a:prstGeom prst="line">
            <a:avLst/>
          </a:prstGeom>
          <a:noFill/>
          <a:ln w="19050">
            <a:solidFill>
              <a:srgbClr val="E53E3E"/>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435CB7-A591-9E30-4931-E9FAEAE86269}"/>
              </a:ext>
            </a:extLst>
          </p:cNvPr>
          <p:cNvSpPr txBox="1"/>
          <p:nvPr/>
        </p:nvSpPr>
        <p:spPr>
          <a:xfrm>
            <a:off x="1785937" y="1797368"/>
            <a:ext cx="5850731" cy="646331"/>
          </a:xfrm>
          <a:prstGeom prst="rect">
            <a:avLst/>
          </a:prstGeom>
          <a:noFill/>
        </p:spPr>
        <p:txBody>
          <a:bodyPr wrap="square">
            <a:spAutoFit/>
          </a:bodyPr>
          <a:lstStyle/>
          <a:p>
            <a:r>
              <a:rPr lang="en-GB" dirty="0"/>
              <a:t>last Saturday, Lily went to the pet shop. She look at the cute kittens. One small kitten was sleeping on a blue blanket</a:t>
            </a:r>
            <a:endParaRPr lang="en-US" dirty="0"/>
          </a:p>
        </p:txBody>
      </p:sp>
      <p:sp>
        <p:nvSpPr>
          <p:cNvPr id="6" name="TextBox 5">
            <a:extLst>
              <a:ext uri="{FF2B5EF4-FFF2-40B4-BE49-F238E27FC236}">
                <a16:creationId xmlns:a16="http://schemas.microsoft.com/office/drawing/2014/main" id="{181E160D-921E-5B4E-BB4C-7623A6C70344}"/>
              </a:ext>
            </a:extLst>
          </p:cNvPr>
          <p:cNvSpPr txBox="1"/>
          <p:nvPr/>
        </p:nvSpPr>
        <p:spPr>
          <a:xfrm>
            <a:off x="1785937" y="519798"/>
            <a:ext cx="6229350" cy="646331"/>
          </a:xfrm>
          <a:prstGeom prst="rect">
            <a:avLst/>
          </a:prstGeom>
          <a:noFill/>
        </p:spPr>
        <p:txBody>
          <a:bodyPr wrap="square">
            <a:spAutoFit/>
          </a:bodyPr>
          <a:lstStyle/>
          <a:p>
            <a:r>
              <a:rPr lang="en-GB" dirty="0"/>
              <a:t>my friend </a:t>
            </a:r>
            <a:r>
              <a:rPr lang="en-GB" dirty="0" err="1"/>
              <a:t>sam</a:t>
            </a:r>
            <a:r>
              <a:rPr lang="en-GB" dirty="0"/>
              <a:t> likes to play games. he have a big red ball. We play together at the park</a:t>
            </a:r>
            <a:endParaRPr lang="en-US" dirty="0"/>
          </a:p>
        </p:txBody>
      </p:sp>
      <p:sp>
        <p:nvSpPr>
          <p:cNvPr id="8" name="TextBox 7">
            <a:extLst>
              <a:ext uri="{FF2B5EF4-FFF2-40B4-BE49-F238E27FC236}">
                <a16:creationId xmlns:a16="http://schemas.microsoft.com/office/drawing/2014/main" id="{F0A24767-F23C-8357-6F26-95FC3DF63617}"/>
              </a:ext>
            </a:extLst>
          </p:cNvPr>
          <p:cNvSpPr txBox="1"/>
          <p:nvPr/>
        </p:nvSpPr>
        <p:spPr>
          <a:xfrm>
            <a:off x="1821655" y="3309075"/>
            <a:ext cx="6229350" cy="1477328"/>
          </a:xfrm>
          <a:prstGeom prst="rect">
            <a:avLst/>
          </a:prstGeom>
          <a:noFill/>
        </p:spPr>
        <p:txBody>
          <a:bodyPr wrap="square">
            <a:spAutoFit/>
          </a:bodyPr>
          <a:lstStyle/>
          <a:p>
            <a:r>
              <a:rPr lang="en-GB" dirty="0"/>
              <a:t>every Sunday, Max goes to the beach with his family. He loves to swim in the blue water. Yesterday, Max build a giant sandcastle near the ocean. His sister helped him decorate it with pretty shells? They had a wonderful day and eat ice cream before going home.</a:t>
            </a:r>
            <a:endParaRPr lang="en-US" dirty="0"/>
          </a:p>
        </p:txBody>
      </p:sp>
    </p:spTree>
    <p:extLst>
      <p:ext uri="{BB962C8B-B14F-4D97-AF65-F5344CB8AC3E}">
        <p14:creationId xmlns:p14="http://schemas.microsoft.com/office/powerpoint/2010/main" val="1182808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3B22B-A12D-3639-1FF8-4190C348C5FA}"/>
              </a:ext>
            </a:extLst>
          </p:cNvPr>
          <p:cNvSpPr txBox="1"/>
          <p:nvPr/>
        </p:nvSpPr>
        <p:spPr>
          <a:xfrm>
            <a:off x="104777" y="207927"/>
            <a:ext cx="3213499" cy="4570482"/>
          </a:xfrm>
          <a:prstGeom prst="rect">
            <a:avLst/>
          </a:prstGeom>
          <a:noFill/>
        </p:spPr>
        <p:txBody>
          <a:bodyPr wrap="square">
            <a:spAutoFit/>
          </a:bodyPr>
          <a:lstStyle/>
          <a:p>
            <a:pPr>
              <a:spcBef>
                <a:spcPts val="1800"/>
              </a:spcBef>
              <a:spcAft>
                <a:spcPts val="900"/>
              </a:spcAft>
              <a:buNone/>
            </a:pPr>
            <a:r>
              <a:rPr lang="en-GB" sz="1400" b="1"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 TOEFL Primary Writing Homework: Grammar Detective</a:t>
            </a:r>
          </a:p>
          <a:p>
            <a:pPr>
              <a:spcBef>
                <a:spcPts val="900"/>
              </a:spcBef>
              <a:spcAft>
                <a:spcPts val="1200"/>
              </a:spcAft>
              <a:buNone/>
            </a:pPr>
            <a:r>
              <a:rPr lang="en-GB" sz="1400" b="1"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Name:</a:t>
            </a: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 _____________________</a:t>
            </a:r>
            <a:b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br>
            <a:r>
              <a:rPr lang="en-GB" sz="1400" b="1"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Date:</a:t>
            </a: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 _____________________</a:t>
            </a:r>
          </a:p>
          <a:p>
            <a:pPr>
              <a:spcBef>
                <a:spcPts val="900"/>
              </a:spcBef>
              <a:spcAft>
                <a:spcPts val="1200"/>
              </a:spcAft>
              <a:buNone/>
            </a:pPr>
            <a:r>
              <a:rPr lang="en-GB" sz="1400" b="1"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Instructions for Students:</a:t>
            </a:r>
            <a:endPar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endParaRPr>
          </a:p>
          <a:p>
            <a:pPr>
              <a:spcBef>
                <a:spcPts val="900"/>
              </a:spcBef>
              <a:spcAft>
                <a:spcPts val="900"/>
              </a:spcAft>
              <a:buFont typeface="+mj-lt"/>
              <a:buAutoNum type="arabicPeriod"/>
            </a:pP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Read the story below carefully.</a:t>
            </a:r>
          </a:p>
          <a:p>
            <a:pPr>
              <a:spcBef>
                <a:spcPts val="900"/>
              </a:spcBef>
              <a:spcAft>
                <a:spcPts val="900"/>
              </a:spcAft>
              <a:buFont typeface="+mj-lt"/>
              <a:buAutoNum type="arabicPeriod"/>
            </a:pP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There are exactly </a:t>
            </a:r>
            <a:r>
              <a:rPr lang="en-GB" sz="1400" b="1"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5 hidden mistakes</a:t>
            </a: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 (Capitalization, Spelling, Punctuation, and Grammar).</a:t>
            </a:r>
          </a:p>
          <a:p>
            <a:pPr>
              <a:spcBef>
                <a:spcPts val="900"/>
              </a:spcBef>
              <a:spcAft>
                <a:spcPts val="900"/>
              </a:spcAft>
              <a:buFont typeface="+mj-lt"/>
              <a:buAutoNum type="arabicPeriod"/>
            </a:pP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Draw a circle around each mistake.</a:t>
            </a:r>
          </a:p>
          <a:p>
            <a:pPr>
              <a:spcBef>
                <a:spcPts val="900"/>
              </a:spcBef>
              <a:spcAft>
                <a:spcPts val="900"/>
              </a:spcAft>
              <a:buFont typeface="+mj-lt"/>
              <a:buAutoNum type="arabicPeriod"/>
            </a:pPr>
            <a:r>
              <a:rPr lang="en-GB" sz="1400" b="0" u="none" strike="noStrike" dirty="0">
                <a:effectLst/>
                <a:latin typeface="CMU Serif Roman" panose="02000603000000000000" pitchFamily="2" charset="0"/>
                <a:ea typeface="CMU Serif Roman" panose="02000603000000000000" pitchFamily="2" charset="0"/>
                <a:cs typeface="CMU Serif Roman" panose="02000603000000000000" pitchFamily="2" charset="0"/>
              </a:rPr>
              <a:t>Rewrite the correct words on the lines below the story.</a:t>
            </a:r>
          </a:p>
        </p:txBody>
      </p:sp>
      <p:sp>
        <p:nvSpPr>
          <p:cNvPr id="5" name="TextBox 4">
            <a:extLst>
              <a:ext uri="{FF2B5EF4-FFF2-40B4-BE49-F238E27FC236}">
                <a16:creationId xmlns:a16="http://schemas.microsoft.com/office/drawing/2014/main" id="{D37050F0-06BB-089A-3D44-1ABA04EB5C1D}"/>
              </a:ext>
            </a:extLst>
          </p:cNvPr>
          <p:cNvSpPr txBox="1"/>
          <p:nvPr/>
        </p:nvSpPr>
        <p:spPr>
          <a:xfrm>
            <a:off x="3402299" y="438760"/>
            <a:ext cx="5655974" cy="4108817"/>
          </a:xfrm>
          <a:prstGeom prst="rect">
            <a:avLst/>
          </a:prstGeom>
          <a:noFill/>
        </p:spPr>
        <p:txBody>
          <a:bodyPr wrap="square">
            <a:spAutoFit/>
          </a:bodyPr>
          <a:lstStyle/>
          <a:p>
            <a:pPr>
              <a:lnSpc>
                <a:spcPct val="300000"/>
              </a:lnSpc>
            </a:pPr>
            <a:r>
              <a:rPr lang="en-GB" dirty="0">
                <a:solidFill>
                  <a:srgbClr val="002060"/>
                </a:solidFill>
                <a:latin typeface="CMU Serif Roman" panose="02000603000000000000" pitchFamily="2" charset="0"/>
                <a:ea typeface="CMU Serif Roman" panose="02000603000000000000" pitchFamily="2" charset="0"/>
                <a:cs typeface="CMU Serif Roman" panose="02000603000000000000" pitchFamily="2" charset="0"/>
              </a:rPr>
              <a:t>last night, Lily and her brother tom cooked dinner for their parents. They made a delicious pizza with fresh cheese and </a:t>
            </a:r>
            <a:r>
              <a:rPr lang="en-GB" dirty="0" err="1">
                <a:solidFill>
                  <a:srgbClr val="002060"/>
                </a:solidFill>
                <a:latin typeface="CMU Serif Roman" panose="02000603000000000000" pitchFamily="2" charset="0"/>
                <a:ea typeface="CMU Serif Roman" panose="02000603000000000000" pitchFamily="2" charset="0"/>
                <a:cs typeface="CMU Serif Roman" panose="02000603000000000000" pitchFamily="2" charset="0"/>
              </a:rPr>
              <a:t>tomatos</a:t>
            </a:r>
            <a:r>
              <a:rPr lang="en-GB" dirty="0">
                <a:solidFill>
                  <a:srgbClr val="002060"/>
                </a:solidFill>
                <a:latin typeface="CMU Serif Roman" panose="02000603000000000000" pitchFamily="2" charset="0"/>
                <a:ea typeface="CMU Serif Roman" panose="02000603000000000000" pitchFamily="2" charset="0"/>
                <a:cs typeface="CMU Serif Roman" panose="02000603000000000000" pitchFamily="2" charset="0"/>
              </a:rPr>
              <a:t>. Lily accidentally drop a spoon on the floor, but her brother washed it quickly? Their parents loved the food and said it tasted wonderful</a:t>
            </a:r>
            <a:endParaRPr lang="en-US" dirty="0">
              <a:solidFill>
                <a:srgbClr val="002060"/>
              </a:solidFill>
              <a:latin typeface="CMU Serif Roman" panose="02000603000000000000" pitchFamily="2" charset="0"/>
              <a:ea typeface="CMU Serif Roman" panose="02000603000000000000" pitchFamily="2" charset="0"/>
              <a:cs typeface="CMU Serif Roman" panose="02000603000000000000" pitchFamily="2" charset="0"/>
            </a:endParaRPr>
          </a:p>
        </p:txBody>
      </p:sp>
      <p:cxnSp>
        <p:nvCxnSpPr>
          <p:cNvPr id="7" name="Straight Connector 6">
            <a:extLst>
              <a:ext uri="{FF2B5EF4-FFF2-40B4-BE49-F238E27FC236}">
                <a16:creationId xmlns:a16="http://schemas.microsoft.com/office/drawing/2014/main" id="{29A78E9A-8733-38E4-A170-410707352809}"/>
              </a:ext>
            </a:extLst>
          </p:cNvPr>
          <p:cNvCxnSpPr/>
          <p:nvPr/>
        </p:nvCxnSpPr>
        <p:spPr>
          <a:xfrm>
            <a:off x="3359266" y="372802"/>
            <a:ext cx="0" cy="4355038"/>
          </a:xfrm>
          <a:prstGeom prst="line">
            <a:avLst/>
          </a:prstGeom>
          <a:ln w="57150">
            <a:solidFill>
              <a:schemeClr val="bg2">
                <a:lumMod val="9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02365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C44C0-30BA-C9D4-490C-39E2F226CE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F983DF-4DD6-1E74-803A-9EDB62C151B4}"/>
              </a:ext>
            </a:extLst>
          </p:cNvPr>
          <p:cNvSpPr txBox="1"/>
          <p:nvPr/>
        </p:nvSpPr>
        <p:spPr>
          <a:xfrm>
            <a:off x="432196" y="309592"/>
            <a:ext cx="8383191" cy="4524315"/>
          </a:xfrm>
          <a:prstGeom prst="rect">
            <a:avLst/>
          </a:prstGeom>
          <a:noFill/>
        </p:spPr>
        <p:txBody>
          <a:bodyPr wrap="square">
            <a:spAutoFit/>
          </a:bodyPr>
          <a:lstStyle/>
          <a:p>
            <a:r>
              <a:rPr lang="en-GB" dirty="0"/>
              <a:t>every </a:t>
            </a:r>
            <a:r>
              <a:rPr lang="en-GB" dirty="0" err="1"/>
              <a:t>tuesday</a:t>
            </a:r>
            <a:r>
              <a:rPr lang="en-GB" dirty="0"/>
              <a:t> afternoon, ben plays soccer with his school friends. He loves to score goals for his team. Last night, ben run across the entire field to catch up to the ball. The goalkeeper tried to block his powerful shot? They won the tough match and drink fresh </a:t>
            </a:r>
            <a:r>
              <a:rPr lang="en-GB" dirty="0" err="1"/>
              <a:t>juic</a:t>
            </a:r>
            <a:r>
              <a:rPr lang="en-GB" dirty="0"/>
              <a:t> together afterward.</a:t>
            </a:r>
          </a:p>
          <a:p>
            <a:endParaRPr lang="en-GB" dirty="0"/>
          </a:p>
          <a:p>
            <a:endParaRPr lang="en-GB" dirty="0"/>
          </a:p>
          <a:p>
            <a:r>
              <a:rPr lang="en-GB" dirty="0"/>
              <a:t>during the summer break, Liam goes camping in the mountains. He love to look up at the bright stars. Last weekend, Liam make a warm campfire to roast sweet marshmallows. A curious animal sneaked into their campsite looking for food? They sat by the fire and sing </a:t>
            </a:r>
            <a:r>
              <a:rPr lang="en-GB" dirty="0" err="1"/>
              <a:t>favorite</a:t>
            </a:r>
            <a:r>
              <a:rPr lang="en-GB" dirty="0"/>
              <a:t> songs until midnight.</a:t>
            </a:r>
          </a:p>
          <a:p>
            <a:endParaRPr lang="en-GB" dirty="0"/>
          </a:p>
          <a:p>
            <a:endParaRPr lang="en-GB" dirty="0"/>
          </a:p>
          <a:p>
            <a:r>
              <a:rPr lang="en-GB" dirty="0"/>
              <a:t>on hot days, Emma visits the city zoo with her class. She loves to watch the </a:t>
            </a:r>
            <a:r>
              <a:rPr lang="en-GB" dirty="0" err="1"/>
              <a:t>tal</a:t>
            </a:r>
            <a:r>
              <a:rPr lang="en-GB" dirty="0"/>
              <a:t> giraffes. Yesterday, Emma give a crunchy green apple to an old elephant. The monkeys swung wildly from tree to tree above her head? They took a lot of photos and find a cool spot to rest.</a:t>
            </a:r>
            <a:endParaRPr lang="en-US" dirty="0"/>
          </a:p>
        </p:txBody>
      </p:sp>
    </p:spTree>
    <p:extLst>
      <p:ext uri="{BB962C8B-B14F-4D97-AF65-F5344CB8AC3E}">
        <p14:creationId xmlns:p14="http://schemas.microsoft.com/office/powerpoint/2010/main" val="2208596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21F485-C7E3-0D3D-D1E3-5CF84640F427}"/>
              </a:ext>
            </a:extLst>
          </p:cNvPr>
          <p:cNvSpPr txBox="1"/>
          <p:nvPr/>
        </p:nvSpPr>
        <p:spPr>
          <a:xfrm>
            <a:off x="432196" y="309592"/>
            <a:ext cx="8383191" cy="3416320"/>
          </a:xfrm>
          <a:prstGeom prst="rect">
            <a:avLst/>
          </a:prstGeom>
          <a:noFill/>
        </p:spPr>
        <p:txBody>
          <a:bodyPr wrap="square">
            <a:spAutoFit/>
          </a:bodyPr>
          <a:lstStyle/>
          <a:p>
            <a:r>
              <a:rPr lang="en-GB" b="1" dirty="0"/>
              <a:t>The Text Chain:</a:t>
            </a:r>
            <a:r>
              <a:rPr lang="en-GB" dirty="0"/>
              <a:t> </a:t>
            </a:r>
          </a:p>
          <a:p>
            <a:r>
              <a:rPr lang="en-GB" b="1" dirty="0"/>
              <a:t>Alex:</a:t>
            </a:r>
            <a:r>
              <a:rPr lang="en-GB" dirty="0"/>
              <a:t> hey, did you hear about what happened to Sam at the stadium last night? </a:t>
            </a:r>
          </a:p>
          <a:p>
            <a:r>
              <a:rPr lang="en-GB" b="1" dirty="0"/>
              <a:t>Chris:</a:t>
            </a:r>
            <a:r>
              <a:rPr lang="en-GB" dirty="0"/>
              <a:t> No, what happened? </a:t>
            </a:r>
          </a:p>
          <a:p>
            <a:r>
              <a:rPr lang="en-GB" b="1" dirty="0"/>
              <a:t>Alex:</a:t>
            </a:r>
            <a:r>
              <a:rPr lang="en-GB" dirty="0"/>
              <a:t> well, he </a:t>
            </a:r>
            <a:r>
              <a:rPr lang="en-GB" b="1" dirty="0"/>
              <a:t>lose</a:t>
            </a:r>
            <a:r>
              <a:rPr lang="en-GB" dirty="0"/>
              <a:t> his front row ticket right before the concert started. He </a:t>
            </a:r>
            <a:r>
              <a:rPr lang="en-GB" b="1" dirty="0"/>
              <a:t>spend</a:t>
            </a:r>
            <a:r>
              <a:rPr lang="en-GB" dirty="0"/>
              <a:t> an hour looking under all the seats? </a:t>
            </a:r>
          </a:p>
          <a:p>
            <a:r>
              <a:rPr lang="en-GB" b="1" dirty="0"/>
              <a:t>Chris:</a:t>
            </a:r>
            <a:r>
              <a:rPr lang="en-GB" dirty="0"/>
              <a:t> Oh no! Did he ever find it? </a:t>
            </a:r>
          </a:p>
          <a:p>
            <a:r>
              <a:rPr lang="en-GB" b="1" dirty="0"/>
              <a:t>Alex:</a:t>
            </a:r>
            <a:r>
              <a:rPr lang="en-GB" dirty="0"/>
              <a:t> Yeah, a security guard found it and brought it back.</a:t>
            </a:r>
          </a:p>
          <a:p>
            <a:endParaRPr lang="en-GB" dirty="0"/>
          </a:p>
          <a:p>
            <a:endParaRPr lang="en-GB" dirty="0"/>
          </a:p>
          <a:p>
            <a:r>
              <a:rPr lang="en-GB" dirty="0"/>
              <a:t>Making a good snack is fun and fast. Yesterday, I wanted to eat an apple with peanut butter. first, I washed the fruit in the sink. I </a:t>
            </a:r>
            <a:r>
              <a:rPr lang="en-GB" b="1" dirty="0"/>
              <a:t>take</a:t>
            </a:r>
            <a:r>
              <a:rPr lang="en-GB" dirty="0"/>
              <a:t> a small knife and cut the apple. My mom helped me put it on a blue plate? Then I </a:t>
            </a:r>
            <a:r>
              <a:rPr lang="en-GB" b="1" dirty="0"/>
              <a:t>sit</a:t>
            </a:r>
            <a:r>
              <a:rPr lang="en-GB" dirty="0"/>
              <a:t> down at the table and ate it all up.</a:t>
            </a:r>
            <a:endParaRPr lang="en-US" dirty="0"/>
          </a:p>
        </p:txBody>
      </p:sp>
    </p:spTree>
    <p:extLst>
      <p:ext uri="{BB962C8B-B14F-4D97-AF65-F5344CB8AC3E}">
        <p14:creationId xmlns:p14="http://schemas.microsoft.com/office/powerpoint/2010/main" val="208398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1287</Words>
  <Application>Microsoft Macintosh PowerPoint</Application>
  <PresentationFormat>On-screen Show (16:9)</PresentationFormat>
  <Paragraphs>68</Paragraphs>
  <Slides>12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Google Sans</vt:lpstr>
      <vt:lpstr>Arial</vt:lpstr>
      <vt:lpstr>Cambria</vt:lpstr>
      <vt:lpstr>CMU SERIF ROMAN</vt:lpstr>
      <vt:lpstr>CMU SERIF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Grammar Detective – TOEFL Primary</dc:title>
  <dc:subject>PptxGenJS Presentation</dc:subject>
  <dc:creator>PptxGenJS</dc:creator>
  <cp:lastModifiedBy>askR</cp:lastModifiedBy>
  <cp:revision>9</cp:revision>
  <dcterms:created xsi:type="dcterms:W3CDTF">2026-06-10T09:34:08Z</dcterms:created>
  <dcterms:modified xsi:type="dcterms:W3CDTF">2026-06-19T11:08:45Z</dcterms:modified>
</cp:coreProperties>
</file>