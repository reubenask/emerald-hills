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73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students! Today we learn how to compare things using comparatives and superlatives.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 comparative compares exactly two things. We usually add -er to short adjectives.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superlative is for comparing 3 or more things. We add -est and always say THE before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1: for one-syllable adjectives, add -er / -est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spelling tricks: (1) ends in -e: add -r/-st. (2) CVC: double the consonant. (3) consonant+y: change y to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adjectives (2+ syllables) use MORE and THE MOST. Never add -er/-est to them!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irregular forms must be memorized. Good-better-best and bad-worse-worst are the most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1.highest  2.heavier  3.colder  4.smartest  5.more interesting  6.faster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answers with class. Ask students to explain the rule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two core patterns. Comparative always needs THAN. Superlative always needs 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Leo is the tallest. Leo's bag is the heaviest. Sam is shorter than 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1.bigger  2.best  3.more difficult  4.youngest  5.worse  6.funniest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each wrong answer: why doesn't it work? What rule was broken?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AS...AS is used for equal comparisons. NOT AS...AS means one is less than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5-7 minutes to write. Then ask volunteers to share. Discuss and correct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most common errors. Ask students if they've made any of these before!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Can you think of another example from daily life?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1.heavier  2.fastest  3.better  4.than(not then)  5.the worst  6.most interesting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corrected sentence aloud. Ask students which rule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this chart together. Encourage students to copy it into their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5 minutes for pair work. Then call on several pairs to report. Encourage full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an encouraging message. Remind students to practice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548640"/>
            <a:ext cx="640080" cy="6400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87952" y="71323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407408" y="71323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43400" y="1188720"/>
            <a:ext cx="0" cy="91440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365760" cy="2743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45720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0" cy="5029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274320" cy="5029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1A6FD4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→ bigger → biggest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Comparatives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Superlatives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5 English Lesson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compare!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2286000" cy="0"/>
          </a:xfrm>
          <a:prstGeom prst="line">
            <a:avLst/>
          </a:prstGeom>
          <a:noFill/>
          <a:ln w="254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Comparative?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comparatives to compare TWO things.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2377440"/>
            <a:ext cx="731520" cy="7315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1005840" cy="1463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8346" y="33836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0624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03320" y="2926080"/>
            <a:ext cx="320040" cy="0"/>
          </a:xfrm>
          <a:prstGeom prst="line">
            <a:avLst/>
          </a:prstGeom>
          <a:noFill/>
          <a:ln w="381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52360" y="19202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is taller than Tom.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2651760"/>
            <a:ext cx="91440" cy="0"/>
          </a:xfrm>
          <a:prstGeom prst="line">
            <a:avLst/>
          </a:prstGeom>
          <a:noFill/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  -er  to compare!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Superlative?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superlatives to say something is THE MOST among 3 or more.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1152144" cy="1152144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4078224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2331720"/>
            <a:ext cx="1792224" cy="1792224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4215384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biggest!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0" y="182880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85432" y="193852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0880" y="193852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13448" y="2331720"/>
            <a:ext cx="0" cy="77724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2560320"/>
            <a:ext cx="521208" cy="9144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13448" y="2560320"/>
            <a:ext cx="320040" cy="1828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13448" y="3108960"/>
            <a:ext cx="0" cy="4114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13448" y="3108960"/>
            <a:ext cx="228600" cy="4114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2011680"/>
            <a:ext cx="1371600" cy="0"/>
          </a:xfrm>
          <a:prstGeom prst="line">
            <a:avLst/>
          </a:prstGeom>
          <a:noFill/>
          <a:ln w="254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 THE  before superlatives.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1: Short Adjectives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-er  for comparative,  -est  for superlative.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64592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63624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1508760"/>
            <a:ext cx="320040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1563624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347472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13832" y="1563624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1645920" cy="53035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093976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2039112"/>
            <a:ext cx="3200400" cy="53035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093976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+ er  →  taller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40680" y="2039112"/>
            <a:ext cx="3474720" cy="53035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13832" y="2093976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 + est  →  the tallest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62432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94560" y="2569464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67712" y="262432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er  →  shorter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0" y="2569464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13832" y="2624328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+ est  →  the shortest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99816"/>
            <a:ext cx="1645920" cy="53035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315468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94560" y="3099816"/>
            <a:ext cx="3200400" cy="53035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67712" y="3154680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+ er  →  older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3099816"/>
            <a:ext cx="3474720" cy="53035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13832" y="3154680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+ est  →  the oldest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630168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685032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94560" y="363016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67712" y="3685032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+ er  →  younger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40680" y="363016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13832" y="3685032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 + est  →  the youngest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= 1 syllable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Spelling Tricks!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0"/>
          </a:xfrm>
          <a:prstGeom prst="line">
            <a:avLst/>
          </a:prstGeom>
          <a:noFill/>
          <a:ln w="254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1A6FD4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68580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in  -e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 -r  or  -st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1A6FD4">
              <a:alpha val="15000"/>
            </a:srgbClr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→ nicer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1A6FD4">
              <a:alpha val="15000"/>
            </a:srgbClr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nicest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97480" cy="68580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0058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 pattern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(consonant-vowel-consonant)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783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consonant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60604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07020">
              <a:alpha val="15000"/>
            </a:srgbClr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26334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→ bigger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31546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07020">
              <a:alpha val="15000"/>
            </a:srgbClr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31821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E0303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97480" cy="6858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0058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in  consonant + 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783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 y → i,  then add  -er / -est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60604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03030">
              <a:alpha val="15000"/>
            </a:srgbClr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26334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→ happier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1546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03030">
              <a:alpha val="15000"/>
            </a:srgbClr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31821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happiest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 these spelling changes!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2: Long Adjectives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MORE  and  THE MOST  — never add -er / -est!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2880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301752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50592" y="1572768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508760"/>
            <a:ext cx="347472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59552" y="157276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1031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2039112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2103120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beautiful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39112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9552" y="2103120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beautiful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182880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63347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2569464"/>
            <a:ext cx="301752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50592" y="2633472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exciting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2569464"/>
            <a:ext cx="347472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59552" y="2633472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exciting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99816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316382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77440" y="3099816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50592" y="3163824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3099816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59552" y="3163824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630168"/>
            <a:ext cx="182880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69417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77440" y="3630168"/>
            <a:ext cx="301752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50592" y="3694176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important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3630168"/>
            <a:ext cx="347472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59552" y="3694176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80960" y="146304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99832" y="157276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55280" y="157276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927848" y="1965960"/>
            <a:ext cx="0" cy="68580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927848" y="2240280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927848" y="2240280"/>
            <a:ext cx="0" cy="1828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927848" y="2651760"/>
            <a:ext cx="0" cy="3657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927848" y="2651760"/>
            <a:ext cx="201168" cy="3657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04672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more!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syllables = use MORE / THE MOST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Out! Irregular Forms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0" cy="0"/>
          </a:xfrm>
          <a:prstGeom prst="line">
            <a:avLst/>
          </a:prstGeom>
          <a:noFill/>
          <a:ln w="254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adjectives are completely different: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822960"/>
            <a:ext cx="594360" cy="5943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0416" y="93268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74152" y="93268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73568" y="1097280"/>
            <a:ext cx="164592" cy="73152"/>
          </a:xfrm>
          <a:prstGeom prst="ellipse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1A6FD4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361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175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5216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E0303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2011680" cy="6858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35915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1460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01752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52160" y="2377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2011680" cy="68580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182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/ much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1460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017520" y="3200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85216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20116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0050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(amount)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14600" y="4023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01752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49240" y="4023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85216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by heart — no shortcuts!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Fill in the Blank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correct comparative or superlative form: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Mt. Everest is the __________ mountain in the world.  (high)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786384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My bag is __________ than yours.  (heavy)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786384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Today is __________ than yesterday.  (cold)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786384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 is the __________ student in class.  (smart)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786384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This book is __________ than that one.  (interesting)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904488"/>
            <a:ext cx="786384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He runs __________ than his brother.  (fast)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53128"/>
            <a:ext cx="786384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 your paper!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Answers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Mt. Everest is the  mountain in the world.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740664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A6FD4">
              <a:alpha val="12000"/>
            </a:srgbClr>
          </a:solidFill>
          <a:ln w="1905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40680" y="758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777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highest (-est)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My bag is  than yours.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408176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07020">
              <a:alpha val="12000"/>
            </a:srgbClr>
          </a:solidFill>
          <a:ln w="1905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0680" y="1426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1444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→ heavier (y→i)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122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Today is  than yesterday.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07568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A6FD4">
              <a:alpha val="12000"/>
            </a:srgbClr>
          </a:solidFill>
          <a:ln w="1905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0" y="20939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21122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→ colder (-er)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797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 is the  student in class.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27432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07020">
              <a:alpha val="12000"/>
            </a:srgbClr>
          </a:solidFill>
          <a:ln w="1905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27614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7797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→ smartest (-est)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472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This book is  than that one.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3410712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A6FD4">
              <a:alpha val="12000"/>
            </a:srgbClr>
          </a:solidFill>
          <a:ln w="1905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068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3447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adj → more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He runs  than his brother.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94960" y="4078224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07020">
              <a:alpha val="12000"/>
            </a:srgbClr>
          </a:solidFill>
          <a:ln w="1905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40680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→ faster (-er)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59436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+  is/are 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 +  THAN  +  object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3794760" cy="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 faster than a cat.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more careful than him.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test is harder than the last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1A6FD4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59436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+  is/are  +  THE 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  +  (in/of + group)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2606040"/>
            <a:ext cx="3794760" cy="0"/>
          </a:xfrm>
          <a:prstGeom prst="line">
            <a:avLst/>
          </a:prstGeom>
          <a:noFill/>
          <a:ln w="254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6974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cheetah is the fastest animal.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most careful student.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7033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tallest in his family.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uses  THAN  |  Superlative uses  THE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Story: Three Friends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029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answer: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140 cm tall. Sam is 155 cm tall. Leo is 170 cm tall.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short. Sam is taller than Tom. Leo is the tallest of all three.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backpack weighs 3 kg. Sam's weighs 5 kg. Leo's weighs 8 kg.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Leo's bag is the heaviest. Sam's bag is heavier than Tom's.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697480"/>
            <a:ext cx="457200" cy="457200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09360" y="28163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28163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3200400"/>
            <a:ext cx="0" cy="502920"/>
          </a:xfrm>
          <a:prstGeom prst="line">
            <a:avLst/>
          </a:prstGeom>
          <a:noFill/>
          <a:ln w="3175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3376422"/>
            <a:ext cx="228600" cy="109728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46520" y="3376422"/>
            <a:ext cx="228600" cy="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3703320"/>
            <a:ext cx="0" cy="32004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182880" cy="32004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4069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240280"/>
            <a:ext cx="457200" cy="457200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0" y="23591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23591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69480" y="2743200"/>
            <a:ext cx="0" cy="685800"/>
          </a:xfrm>
          <a:prstGeom prst="line">
            <a:avLst/>
          </a:prstGeom>
          <a:noFill/>
          <a:ln w="3175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2983230"/>
            <a:ext cx="228600" cy="109728"/>
          </a:xfrm>
          <a:prstGeom prst="line">
            <a:avLst/>
          </a:prstGeom>
          <a:noFill/>
          <a:ln w="254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9480" y="2983230"/>
            <a:ext cx="228600" cy="0"/>
          </a:xfrm>
          <a:prstGeom prst="line">
            <a:avLst/>
          </a:prstGeom>
          <a:noFill/>
          <a:ln w="254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69480" y="3429000"/>
            <a:ext cx="0" cy="411480"/>
          </a:xfrm>
          <a:prstGeom prst="line">
            <a:avLst/>
          </a:prstGeom>
          <a:noFill/>
          <a:ln w="254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69480" y="3429000"/>
            <a:ext cx="182880" cy="411480"/>
          </a:xfrm>
          <a:prstGeom prst="line">
            <a:avLst/>
          </a:prstGeom>
          <a:noFill/>
          <a:ln w="254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95160" y="3886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178308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01000" y="19019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0" y="19019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38160" y="2286000"/>
            <a:ext cx="0" cy="91440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09560" y="2606040"/>
            <a:ext cx="228600" cy="109728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38160" y="2606040"/>
            <a:ext cx="2286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3200400"/>
            <a:ext cx="0" cy="50292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38160" y="3200400"/>
            <a:ext cx="182880" cy="50292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63840" y="3749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tallest?  _______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bag is the heaviest?  _______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Sam taller or shorter than Leo?  _______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Choose the Correct Word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correct answer: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pizza is ___ than that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261872"/>
            <a:ext cx="2926080" cy="402336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bigger / more big 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___ player on the team.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2926080" cy="402336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18470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goodest / best 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3682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3682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___ than drawing for 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2395728"/>
            <a:ext cx="2926080" cy="402336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24140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more difficult / difficulter 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9352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29352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___ kid in the group.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0" y="2962656"/>
            <a:ext cx="2926080" cy="402336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2980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most young / youngest 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5021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5021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today is ___ than yesterday.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0" y="3529584"/>
            <a:ext cx="2926080" cy="402336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3547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worse / more bad 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___ movie I have ever seen!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0" y="4096512"/>
            <a:ext cx="2926080" cy="402336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8932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most funny / funniest 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Answers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This pizza is ___ than that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31920" y="731520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77640" y="758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bigger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731520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758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big 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→ double 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She is the ___ player.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1399032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1426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399032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1426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goodest 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14447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English is ___ than drawing.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2066544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77640" y="20939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more difficult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2066544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20939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difficulter 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1122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adj → MORE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 is the ___ kid.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31920" y="2734056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77640" y="2761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youngest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2734056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2761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young 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2779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adj → -est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4472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weather is ___ than yesterday.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31920" y="3401568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7764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3401568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8932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bad 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34472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irregular!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This is the ___ movie!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931920" y="4069080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7764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funniest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4069080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8932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funny 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5528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y→i + est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as … as  (Equal Comparison)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0" cy="0"/>
          </a:xfrm>
          <a:prstGeom prst="line">
            <a:avLst/>
          </a:prstGeom>
          <a:noFill/>
          <a:ln w="254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things are EQUAL, we say: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1A6FD4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+  is/are  +  AS  +  adjective  +  AS  +  object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cat is as big as your cat.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10128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2841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as tall as her brother.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968496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98678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film is not as good as the other 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… as = NOT equal (like a comparative but softer)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Write Your Own Sentences!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 below. Write one comparative AND one superlative sentence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3474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Comparative: _________________________________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Superlative:   _________________________________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1097280" cy="3474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Comparative: _________________________________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Superlative:   _________________________________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1097280" cy="3474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514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Comparative: _________________________________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Superlative:   _________________________________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1097280" cy="3474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Comparative: _________________________________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Superlative:   _________________________________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1097280" cy="3474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Comparative: _________________________________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Superlative:   _________________________________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1097280" cy="3474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Comparative: _________________________________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Superlative:   _________________________________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Make These Mistakes!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943600" cy="0"/>
          </a:xfrm>
          <a:prstGeom prst="line">
            <a:avLst/>
          </a:prstGeom>
          <a:noFill/>
          <a:ln w="254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40080" cy="6400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01000" y="594360"/>
            <a:ext cx="91440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02168" y="594360"/>
            <a:ext cx="91440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0" y="804672"/>
            <a:ext cx="201168" cy="128016"/>
          </a:xfrm>
          <a:prstGeom prst="ellipse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75320" y="274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8813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taller  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1247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5156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10881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 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143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MORE with -er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10512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tallest  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88366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49040" y="1810512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0" y="18470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tallest  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901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MOST with -est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69464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better  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26426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749040" y="2569464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2606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 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26609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Irregular: good → better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328416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36499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taller me  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401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749040" y="3328416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0" y="3364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than me  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34198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87368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905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12394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faster  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0" y="41605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749040" y="4087368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0" y="412394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fastest  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4178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 needs -est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Comparatives Are Everywhere!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858000" cy="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them every day: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457200"/>
          </a:xfrm>
          <a:prstGeom prst="rect">
            <a:avLst/>
          </a:prstGeom>
          <a:solidFill>
            <a:srgbClr val="E07020">
              <a:alpha val="20000"/>
            </a:srgbClr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Shopping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phone is cheaper than that one.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TV is on sale.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457200"/>
          </a:xfrm>
          <a:prstGeom prst="rect">
            <a:avLst/>
          </a:prstGeom>
          <a:solidFill>
            <a:srgbClr val="E07020">
              <a:alpha val="20000"/>
            </a:srgbClr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3560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Weather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9476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hotter than yesterday.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coldest winter ever!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14800" cy="457200"/>
          </a:xfrm>
          <a:prstGeom prst="rect">
            <a:avLst/>
          </a:prstGeom>
          <a:solidFill>
            <a:srgbClr val="E07020">
              <a:alpha val="20000"/>
            </a:srgbClr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Sports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faster than the other runners.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best player on the team.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114800" cy="457200"/>
          </a:xfrm>
          <a:prstGeom prst="rect">
            <a:avLst/>
          </a:prstGeom>
          <a:solidFill>
            <a:srgbClr val="E07020">
              <a:alpha val="20000"/>
            </a:srgbClr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12724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School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6393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is harder than art for me.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most studious in class.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— Spot &amp; Fix the Error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has ONE mistake. Find it and rewrite the sentence correctly.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9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This box is more heavier than that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He is the most fast runner in school.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368296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My dog is more good than yours.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9900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She runs faster then her classmates.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502152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5570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The weather is the most bad today.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1239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This is the more interesting book I have read.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 your paper!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— Answers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4FBF4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This box is heavier than that 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'more heavier' → heavier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99032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4FBF4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 is the fastest runner in school.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'most fast' → fastest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4FBF4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 dog is better than yours.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irregular: good → better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4FBF4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She runs faster than her classmates.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'then' → than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4FBF4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43814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weather is the worst today.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1246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irregular: bad → worst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4FBF4"/>
          </a:solidFill>
          <a:ln w="1905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10565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This is the most interesting book I have read.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37997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'more' → most (superlative)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The Big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64008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1488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896112"/>
            <a:ext cx="26060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8961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896112"/>
            <a:ext cx="22860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49240" y="896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896112"/>
            <a:ext cx="13258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26680" y="8961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29844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1335024"/>
            <a:ext cx="2039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syllable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29844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0904" y="1335024"/>
            <a:ext cx="2496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  (taller)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129844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58384" y="133502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-est  (the tallest)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129844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35824" y="1335024"/>
            <a:ext cx="12161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/ short / cold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1892808"/>
            <a:ext cx="214884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1929384"/>
            <a:ext cx="2039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syllable, ends  -e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1892808"/>
            <a:ext cx="260604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60904" y="1929384"/>
            <a:ext cx="2496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  (nicer)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892808"/>
            <a:ext cx="228600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58384" y="192938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-st  (the nicest)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1892808"/>
            <a:ext cx="132588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35824" y="1929384"/>
            <a:ext cx="12161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/ safe / late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48716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2523744"/>
            <a:ext cx="2039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 (big, hot, sad)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248716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60904" y="2523744"/>
            <a:ext cx="2496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+ -er  (bigger)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03520" y="248716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58384" y="252374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+ -est  (the biggest)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0" y="248716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35824" y="2523744"/>
            <a:ext cx="12161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/ hot / sad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081528"/>
            <a:ext cx="214884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" y="3118104"/>
            <a:ext cx="2039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  +  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06040" y="3081528"/>
            <a:ext cx="260604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60904" y="3118104"/>
            <a:ext cx="2496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i + -er  (happier)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03520" y="3081528"/>
            <a:ext cx="228600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58384" y="311810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y→i + -est  (the happiest)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680960" y="3081528"/>
            <a:ext cx="132588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35824" y="3118104"/>
            <a:ext cx="12161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/ funny / easy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7588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0624" y="3712464"/>
            <a:ext cx="2039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syllables  (long)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06040" y="367588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60904" y="3712464"/>
            <a:ext cx="2496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 +  adj  (more beautiful)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03520" y="367588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58384" y="371246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 +  adj  (the most beautiful)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80960" y="367588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735824" y="3712464"/>
            <a:ext cx="12161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/ exciting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270248"/>
            <a:ext cx="214884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0624" y="4306824"/>
            <a:ext cx="2039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06040" y="4270248"/>
            <a:ext cx="260604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660904" y="4306824"/>
            <a:ext cx="2496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/ worse / more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303520" y="4270248"/>
            <a:ext cx="228600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58384" y="430682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/ worst / most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80960" y="4270248"/>
            <a:ext cx="1325880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735824" y="4306824"/>
            <a:ext cx="12161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bad / many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as your reference!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 — Partner Comparison Game!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 partner. Compare yourselves using these prompts: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158191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158191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011680"/>
            <a:ext cx="0" cy="7315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320040" cy="1371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0" cy="1828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0" cy="3657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2743200"/>
            <a:ext cx="182880" cy="3657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548640" cy="5486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82128" y="158191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92440" y="158191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0" cy="7315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0" cy="1371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2286000"/>
            <a:ext cx="228600" cy="1828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0" y="2743200"/>
            <a:ext cx="182880" cy="3657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0" y="2743200"/>
            <a:ext cx="0" cy="36576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54480" y="1371600"/>
            <a:ext cx="6035040" cy="530352"/>
          </a:xfrm>
          <a:prstGeom prst="roundRect">
            <a:avLst>
              <a:gd name="adj" fmla="val 8621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91640" y="14081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tall are you? → I am ___ than my partner. / My partner is the tallest.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554480" y="1965960"/>
            <a:ext cx="6035040" cy="530352"/>
          </a:xfrm>
          <a:prstGeom prst="roundRect">
            <a:avLst>
              <a:gd name="adj" fmla="val 8621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91640" y="20025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are you? → _______ is older / younger than _______.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54480" y="2560320"/>
            <a:ext cx="6035040" cy="530352"/>
          </a:xfrm>
          <a:prstGeom prst="roundRect">
            <a:avLst>
              <a:gd name="adj" fmla="val 8621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91640" y="25968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subject is easier for you? → _______ is easier for _______ than for _______.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554480" y="3154680"/>
            <a:ext cx="6035040" cy="530352"/>
          </a:xfrm>
          <a:prstGeom prst="roundRect">
            <a:avLst>
              <a:gd name="adj" fmla="val 8621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91640" y="31912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walks faster? → _______ walks faster than _______.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554480" y="3749040"/>
            <a:ext cx="6035040" cy="530352"/>
          </a:xfrm>
          <a:prstGeom prst="roundRect">
            <a:avLst>
              <a:gd name="adj" fmla="val 8621"/>
            </a:avLst>
          </a:prstGeom>
          <a:solidFill>
            <a:srgbClr val="EEF4FF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91640" y="37856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interesting subject for both of you?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back to the class!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 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417320"/>
            <a:ext cx="6400800" cy="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E0702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54864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 things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-er or MORE ... than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1A6FD4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51760" cy="54864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3+ things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-est or the MOST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E0303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651760" cy="5486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good→better→best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bad→worse→worst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9080" y="3977640"/>
            <a:ext cx="548640" cy="5486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97096" y="409651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7408" y="409651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61104" y="4297680"/>
            <a:ext cx="182880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43400" y="4526280"/>
            <a:ext cx="0" cy="59436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4663440"/>
            <a:ext cx="457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4297680"/>
            <a:ext cx="137160" cy="0"/>
          </a:xfrm>
          <a:prstGeom prst="line">
            <a:avLst/>
          </a:prstGeom>
          <a:noFill/>
          <a:ln w="254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4663440"/>
            <a:ext cx="0" cy="18288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43400" y="5120640"/>
            <a:ext cx="0" cy="32004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43400" y="5120640"/>
            <a:ext cx="182880" cy="32004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class — keep comparing!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class — keep comparing!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2119</Words>
  <Application>Microsoft Macintosh PowerPoint</Application>
  <PresentationFormat>On-screen Show (16:9)</PresentationFormat>
  <Paragraphs>378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Comparatives &amp; Superlatives – Grade 5</dc:title>
  <dc:subject>PptxGenJS Presentation</dc:subject>
  <dc:creator>PptxGenJS</dc:creator>
  <cp:lastModifiedBy>askR</cp:lastModifiedBy>
  <cp:revision>3</cp:revision>
  <dcterms:created xsi:type="dcterms:W3CDTF">2026-06-11T15:51:33Z</dcterms:created>
  <dcterms:modified xsi:type="dcterms:W3CDTF">2026-06-19T11:09:44Z</dcterms:modified>
</cp:coreProperties>
</file>