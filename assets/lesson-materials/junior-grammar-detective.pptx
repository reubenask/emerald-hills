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03"/>
    <p:restoredTop sz="86615"/>
  </p:normalViewPr>
  <p:slideViewPr>
    <p:cSldViewPr snapToGrid="0" snapToObjects="1">
      <p:cViewPr varScale="1">
        <p:scale>
          <a:sx n="183" d="100"/>
          <a:sy n="183" d="100"/>
        </p:scale>
        <p:origin x="131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26402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 — Slide 1
Hook: 'Detectives don't just spot the crime — they explain WHY it matters. Today you'll do the same with grammar.'
Ask: 'What's the difference between knowing a rule and understanding what it DOES for meaning?'
Introduce the two lenses you'll use all lesson: FORM (what does it look like?) and MEANING (what does it communicate?).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 — Slide 2
This framework is the spine of the whole lesson. Come back to it every time.
Form = the surface visible structure. Meaning = what that structure signals to a reader.
Walk through the bottom example slowly: 'go is the WRONG FORM. But what meaning does 'went' carry that 'go' does not?' (It tells us the event is FINISHED, in the past.)
Ask students: 'Which lens do you use first when editing?' (Neither — use both together.)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 — Slide 3
Each pass has FORM and MEANING sections. For each pass, ask:
  'What does this rule LOOK like?' (Form)
  'What does it TELL the reader?' (Meaning)
Pass 1 meaning drill: Write 'monday' on board. Ask — 'Why does this need a capital M? What does a capital tell the reader?' (It's a specific, named day — a proper noun.)
Pass 2 meaning drill: 'He love → he loves. What does that -s ending communicate?' (Third person singular, present tense — one specific person right now.)
Pass 3 meaning drill: 'Sarah lost his bag. What meaning problem does 'his' create?' (It tells us the owner is male — but Sarah is female. Wrong identity signal.)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 — Slide 4
Row 1 (was/were): Ask 'What is the subject?' (The students = plural). 'What does 'was' tell us about the subject's number?' (One person.) 'So which word does the form 'were' communicate?' (More than one.)
Row 2 (quick/quickly): Ask 'What is 'excited' — noun or verb?' (Neither — it's an adjective.) 'So what kind of word do we need to describe the verb 'finished'?' (An adverb.)
Row 3 (go/went): 'What time word tells us when this happened?' (Yesterday.) 'What does 'go' communicate about time — past or present?' (Present — or ambiguous.) 'What meaning does 'went' add that 'go' cannot?' (Past, completed.)
Row 4: Use as a discussion — 'Is 'their' always wrong here? When might it be correct?'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 — Slide 5
The 5 errors are:
  1. 'Last saturday' → 'Last Saturday'  [Pass 1 | days are proper nouns]
  2. 'quick' → 'quickly'                [Pass 2 | adverb form required; describes the verb]
  3. 'was excited' → 'were excited'     [Pass 3 | 'The whole class' = plural subject]
  4. 'go' → 'went'                      [Pass 3 | 'yesterday evening' = past]
  5. 'his notebook' → 'her notebook'    [Pass 3 | Ms. Chen = female, pronoun mismatch]
  BONUS: missing period at end          [Pass 1 | sentence boundary marker]
Procedure: 90 seconds silent reading → pairs share → call one per group → ask 'Which pass?' AND 'What meaning problem does this create?'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 — Slide 6
Reveal ONE row at a time. For each:
  Step 1: Show the Form fix — 'What changed in the word/structure?'
  Step 2: Ask about Meaning — 'What can the reader now understand that they couldn't before?'
Key discussion for Error 3 (was/were): 'Does it matter how many people were excited? If you say 'was', you're saying one student felt this — does that change the story?'
Key discussion for Error 4 (go/went): 'If I read 'go to the hall yesterday evening' — am I confused about time? Why?' Lead students to the idea that tense = time map for the reader.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 — Slide 7
The 4 errors are:
  1. 'love' → 'loves'   [Form: 3rd person singular -s | Meaning: signals one specific person]
  2. 'tuesday' → 'Tuesday'  [Form: capital for proper noun | Meaning: names the specific day]
  3. 'quick' → 'quickly'  [Form: adverb needed | Meaning: describes manner of the action]
  4. 'readed' → 'read'  [Form: irregular past tense | Meaning: completed action in the past]
After students finish, have them share their MEANING explanation for one error. This is the hardest part — coach them away from 'it sounds right' toward 'it tells the reader [specific meaning]'.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 — Slide 8
Close by asking students to say the three rules from memory.
Key question: 'What is the difference between saying 'it's wrong' and 'it signals the wrong thing to the reader'?'
Exit ticket idea: Give one sentence with an error. Students write:
  (a) the FORM fix,
  (b) one sentence explaining what meaning the correct form communicates.
This separates surface correction from genuine language awareness.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GB" b="1" dirty="0"/>
              <a:t>Error key for your reference:</a:t>
            </a:r>
            <a:endParaRPr lang="en-GB" dirty="0"/>
          </a:p>
          <a:p>
            <a:r>
              <a:rPr lang="en-GB" i="1" dirty="0"/>
              <a:t>Paragraph A:</a:t>
            </a:r>
            <a:r>
              <a:rPr lang="en-GB" dirty="0"/>
              <a:t> Last </a:t>
            </a:r>
            <a:r>
              <a:rPr lang="en-GB" b="1" dirty="0" err="1"/>
              <a:t>friday</a:t>
            </a:r>
            <a:r>
              <a:rPr lang="en-GB" dirty="0"/>
              <a:t> → Friday | each group </a:t>
            </a:r>
            <a:r>
              <a:rPr lang="en-GB" b="1" dirty="0"/>
              <a:t>work</a:t>
            </a:r>
            <a:r>
              <a:rPr lang="en-GB" dirty="0"/>
              <a:t> → works | grow </a:t>
            </a:r>
            <a:r>
              <a:rPr lang="en-GB" b="1" dirty="0"/>
              <a:t>different</a:t>
            </a:r>
            <a:r>
              <a:rPr lang="en-GB" dirty="0"/>
              <a:t> → differently | results </a:t>
            </a:r>
            <a:r>
              <a:rPr lang="en-GB" b="1" dirty="0"/>
              <a:t>was</a:t>
            </a:r>
            <a:r>
              <a:rPr lang="en-GB" dirty="0"/>
              <a:t> → were | explained </a:t>
            </a:r>
            <a:r>
              <a:rPr lang="en-GB" b="1" dirty="0"/>
              <a:t>clear</a:t>
            </a:r>
            <a:r>
              <a:rPr lang="en-GB" dirty="0"/>
              <a:t> → clearly | missing period at end.</a:t>
            </a:r>
          </a:p>
          <a:p>
            <a:endParaRPr lang="en-US" dirty="0"/>
          </a:p>
        </p:txBody>
      </p:sp>
    </p:spTree>
    <p:extLst>
      <p:ext uri="{BB962C8B-B14F-4D97-AF65-F5344CB8AC3E}">
        <p14:creationId xmlns:p14="http://schemas.microsoft.com/office/powerpoint/2010/main" val="15285200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GB" i="1" dirty="0" err="1"/>
              <a:t>aragraph</a:t>
            </a:r>
            <a:r>
              <a:rPr lang="en-GB" i="1" dirty="0"/>
              <a:t> B:</a:t>
            </a:r>
            <a:r>
              <a:rPr lang="en-GB" dirty="0"/>
              <a:t> On </a:t>
            </a:r>
            <a:r>
              <a:rPr lang="en-GB" b="1" dirty="0" err="1"/>
              <a:t>saturday</a:t>
            </a:r>
            <a:r>
              <a:rPr lang="en-GB" dirty="0"/>
              <a:t> → Saturday | friends </a:t>
            </a:r>
            <a:r>
              <a:rPr lang="en-GB" b="1" dirty="0"/>
              <a:t>decide</a:t>
            </a:r>
            <a:r>
              <a:rPr lang="en-GB" dirty="0"/>
              <a:t> → decided | Marcus </a:t>
            </a:r>
            <a:r>
              <a:rPr lang="en-GB" b="1" dirty="0"/>
              <a:t>love</a:t>
            </a:r>
            <a:r>
              <a:rPr lang="en-GB" dirty="0"/>
              <a:t> → loves | bring </a:t>
            </a:r>
            <a:r>
              <a:rPr lang="en-GB" b="1" dirty="0"/>
              <a:t>his</a:t>
            </a:r>
            <a:r>
              <a:rPr lang="en-GB" dirty="0"/>
              <a:t> own wallet → her | enjoyed </a:t>
            </a:r>
            <a:r>
              <a:rPr lang="en-GB" b="1" dirty="0" err="1"/>
              <a:t>theirself</a:t>
            </a:r>
            <a:r>
              <a:rPr lang="en-GB" dirty="0"/>
              <a:t> → themselves | friends </a:t>
            </a:r>
            <a:r>
              <a:rPr lang="en-GB" b="1" dirty="0"/>
              <a:t>was</a:t>
            </a:r>
            <a:r>
              <a:rPr lang="en-GB" dirty="0"/>
              <a:t> → were.</a:t>
            </a:r>
            <a:endParaRPr lang="en-US" dirty="0"/>
          </a:p>
        </p:txBody>
      </p:sp>
    </p:spTree>
    <p:extLst>
      <p:ext uri="{BB962C8B-B14F-4D97-AF65-F5344CB8AC3E}">
        <p14:creationId xmlns:p14="http://schemas.microsoft.com/office/powerpoint/2010/main" val="769801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74320" y="3840480"/>
            <a:ext cx="4114800" cy="0"/>
          </a:xfrm>
          <a:prstGeom prst="line">
            <a:avLst/>
          </a:prstGeom>
          <a:noFill/>
          <a:ln w="19050">
            <a:solidFill>
              <a:srgbClr val="1A1A1A"/>
            </a:solidFill>
            <a:prstDash val="solid"/>
          </a:ln>
        </p:spPr>
        <p:txBody>
          <a:bodyPr/>
          <a:lstStyle/>
          <a:p>
            <a:endParaRPr lang="en-US"/>
          </a:p>
        </p:txBody>
      </p:sp>
      <p:sp>
        <p:nvSpPr>
          <p:cNvPr id="3" name="Shape 1"/>
          <p:cNvSpPr/>
          <p:nvPr/>
        </p:nvSpPr>
        <p:spPr>
          <a:xfrm>
            <a:off x="457200" y="2377440"/>
            <a:ext cx="2011680" cy="1371600"/>
          </a:xfrm>
          <a:prstGeom prst="roundRect">
            <a:avLst>
              <a:gd name="adj" fmla="val 5333"/>
            </a:avLst>
          </a:prstGeom>
          <a:solidFill>
            <a:srgbClr val="FFFFFF"/>
          </a:solidFill>
          <a:ln w="19050">
            <a:solidFill>
              <a:srgbClr val="1A1A1A"/>
            </a:solidFill>
            <a:prstDash val="solid"/>
          </a:ln>
        </p:spPr>
        <p:txBody>
          <a:bodyPr/>
          <a:lstStyle/>
          <a:p>
            <a:endParaRPr lang="en-US"/>
          </a:p>
        </p:txBody>
      </p:sp>
      <p:sp>
        <p:nvSpPr>
          <p:cNvPr id="4" name="Shape 2"/>
          <p:cNvSpPr/>
          <p:nvPr/>
        </p:nvSpPr>
        <p:spPr>
          <a:xfrm>
            <a:off x="594360" y="2606040"/>
            <a:ext cx="1691640" cy="0"/>
          </a:xfrm>
          <a:prstGeom prst="line">
            <a:avLst/>
          </a:prstGeom>
          <a:noFill/>
          <a:ln w="12700">
            <a:solidFill>
              <a:srgbClr val="AAAAAA"/>
            </a:solidFill>
            <a:prstDash val="sysDot"/>
          </a:ln>
        </p:spPr>
        <p:txBody>
          <a:bodyPr/>
          <a:lstStyle/>
          <a:p>
            <a:endParaRPr lang="en-US"/>
          </a:p>
        </p:txBody>
      </p:sp>
      <p:sp>
        <p:nvSpPr>
          <p:cNvPr id="5" name="Shape 3"/>
          <p:cNvSpPr/>
          <p:nvPr/>
        </p:nvSpPr>
        <p:spPr>
          <a:xfrm>
            <a:off x="594360" y="2807208"/>
            <a:ext cx="1691640" cy="0"/>
          </a:xfrm>
          <a:prstGeom prst="line">
            <a:avLst/>
          </a:prstGeom>
          <a:noFill/>
          <a:ln w="12700">
            <a:solidFill>
              <a:srgbClr val="AAAAAA"/>
            </a:solidFill>
            <a:prstDash val="sysDot"/>
          </a:ln>
        </p:spPr>
        <p:txBody>
          <a:bodyPr/>
          <a:lstStyle/>
          <a:p>
            <a:endParaRPr lang="en-US"/>
          </a:p>
        </p:txBody>
      </p:sp>
      <p:sp>
        <p:nvSpPr>
          <p:cNvPr id="6" name="Shape 4"/>
          <p:cNvSpPr/>
          <p:nvPr/>
        </p:nvSpPr>
        <p:spPr>
          <a:xfrm>
            <a:off x="594360" y="3008376"/>
            <a:ext cx="1691640" cy="0"/>
          </a:xfrm>
          <a:prstGeom prst="line">
            <a:avLst/>
          </a:prstGeom>
          <a:noFill/>
          <a:ln w="12700">
            <a:solidFill>
              <a:srgbClr val="AAAAAA"/>
            </a:solidFill>
            <a:prstDash val="sysDot"/>
          </a:ln>
        </p:spPr>
        <p:txBody>
          <a:bodyPr/>
          <a:lstStyle/>
          <a:p>
            <a:endParaRPr lang="en-US"/>
          </a:p>
        </p:txBody>
      </p:sp>
      <p:sp>
        <p:nvSpPr>
          <p:cNvPr id="7" name="Shape 5"/>
          <p:cNvSpPr/>
          <p:nvPr/>
        </p:nvSpPr>
        <p:spPr>
          <a:xfrm>
            <a:off x="594360" y="3209544"/>
            <a:ext cx="1691640" cy="0"/>
          </a:xfrm>
          <a:prstGeom prst="line">
            <a:avLst/>
          </a:prstGeom>
          <a:noFill/>
          <a:ln w="12700">
            <a:solidFill>
              <a:srgbClr val="AAAAAA"/>
            </a:solidFill>
            <a:prstDash val="sysDot"/>
          </a:ln>
        </p:spPr>
        <p:txBody>
          <a:bodyPr/>
          <a:lstStyle/>
          <a:p>
            <a:endParaRPr lang="en-US"/>
          </a:p>
        </p:txBody>
      </p:sp>
      <p:sp>
        <p:nvSpPr>
          <p:cNvPr id="8" name="Shape 6"/>
          <p:cNvSpPr/>
          <p:nvPr/>
        </p:nvSpPr>
        <p:spPr>
          <a:xfrm>
            <a:off x="594360" y="3410712"/>
            <a:ext cx="1691640" cy="0"/>
          </a:xfrm>
          <a:prstGeom prst="line">
            <a:avLst/>
          </a:prstGeom>
          <a:noFill/>
          <a:ln w="12700">
            <a:solidFill>
              <a:srgbClr val="AAAAAA"/>
            </a:solidFill>
            <a:prstDash val="sysDot"/>
          </a:ln>
        </p:spPr>
        <p:txBody>
          <a:bodyPr/>
          <a:lstStyle/>
          <a:p>
            <a:endParaRPr lang="en-US"/>
          </a:p>
        </p:txBody>
      </p:sp>
      <p:sp>
        <p:nvSpPr>
          <p:cNvPr id="9" name="Shape 7"/>
          <p:cNvSpPr/>
          <p:nvPr/>
        </p:nvSpPr>
        <p:spPr>
          <a:xfrm>
            <a:off x="594360" y="2807208"/>
            <a:ext cx="685800" cy="0"/>
          </a:xfrm>
          <a:prstGeom prst="line">
            <a:avLst/>
          </a:prstGeom>
          <a:noFill/>
          <a:ln w="25400">
            <a:solidFill>
              <a:srgbClr val="D93025"/>
            </a:solidFill>
            <a:prstDash val="dash"/>
          </a:ln>
        </p:spPr>
        <p:txBody>
          <a:bodyPr/>
          <a:lstStyle/>
          <a:p>
            <a:endParaRPr lang="en-US"/>
          </a:p>
        </p:txBody>
      </p:sp>
      <p:sp>
        <p:nvSpPr>
          <p:cNvPr id="10" name="Shape 8"/>
          <p:cNvSpPr/>
          <p:nvPr/>
        </p:nvSpPr>
        <p:spPr>
          <a:xfrm>
            <a:off x="1371600" y="3008376"/>
            <a:ext cx="868680" cy="0"/>
          </a:xfrm>
          <a:prstGeom prst="line">
            <a:avLst/>
          </a:prstGeom>
          <a:noFill/>
          <a:ln w="25400">
            <a:solidFill>
              <a:srgbClr val="D93025"/>
            </a:solidFill>
            <a:prstDash val="dash"/>
          </a:ln>
        </p:spPr>
        <p:txBody>
          <a:bodyPr/>
          <a:lstStyle/>
          <a:p>
            <a:endParaRPr lang="en-US"/>
          </a:p>
        </p:txBody>
      </p:sp>
      <p:sp>
        <p:nvSpPr>
          <p:cNvPr id="11" name="Shape 9"/>
          <p:cNvSpPr/>
          <p:nvPr/>
        </p:nvSpPr>
        <p:spPr>
          <a:xfrm>
            <a:off x="2103120" y="1645920"/>
            <a:ext cx="1280160" cy="1280160"/>
          </a:xfrm>
          <a:prstGeom prst="ellipse">
            <a:avLst/>
          </a:prstGeom>
          <a:solidFill>
            <a:srgbClr val="F0F8FF">
              <a:alpha val="80000"/>
            </a:srgbClr>
          </a:solidFill>
          <a:ln w="50800">
            <a:solidFill>
              <a:srgbClr val="1A1A1A"/>
            </a:solidFill>
            <a:prstDash val="solid"/>
          </a:ln>
        </p:spPr>
        <p:txBody>
          <a:bodyPr/>
          <a:lstStyle/>
          <a:p>
            <a:endParaRPr lang="en-US"/>
          </a:p>
        </p:txBody>
      </p:sp>
      <p:sp>
        <p:nvSpPr>
          <p:cNvPr id="12" name="Shape 10"/>
          <p:cNvSpPr/>
          <p:nvPr/>
        </p:nvSpPr>
        <p:spPr>
          <a:xfrm>
            <a:off x="3246120" y="2816352"/>
            <a:ext cx="548640" cy="502920"/>
          </a:xfrm>
          <a:prstGeom prst="line">
            <a:avLst/>
          </a:prstGeom>
          <a:noFill/>
          <a:ln w="101600">
            <a:solidFill>
              <a:srgbClr val="1A1A1A"/>
            </a:solidFill>
            <a:prstDash val="solid"/>
          </a:ln>
        </p:spPr>
        <p:txBody>
          <a:bodyPr/>
          <a:lstStyle/>
          <a:p>
            <a:endParaRPr lang="en-US"/>
          </a:p>
        </p:txBody>
      </p:sp>
      <p:sp>
        <p:nvSpPr>
          <p:cNvPr id="13" name="Text 11"/>
          <p:cNvSpPr/>
          <p:nvPr/>
        </p:nvSpPr>
        <p:spPr>
          <a:xfrm>
            <a:off x="2194560" y="2011680"/>
            <a:ext cx="1097280" cy="457200"/>
          </a:xfrm>
          <a:prstGeom prst="rect">
            <a:avLst/>
          </a:prstGeom>
          <a:noFill/>
          <a:ln/>
        </p:spPr>
        <p:txBody>
          <a:bodyPr wrap="square" rtlCol="0" anchor="ctr"/>
          <a:lstStyle/>
          <a:p>
            <a:pPr marL="0" indent="0" algn="ctr">
              <a:buNone/>
            </a:pPr>
            <a:r>
              <a:rPr lang="en-US" sz="1600" i="1" dirty="0" err="1">
                <a:solidFill>
                  <a:srgbClr val="D93025"/>
                </a:solidFill>
                <a:latin typeface="Cambria" pitchFamily="34" charset="0"/>
                <a:ea typeface="Cambria" pitchFamily="34" charset="-122"/>
                <a:cs typeface="Cambria" pitchFamily="34" charset="-120"/>
              </a:rPr>
              <a:t>thursday</a:t>
            </a:r>
            <a:endParaRPr lang="en-US" sz="1600" dirty="0"/>
          </a:p>
        </p:txBody>
      </p:sp>
      <p:sp>
        <p:nvSpPr>
          <p:cNvPr id="14" name="Shape 12"/>
          <p:cNvSpPr/>
          <p:nvPr/>
        </p:nvSpPr>
        <p:spPr>
          <a:xfrm>
            <a:off x="2240280" y="2423160"/>
            <a:ext cx="1005840" cy="0"/>
          </a:xfrm>
          <a:prstGeom prst="line">
            <a:avLst/>
          </a:prstGeom>
          <a:noFill/>
          <a:ln w="25400">
            <a:solidFill>
              <a:srgbClr val="D93025"/>
            </a:solidFill>
            <a:prstDash val="dash"/>
          </a:ln>
        </p:spPr>
        <p:txBody>
          <a:bodyPr/>
          <a:lstStyle/>
          <a:p>
            <a:endParaRPr lang="en-US"/>
          </a:p>
        </p:txBody>
      </p:sp>
      <p:sp>
        <p:nvSpPr>
          <p:cNvPr id="15" name="Shape 13"/>
          <p:cNvSpPr/>
          <p:nvPr/>
        </p:nvSpPr>
        <p:spPr>
          <a:xfrm>
            <a:off x="2391156" y="2823667"/>
            <a:ext cx="704088" cy="704088"/>
          </a:xfrm>
          <a:prstGeom prst="roundRect">
            <a:avLst>
              <a:gd name="adj" fmla="val 45455"/>
            </a:avLst>
          </a:prstGeom>
          <a:solidFill>
            <a:srgbClr val="1A1A1A"/>
          </a:solidFill>
          <a:ln w="12700">
            <a:solidFill>
              <a:srgbClr val="1A1A1A"/>
            </a:solidFill>
            <a:prstDash val="solid"/>
          </a:ln>
        </p:spPr>
        <p:txBody>
          <a:bodyPr/>
          <a:lstStyle/>
          <a:p>
            <a:endParaRPr lang="en-US"/>
          </a:p>
        </p:txBody>
      </p:sp>
      <p:sp>
        <p:nvSpPr>
          <p:cNvPr id="16" name="Shape 14"/>
          <p:cNvSpPr/>
          <p:nvPr/>
        </p:nvSpPr>
        <p:spPr>
          <a:xfrm>
            <a:off x="2552090" y="2944368"/>
            <a:ext cx="100584" cy="100584"/>
          </a:xfrm>
          <a:prstGeom prst="ellipse">
            <a:avLst/>
          </a:prstGeom>
          <a:solidFill>
            <a:srgbClr val="FFFFFF"/>
          </a:solidFill>
          <a:ln w="12700">
            <a:solidFill>
              <a:srgbClr val="FFFFFF"/>
            </a:solidFill>
            <a:prstDash val="solid"/>
          </a:ln>
        </p:spPr>
        <p:txBody>
          <a:bodyPr/>
          <a:lstStyle/>
          <a:p>
            <a:endParaRPr lang="en-US"/>
          </a:p>
        </p:txBody>
      </p:sp>
      <p:sp>
        <p:nvSpPr>
          <p:cNvPr id="17" name="Shape 15"/>
          <p:cNvSpPr/>
          <p:nvPr/>
        </p:nvSpPr>
        <p:spPr>
          <a:xfrm>
            <a:off x="2823667" y="2944368"/>
            <a:ext cx="100584" cy="100584"/>
          </a:xfrm>
          <a:prstGeom prst="ellipse">
            <a:avLst/>
          </a:prstGeom>
          <a:solidFill>
            <a:srgbClr val="FFFFFF"/>
          </a:solidFill>
          <a:ln w="12700">
            <a:solidFill>
              <a:srgbClr val="FFFFFF"/>
            </a:solidFill>
            <a:prstDash val="solid"/>
          </a:ln>
        </p:spPr>
        <p:txBody>
          <a:bodyPr/>
          <a:lstStyle/>
          <a:p>
            <a:endParaRPr lang="en-US"/>
          </a:p>
        </p:txBody>
      </p:sp>
      <p:sp>
        <p:nvSpPr>
          <p:cNvPr id="18" name="Shape 16"/>
          <p:cNvSpPr/>
          <p:nvPr/>
        </p:nvSpPr>
        <p:spPr>
          <a:xfrm>
            <a:off x="2562149" y="3527755"/>
            <a:ext cx="60350" cy="301752"/>
          </a:xfrm>
          <a:prstGeom prst="line">
            <a:avLst/>
          </a:prstGeom>
          <a:noFill/>
          <a:ln w="31750">
            <a:solidFill>
              <a:srgbClr val="1A1A1A"/>
            </a:solidFill>
            <a:prstDash val="solid"/>
          </a:ln>
        </p:spPr>
        <p:txBody>
          <a:bodyPr/>
          <a:lstStyle/>
          <a:p>
            <a:endParaRPr lang="en-US"/>
          </a:p>
        </p:txBody>
      </p:sp>
      <p:sp>
        <p:nvSpPr>
          <p:cNvPr id="19" name="Shape 17"/>
          <p:cNvSpPr/>
          <p:nvPr/>
        </p:nvSpPr>
        <p:spPr>
          <a:xfrm>
            <a:off x="2863901" y="3527755"/>
            <a:ext cx="60350" cy="301752"/>
          </a:xfrm>
          <a:prstGeom prst="line">
            <a:avLst/>
          </a:prstGeom>
          <a:noFill/>
          <a:ln w="31750">
            <a:solidFill>
              <a:srgbClr val="1A1A1A"/>
            </a:solidFill>
            <a:prstDash val="solid"/>
          </a:ln>
        </p:spPr>
        <p:txBody>
          <a:bodyPr/>
          <a:lstStyle/>
          <a:p>
            <a:endParaRPr lang="en-US"/>
          </a:p>
        </p:txBody>
      </p:sp>
      <p:sp>
        <p:nvSpPr>
          <p:cNvPr id="20" name="Shape 18"/>
          <p:cNvSpPr/>
          <p:nvPr/>
        </p:nvSpPr>
        <p:spPr>
          <a:xfrm>
            <a:off x="3657600" y="2286000"/>
            <a:ext cx="1005840" cy="640080"/>
          </a:xfrm>
          <a:prstGeom prst="line">
            <a:avLst/>
          </a:prstGeom>
          <a:noFill/>
          <a:ln w="25400">
            <a:solidFill>
              <a:srgbClr val="CC5500"/>
            </a:solidFill>
            <a:prstDash val="solid"/>
            <a:tailEnd type="triangle"/>
          </a:ln>
        </p:spPr>
        <p:txBody>
          <a:bodyPr/>
          <a:lstStyle/>
          <a:p>
            <a:endParaRPr lang="en-US"/>
          </a:p>
        </p:txBody>
      </p:sp>
      <p:sp>
        <p:nvSpPr>
          <p:cNvPr id="21" name="Text 19"/>
          <p:cNvSpPr/>
          <p:nvPr/>
        </p:nvSpPr>
        <p:spPr>
          <a:xfrm>
            <a:off x="4754880" y="457200"/>
            <a:ext cx="4114800" cy="548640"/>
          </a:xfrm>
          <a:prstGeom prst="rect">
            <a:avLst/>
          </a:prstGeom>
          <a:noFill/>
          <a:ln/>
        </p:spPr>
        <p:txBody>
          <a:bodyPr wrap="square" rtlCol="0" anchor="ctr"/>
          <a:lstStyle/>
          <a:p>
            <a:pPr marL="0" indent="0">
              <a:buNone/>
            </a:pPr>
            <a:r>
              <a:rPr lang="en-US" sz="2000" i="1" dirty="0">
                <a:solidFill>
                  <a:srgbClr val="AAAAAA"/>
                </a:solidFill>
                <a:latin typeface="Cambria" pitchFamily="34" charset="0"/>
                <a:ea typeface="Cambria" pitchFamily="34" charset="-122"/>
                <a:cs typeface="Cambria" pitchFamily="34" charset="-120"/>
              </a:rPr>
              <a:t>Becoming a</a:t>
            </a:r>
            <a:endParaRPr lang="en-US" sz="2000" dirty="0"/>
          </a:p>
        </p:txBody>
      </p:sp>
      <p:sp>
        <p:nvSpPr>
          <p:cNvPr id="22" name="Text 20"/>
          <p:cNvSpPr/>
          <p:nvPr/>
        </p:nvSpPr>
        <p:spPr>
          <a:xfrm>
            <a:off x="4663440" y="868680"/>
            <a:ext cx="4297680" cy="1828800"/>
          </a:xfrm>
          <a:prstGeom prst="rect">
            <a:avLst/>
          </a:prstGeom>
          <a:noFill/>
          <a:ln/>
        </p:spPr>
        <p:txBody>
          <a:bodyPr wrap="square" rtlCol="0" anchor="ctr"/>
          <a:lstStyle/>
          <a:p>
            <a:pPr marL="0" indent="0">
              <a:buNone/>
            </a:pPr>
            <a:r>
              <a:rPr lang="en-US" sz="5200" b="1" dirty="0">
                <a:solidFill>
                  <a:srgbClr val="1A1A1A"/>
                </a:solidFill>
                <a:latin typeface="Cambria" pitchFamily="34" charset="0"/>
                <a:ea typeface="Cambria" pitchFamily="34" charset="-122"/>
                <a:cs typeface="Cambria" pitchFamily="34" charset="-120"/>
              </a:rPr>
              <a:t>Grammar</a:t>
            </a:r>
            <a:endParaRPr lang="en-US" sz="5200" dirty="0"/>
          </a:p>
          <a:p>
            <a:pPr marL="0" indent="0">
              <a:buNone/>
            </a:pPr>
            <a:r>
              <a:rPr lang="en-US" sz="5200" b="1" dirty="0">
                <a:solidFill>
                  <a:srgbClr val="1A1A1A"/>
                </a:solidFill>
                <a:latin typeface="Cambria" pitchFamily="34" charset="0"/>
                <a:ea typeface="Cambria" pitchFamily="34" charset="-122"/>
                <a:cs typeface="Cambria" pitchFamily="34" charset="-120"/>
              </a:rPr>
              <a:t>Detective</a:t>
            </a:r>
            <a:endParaRPr lang="en-US" sz="5200" dirty="0"/>
          </a:p>
        </p:txBody>
      </p:sp>
      <p:sp>
        <p:nvSpPr>
          <p:cNvPr id="23" name="Text 21"/>
          <p:cNvSpPr/>
          <p:nvPr/>
        </p:nvSpPr>
        <p:spPr>
          <a:xfrm>
            <a:off x="4754880" y="2788920"/>
            <a:ext cx="4114800" cy="411480"/>
          </a:xfrm>
          <a:prstGeom prst="rect">
            <a:avLst/>
          </a:prstGeom>
          <a:noFill/>
          <a:ln/>
        </p:spPr>
        <p:txBody>
          <a:bodyPr wrap="square" rtlCol="0" anchor="ctr"/>
          <a:lstStyle/>
          <a:p>
            <a:pPr marL="0" indent="0">
              <a:buNone/>
            </a:pPr>
            <a:r>
              <a:rPr lang="en-US" sz="1400" i="1" dirty="0">
                <a:solidFill>
                  <a:srgbClr val="CC5500"/>
                </a:solidFill>
                <a:latin typeface="Calibri" pitchFamily="34" charset="0"/>
                <a:ea typeface="Calibri" pitchFamily="34" charset="-122"/>
                <a:cs typeface="Calibri" pitchFamily="34" charset="-120"/>
              </a:rPr>
              <a:t>TOEFL Junior · Grammar &amp; Writing · Edit a Text</a:t>
            </a:r>
            <a:endParaRPr lang="en-US" sz="1400" dirty="0"/>
          </a:p>
        </p:txBody>
      </p:sp>
      <p:sp>
        <p:nvSpPr>
          <p:cNvPr id="24" name="Text 22"/>
          <p:cNvSpPr/>
          <p:nvPr/>
        </p:nvSpPr>
        <p:spPr>
          <a:xfrm>
            <a:off x="4754880" y="3291840"/>
            <a:ext cx="4114800" cy="365760"/>
          </a:xfrm>
          <a:prstGeom prst="rect">
            <a:avLst/>
          </a:prstGeom>
          <a:noFill/>
          <a:ln/>
        </p:spPr>
        <p:txBody>
          <a:bodyPr wrap="square" rtlCol="0" anchor="ctr"/>
          <a:lstStyle/>
          <a:p>
            <a:pPr marL="0" indent="0">
              <a:buNone/>
            </a:pPr>
            <a:r>
              <a:rPr lang="en-US" sz="1300" dirty="0">
                <a:solidFill>
                  <a:srgbClr val="1A5EA8"/>
                </a:solidFill>
                <a:latin typeface="Calibri" pitchFamily="34" charset="0"/>
                <a:ea typeface="Calibri" pitchFamily="34" charset="-122"/>
                <a:cs typeface="Calibri" pitchFamily="34" charset="-120"/>
              </a:rPr>
              <a:t>Junior Level  |  Form &amp; Meaning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658368"/>
          </a:xfrm>
          <a:prstGeom prst="rect">
            <a:avLst/>
          </a:prstGeom>
          <a:noFill/>
          <a:ln/>
        </p:spPr>
        <p:txBody>
          <a:bodyPr wrap="square" rtlCol="0" anchor="ctr"/>
          <a:lstStyle/>
          <a:p>
            <a:pPr marL="0" indent="0">
              <a:buNone/>
            </a:pPr>
            <a:r>
              <a:rPr lang="en-US" sz="3600" b="1" dirty="0">
                <a:solidFill>
                  <a:srgbClr val="1A1A1A"/>
                </a:solidFill>
                <a:latin typeface="Cambria" pitchFamily="34" charset="0"/>
                <a:ea typeface="Cambria" pitchFamily="34" charset="-122"/>
                <a:cs typeface="Cambria" pitchFamily="34" charset="-120"/>
              </a:rPr>
              <a:t>Two Lenses, One Sentence</a:t>
            </a:r>
            <a:endParaRPr lang="en-US" sz="3600" dirty="0"/>
          </a:p>
        </p:txBody>
      </p:sp>
      <p:sp>
        <p:nvSpPr>
          <p:cNvPr id="3" name="Shape 1"/>
          <p:cNvSpPr/>
          <p:nvPr/>
        </p:nvSpPr>
        <p:spPr>
          <a:xfrm>
            <a:off x="457200" y="1005840"/>
            <a:ext cx="3840480" cy="3474720"/>
          </a:xfrm>
          <a:prstGeom prst="roundRect">
            <a:avLst>
              <a:gd name="adj" fmla="val 2105"/>
            </a:avLst>
          </a:prstGeom>
          <a:solidFill>
            <a:srgbClr val="FFFFFF"/>
          </a:solidFill>
          <a:ln w="19050">
            <a:solidFill>
              <a:srgbClr val="1A1A1A"/>
            </a:solidFill>
            <a:prstDash val="solid"/>
          </a:ln>
        </p:spPr>
        <p:txBody>
          <a:bodyPr/>
          <a:lstStyle/>
          <a:p>
            <a:endParaRPr lang="en-US"/>
          </a:p>
        </p:txBody>
      </p:sp>
      <p:sp>
        <p:nvSpPr>
          <p:cNvPr id="4" name="Shape 2"/>
          <p:cNvSpPr/>
          <p:nvPr/>
        </p:nvSpPr>
        <p:spPr>
          <a:xfrm>
            <a:off x="1645920" y="960120"/>
            <a:ext cx="1463040" cy="502920"/>
          </a:xfrm>
          <a:prstGeom prst="ellipse">
            <a:avLst/>
          </a:prstGeom>
          <a:solidFill>
            <a:srgbClr val="D93025"/>
          </a:solidFill>
          <a:ln w="12700">
            <a:solidFill>
              <a:srgbClr val="D93025"/>
            </a:solidFill>
            <a:prstDash val="solid"/>
          </a:ln>
        </p:spPr>
        <p:txBody>
          <a:bodyPr/>
          <a:lstStyle/>
          <a:p>
            <a:endParaRPr lang="en-US"/>
          </a:p>
        </p:txBody>
      </p:sp>
      <p:sp>
        <p:nvSpPr>
          <p:cNvPr id="5" name="Text 3"/>
          <p:cNvSpPr/>
          <p:nvPr/>
        </p:nvSpPr>
        <p:spPr>
          <a:xfrm>
            <a:off x="1645920" y="960120"/>
            <a:ext cx="146304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FORM</a:t>
            </a:r>
            <a:endParaRPr lang="en-US" sz="1800" dirty="0"/>
          </a:p>
        </p:txBody>
      </p:sp>
      <p:sp>
        <p:nvSpPr>
          <p:cNvPr id="6" name="Text 4"/>
          <p:cNvSpPr/>
          <p:nvPr/>
        </p:nvSpPr>
        <p:spPr>
          <a:xfrm>
            <a:off x="594360" y="1572768"/>
            <a:ext cx="3566160" cy="411480"/>
          </a:xfrm>
          <a:prstGeom prst="rect">
            <a:avLst/>
          </a:prstGeom>
          <a:noFill/>
          <a:ln/>
        </p:spPr>
        <p:txBody>
          <a:bodyPr wrap="square" rtlCol="0" anchor="ctr"/>
          <a:lstStyle/>
          <a:p>
            <a:pPr marL="0" indent="0" algn="ctr">
              <a:buNone/>
            </a:pPr>
            <a:r>
              <a:rPr lang="en-US" sz="1500" b="1" dirty="0">
                <a:solidFill>
                  <a:srgbClr val="D93025"/>
                </a:solidFill>
                <a:latin typeface="Calibri" pitchFamily="34" charset="0"/>
                <a:ea typeface="Calibri" pitchFamily="34" charset="-122"/>
                <a:cs typeface="Calibri" pitchFamily="34" charset="-120"/>
              </a:rPr>
              <a:t>What does it look like?</a:t>
            </a:r>
            <a:endParaRPr lang="en-US" sz="1500" dirty="0"/>
          </a:p>
        </p:txBody>
      </p:sp>
      <p:sp>
        <p:nvSpPr>
          <p:cNvPr id="7" name="Text 5"/>
          <p:cNvSpPr/>
          <p:nvPr/>
        </p:nvSpPr>
        <p:spPr>
          <a:xfrm>
            <a:off x="685800" y="2057400"/>
            <a:ext cx="3474720" cy="475488"/>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  The shape of the word</a:t>
            </a:r>
            <a:endParaRPr lang="en-US" sz="1400" dirty="0"/>
          </a:p>
          <a:p>
            <a:pPr marL="0" indent="0">
              <a:buNone/>
            </a:pPr>
            <a:r>
              <a:rPr lang="en-US" sz="1400" dirty="0">
                <a:solidFill>
                  <a:srgbClr val="1A1A1A"/>
                </a:solidFill>
                <a:latin typeface="Calibri" pitchFamily="34" charset="0"/>
                <a:ea typeface="Calibri" pitchFamily="34" charset="-122"/>
                <a:cs typeface="Calibri" pitchFamily="34" charset="-120"/>
              </a:rPr>
              <a:t>or sentence</a:t>
            </a:r>
            <a:endParaRPr lang="en-US" sz="1400" dirty="0"/>
          </a:p>
        </p:txBody>
      </p:sp>
      <p:sp>
        <p:nvSpPr>
          <p:cNvPr id="8" name="Text 6"/>
          <p:cNvSpPr/>
          <p:nvPr/>
        </p:nvSpPr>
        <p:spPr>
          <a:xfrm>
            <a:off x="685800" y="2606040"/>
            <a:ext cx="3474720" cy="475488"/>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  Spelling, endings (-s, -ed, -ing)</a:t>
            </a:r>
            <a:endParaRPr lang="en-US" sz="1400" dirty="0"/>
          </a:p>
        </p:txBody>
      </p:sp>
      <p:sp>
        <p:nvSpPr>
          <p:cNvPr id="9" name="Text 7"/>
          <p:cNvSpPr/>
          <p:nvPr/>
        </p:nvSpPr>
        <p:spPr>
          <a:xfrm>
            <a:off x="685800" y="3154680"/>
            <a:ext cx="3474720" cy="475488"/>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  Capital letters &amp; punctuation</a:t>
            </a:r>
            <a:endParaRPr lang="en-US" sz="1400" dirty="0"/>
          </a:p>
        </p:txBody>
      </p:sp>
      <p:sp>
        <p:nvSpPr>
          <p:cNvPr id="10" name="Text 8"/>
          <p:cNvSpPr/>
          <p:nvPr/>
        </p:nvSpPr>
        <p:spPr>
          <a:xfrm>
            <a:off x="685800" y="3703320"/>
            <a:ext cx="3474720" cy="475488"/>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  Word order</a:t>
            </a:r>
            <a:endParaRPr lang="en-US" sz="1400" dirty="0"/>
          </a:p>
        </p:txBody>
      </p:sp>
      <p:sp>
        <p:nvSpPr>
          <p:cNvPr id="11" name="Shape 9"/>
          <p:cNvSpPr/>
          <p:nvPr/>
        </p:nvSpPr>
        <p:spPr>
          <a:xfrm>
            <a:off x="4846320" y="1005840"/>
            <a:ext cx="3840480" cy="3474720"/>
          </a:xfrm>
          <a:prstGeom prst="roundRect">
            <a:avLst>
              <a:gd name="adj" fmla="val 2105"/>
            </a:avLst>
          </a:prstGeom>
          <a:solidFill>
            <a:srgbClr val="FFFFFF"/>
          </a:solidFill>
          <a:ln w="19050">
            <a:solidFill>
              <a:srgbClr val="1A1A1A"/>
            </a:solidFill>
            <a:prstDash val="solid"/>
          </a:ln>
        </p:spPr>
        <p:txBody>
          <a:bodyPr/>
          <a:lstStyle/>
          <a:p>
            <a:endParaRPr lang="en-US"/>
          </a:p>
        </p:txBody>
      </p:sp>
      <p:sp>
        <p:nvSpPr>
          <p:cNvPr id="12" name="Shape 10"/>
          <p:cNvSpPr/>
          <p:nvPr/>
        </p:nvSpPr>
        <p:spPr>
          <a:xfrm>
            <a:off x="6035040" y="960120"/>
            <a:ext cx="1463040" cy="502920"/>
          </a:xfrm>
          <a:prstGeom prst="ellipse">
            <a:avLst/>
          </a:prstGeom>
          <a:solidFill>
            <a:srgbClr val="1A5EA8"/>
          </a:solidFill>
          <a:ln w="12700">
            <a:solidFill>
              <a:srgbClr val="1A5EA8"/>
            </a:solidFill>
            <a:prstDash val="solid"/>
          </a:ln>
        </p:spPr>
        <p:txBody>
          <a:bodyPr/>
          <a:lstStyle/>
          <a:p>
            <a:endParaRPr lang="en-US"/>
          </a:p>
        </p:txBody>
      </p:sp>
      <p:sp>
        <p:nvSpPr>
          <p:cNvPr id="13" name="Text 11"/>
          <p:cNvSpPr/>
          <p:nvPr/>
        </p:nvSpPr>
        <p:spPr>
          <a:xfrm>
            <a:off x="6035040" y="960120"/>
            <a:ext cx="146304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MEANING</a:t>
            </a:r>
            <a:endParaRPr lang="en-US" sz="1600" dirty="0"/>
          </a:p>
        </p:txBody>
      </p:sp>
      <p:sp>
        <p:nvSpPr>
          <p:cNvPr id="14" name="Text 12"/>
          <p:cNvSpPr/>
          <p:nvPr/>
        </p:nvSpPr>
        <p:spPr>
          <a:xfrm>
            <a:off x="4983480" y="1572768"/>
            <a:ext cx="3566160" cy="411480"/>
          </a:xfrm>
          <a:prstGeom prst="rect">
            <a:avLst/>
          </a:prstGeom>
          <a:noFill/>
          <a:ln/>
        </p:spPr>
        <p:txBody>
          <a:bodyPr wrap="square" rtlCol="0" anchor="ctr"/>
          <a:lstStyle/>
          <a:p>
            <a:pPr marL="0" indent="0" algn="ctr">
              <a:buNone/>
            </a:pPr>
            <a:r>
              <a:rPr lang="en-US" sz="1500" b="1" dirty="0">
                <a:solidFill>
                  <a:srgbClr val="1A5EA8"/>
                </a:solidFill>
                <a:latin typeface="Calibri" pitchFamily="34" charset="0"/>
                <a:ea typeface="Calibri" pitchFamily="34" charset="-122"/>
                <a:cs typeface="Calibri" pitchFamily="34" charset="-120"/>
              </a:rPr>
              <a:t>What does it communicate?</a:t>
            </a:r>
            <a:endParaRPr lang="en-US" sz="1500" dirty="0"/>
          </a:p>
        </p:txBody>
      </p:sp>
      <p:sp>
        <p:nvSpPr>
          <p:cNvPr id="15" name="Text 13"/>
          <p:cNvSpPr/>
          <p:nvPr/>
        </p:nvSpPr>
        <p:spPr>
          <a:xfrm>
            <a:off x="4983480" y="2057400"/>
            <a:ext cx="3566160" cy="475488"/>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  Who is doing the action?</a:t>
            </a:r>
            <a:endParaRPr lang="en-US" sz="1400" dirty="0"/>
          </a:p>
        </p:txBody>
      </p:sp>
      <p:sp>
        <p:nvSpPr>
          <p:cNvPr id="16" name="Text 14"/>
          <p:cNvSpPr/>
          <p:nvPr/>
        </p:nvSpPr>
        <p:spPr>
          <a:xfrm>
            <a:off x="4983480" y="2606040"/>
            <a:ext cx="3566160" cy="475488"/>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  When did it happen? (tense)</a:t>
            </a:r>
            <a:endParaRPr lang="en-US" sz="1400" dirty="0"/>
          </a:p>
        </p:txBody>
      </p:sp>
      <p:sp>
        <p:nvSpPr>
          <p:cNvPr id="17" name="Text 15"/>
          <p:cNvSpPr/>
          <p:nvPr/>
        </p:nvSpPr>
        <p:spPr>
          <a:xfrm>
            <a:off x="4983480" y="3154680"/>
            <a:ext cx="3566160" cy="475488"/>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  One person or many? (number)</a:t>
            </a:r>
            <a:endParaRPr lang="en-US" sz="1400" dirty="0"/>
          </a:p>
        </p:txBody>
      </p:sp>
      <p:sp>
        <p:nvSpPr>
          <p:cNvPr id="18" name="Text 16"/>
          <p:cNvSpPr/>
          <p:nvPr/>
        </p:nvSpPr>
        <p:spPr>
          <a:xfrm>
            <a:off x="4983480" y="3703320"/>
            <a:ext cx="3566160" cy="475488"/>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  He, she, or it? (reference)</a:t>
            </a:r>
            <a:endParaRPr lang="en-US" sz="1400" dirty="0"/>
          </a:p>
        </p:txBody>
      </p:sp>
      <p:sp>
        <p:nvSpPr>
          <p:cNvPr id="19" name="Text 17"/>
          <p:cNvSpPr/>
          <p:nvPr/>
        </p:nvSpPr>
        <p:spPr>
          <a:xfrm>
            <a:off x="4160520" y="2331720"/>
            <a:ext cx="822960" cy="457200"/>
          </a:xfrm>
          <a:prstGeom prst="rect">
            <a:avLst/>
          </a:prstGeom>
          <a:noFill/>
          <a:ln/>
        </p:spPr>
        <p:txBody>
          <a:bodyPr wrap="square" rtlCol="0" anchor="ctr"/>
          <a:lstStyle/>
          <a:p>
            <a:pPr marL="0" indent="0" algn="ctr">
              <a:buNone/>
            </a:pPr>
            <a:r>
              <a:rPr lang="en-US" sz="2000" b="1" i="1" dirty="0">
                <a:solidFill>
                  <a:srgbClr val="CC5500"/>
                </a:solidFill>
                <a:latin typeface="Cambria" pitchFamily="34" charset="0"/>
                <a:ea typeface="Cambria" pitchFamily="34" charset="-122"/>
                <a:cs typeface="Cambria" pitchFamily="34" charset="-120"/>
              </a:rPr>
              <a:t>vs.</a:t>
            </a:r>
            <a:endParaRPr lang="en-US" sz="2000" dirty="0"/>
          </a:p>
        </p:txBody>
      </p:sp>
      <p:sp>
        <p:nvSpPr>
          <p:cNvPr id="20" name="Shape 18"/>
          <p:cNvSpPr/>
          <p:nvPr/>
        </p:nvSpPr>
        <p:spPr>
          <a:xfrm>
            <a:off x="4331970" y="3186684"/>
            <a:ext cx="480060" cy="480060"/>
          </a:xfrm>
          <a:prstGeom prst="roundRect">
            <a:avLst>
              <a:gd name="adj" fmla="val 66667"/>
            </a:avLst>
          </a:prstGeom>
          <a:solidFill>
            <a:srgbClr val="1A1A1A"/>
          </a:solidFill>
          <a:ln w="12700">
            <a:solidFill>
              <a:srgbClr val="1A1A1A"/>
            </a:solidFill>
            <a:prstDash val="solid"/>
          </a:ln>
        </p:spPr>
        <p:txBody>
          <a:bodyPr/>
          <a:lstStyle/>
          <a:p>
            <a:endParaRPr lang="en-US"/>
          </a:p>
        </p:txBody>
      </p:sp>
      <p:sp>
        <p:nvSpPr>
          <p:cNvPr id="21" name="Shape 19"/>
          <p:cNvSpPr/>
          <p:nvPr/>
        </p:nvSpPr>
        <p:spPr>
          <a:xfrm>
            <a:off x="4441698" y="3268980"/>
            <a:ext cx="68580" cy="68580"/>
          </a:xfrm>
          <a:prstGeom prst="ellipse">
            <a:avLst/>
          </a:prstGeom>
          <a:solidFill>
            <a:srgbClr val="FFFFFF"/>
          </a:solidFill>
          <a:ln w="12700">
            <a:solidFill>
              <a:srgbClr val="FFFFFF"/>
            </a:solidFill>
            <a:prstDash val="solid"/>
          </a:ln>
        </p:spPr>
        <p:txBody>
          <a:bodyPr/>
          <a:lstStyle/>
          <a:p>
            <a:endParaRPr lang="en-US"/>
          </a:p>
        </p:txBody>
      </p:sp>
      <p:sp>
        <p:nvSpPr>
          <p:cNvPr id="22" name="Shape 20"/>
          <p:cNvSpPr/>
          <p:nvPr/>
        </p:nvSpPr>
        <p:spPr>
          <a:xfrm>
            <a:off x="4626864" y="3268980"/>
            <a:ext cx="68580" cy="68580"/>
          </a:xfrm>
          <a:prstGeom prst="ellipse">
            <a:avLst/>
          </a:prstGeom>
          <a:solidFill>
            <a:srgbClr val="FFFFFF"/>
          </a:solidFill>
          <a:ln w="12700">
            <a:solidFill>
              <a:srgbClr val="FFFFFF"/>
            </a:solidFill>
            <a:prstDash val="solid"/>
          </a:ln>
        </p:spPr>
        <p:txBody>
          <a:bodyPr/>
          <a:lstStyle/>
          <a:p>
            <a:endParaRPr lang="en-US"/>
          </a:p>
        </p:txBody>
      </p:sp>
      <p:sp>
        <p:nvSpPr>
          <p:cNvPr id="23" name="Shape 21"/>
          <p:cNvSpPr/>
          <p:nvPr/>
        </p:nvSpPr>
        <p:spPr>
          <a:xfrm>
            <a:off x="4448556" y="3666744"/>
            <a:ext cx="41148" cy="205740"/>
          </a:xfrm>
          <a:prstGeom prst="line">
            <a:avLst/>
          </a:prstGeom>
          <a:noFill/>
          <a:ln w="31750">
            <a:solidFill>
              <a:srgbClr val="1A1A1A"/>
            </a:solidFill>
            <a:prstDash val="solid"/>
          </a:ln>
        </p:spPr>
        <p:txBody>
          <a:bodyPr/>
          <a:lstStyle/>
          <a:p>
            <a:endParaRPr lang="en-US"/>
          </a:p>
        </p:txBody>
      </p:sp>
      <p:sp>
        <p:nvSpPr>
          <p:cNvPr id="24" name="Shape 22"/>
          <p:cNvSpPr/>
          <p:nvPr/>
        </p:nvSpPr>
        <p:spPr>
          <a:xfrm>
            <a:off x="4654296" y="3666744"/>
            <a:ext cx="41148" cy="205740"/>
          </a:xfrm>
          <a:prstGeom prst="line">
            <a:avLst/>
          </a:prstGeom>
          <a:noFill/>
          <a:ln w="31750">
            <a:solidFill>
              <a:srgbClr val="1A1A1A"/>
            </a:solidFill>
            <a:prstDash val="solid"/>
          </a:ln>
        </p:spPr>
        <p:txBody>
          <a:bodyPr/>
          <a:lstStyle/>
          <a:p>
            <a:endParaRPr lang="en-US"/>
          </a:p>
        </p:txBody>
      </p:sp>
      <p:sp>
        <p:nvSpPr>
          <p:cNvPr id="25" name="Shape 23"/>
          <p:cNvSpPr/>
          <p:nvPr/>
        </p:nvSpPr>
        <p:spPr>
          <a:xfrm>
            <a:off x="457200" y="4572000"/>
            <a:ext cx="8229600" cy="475488"/>
          </a:xfrm>
          <a:prstGeom prst="roundRect">
            <a:avLst>
              <a:gd name="adj" fmla="val 15385"/>
            </a:avLst>
          </a:prstGeom>
          <a:solidFill>
            <a:srgbClr val="FFF8F0"/>
          </a:solidFill>
          <a:ln w="19050">
            <a:solidFill>
              <a:srgbClr val="1A1A1A"/>
            </a:solidFill>
            <a:prstDash val="solid"/>
          </a:ln>
        </p:spPr>
        <p:txBody>
          <a:bodyPr/>
          <a:lstStyle/>
          <a:p>
            <a:endParaRPr lang="en-US"/>
          </a:p>
        </p:txBody>
      </p:sp>
      <p:sp>
        <p:nvSpPr>
          <p:cNvPr id="26" name="Text 24"/>
          <p:cNvSpPr/>
          <p:nvPr/>
        </p:nvSpPr>
        <p:spPr>
          <a:xfrm>
            <a:off x="640080" y="4572000"/>
            <a:ext cx="1005840" cy="475488"/>
          </a:xfrm>
          <a:prstGeom prst="rect">
            <a:avLst/>
          </a:prstGeom>
          <a:noFill/>
          <a:ln/>
        </p:spPr>
        <p:txBody>
          <a:bodyPr wrap="square" rtlCol="0" anchor="ctr"/>
          <a:lstStyle/>
          <a:p>
            <a:pPr marL="0" indent="0">
              <a:buNone/>
            </a:pPr>
            <a:r>
              <a:rPr lang="en-US" sz="1300" b="1" dirty="0">
                <a:solidFill>
                  <a:srgbClr val="CC5500"/>
                </a:solidFill>
                <a:latin typeface="Calibri" pitchFamily="34" charset="0"/>
                <a:ea typeface="Calibri" pitchFamily="34" charset="-122"/>
                <a:cs typeface="Calibri" pitchFamily="34" charset="-120"/>
              </a:rPr>
              <a:t>Example:  </a:t>
            </a:r>
            <a:endParaRPr lang="en-US" sz="1300" dirty="0"/>
          </a:p>
        </p:txBody>
      </p:sp>
      <p:sp>
        <p:nvSpPr>
          <p:cNvPr id="27" name="Text 25"/>
          <p:cNvSpPr/>
          <p:nvPr/>
        </p:nvSpPr>
        <p:spPr>
          <a:xfrm>
            <a:off x="1554480" y="4572000"/>
            <a:ext cx="2926080" cy="475488"/>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"Yesterday, she go to school."  →  </a:t>
            </a:r>
            <a:endParaRPr lang="en-US" sz="1300" dirty="0"/>
          </a:p>
        </p:txBody>
      </p:sp>
      <p:sp>
        <p:nvSpPr>
          <p:cNvPr id="28" name="Text 26"/>
          <p:cNvSpPr/>
          <p:nvPr/>
        </p:nvSpPr>
        <p:spPr>
          <a:xfrm>
            <a:off x="4389120" y="4572000"/>
            <a:ext cx="2103120" cy="475488"/>
          </a:xfrm>
          <a:prstGeom prst="rect">
            <a:avLst/>
          </a:prstGeom>
          <a:noFill/>
          <a:ln/>
        </p:spPr>
        <p:txBody>
          <a:bodyPr wrap="square" rtlCol="0" anchor="ctr"/>
          <a:lstStyle/>
          <a:p>
            <a:pPr marL="0" indent="0">
              <a:buNone/>
            </a:pPr>
            <a:r>
              <a:rPr lang="en-US" sz="1300" i="1" dirty="0">
                <a:solidFill>
                  <a:srgbClr val="D93025"/>
                </a:solidFill>
                <a:latin typeface="Calibri" pitchFamily="34" charset="0"/>
                <a:ea typeface="Calibri" pitchFamily="34" charset="-122"/>
                <a:cs typeface="Calibri" pitchFamily="34" charset="-120"/>
              </a:rPr>
              <a:t>FORM: go → went   |   </a:t>
            </a:r>
            <a:endParaRPr lang="en-US" sz="1300" dirty="0"/>
          </a:p>
        </p:txBody>
      </p:sp>
      <p:sp>
        <p:nvSpPr>
          <p:cNvPr id="29" name="Text 27"/>
          <p:cNvSpPr/>
          <p:nvPr/>
        </p:nvSpPr>
        <p:spPr>
          <a:xfrm>
            <a:off x="6400800" y="4572000"/>
            <a:ext cx="2560320" cy="475488"/>
          </a:xfrm>
          <a:prstGeom prst="rect">
            <a:avLst/>
          </a:prstGeom>
          <a:noFill/>
          <a:ln/>
        </p:spPr>
        <p:txBody>
          <a:bodyPr wrap="square" rtlCol="0" anchor="ctr"/>
          <a:lstStyle/>
          <a:p>
            <a:pPr marL="0" indent="0">
              <a:buNone/>
            </a:pPr>
            <a:r>
              <a:rPr lang="en-US" sz="1200" i="1" dirty="0">
                <a:solidFill>
                  <a:srgbClr val="1A5EA8"/>
                </a:solidFill>
                <a:latin typeface="Calibri" pitchFamily="34" charset="0"/>
                <a:ea typeface="Calibri" pitchFamily="34" charset="-122"/>
                <a:cs typeface="Calibri" pitchFamily="34" charset="-120"/>
              </a:rPr>
              <a:t>MEANING: past tense shows the action is finished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658368"/>
          </a:xfrm>
          <a:prstGeom prst="rect">
            <a:avLst/>
          </a:prstGeom>
          <a:noFill/>
          <a:ln/>
        </p:spPr>
        <p:txBody>
          <a:bodyPr wrap="square" rtlCol="0" anchor="ctr"/>
          <a:lstStyle/>
          <a:p>
            <a:pPr marL="0" indent="0">
              <a:buNone/>
            </a:pPr>
            <a:r>
              <a:rPr lang="en-US" sz="3600" b="1" dirty="0">
                <a:solidFill>
                  <a:srgbClr val="1A1A1A"/>
                </a:solidFill>
                <a:latin typeface="Cambria" pitchFamily="34" charset="0"/>
                <a:ea typeface="Cambria" pitchFamily="34" charset="-122"/>
                <a:cs typeface="Cambria" pitchFamily="34" charset="-120"/>
              </a:rPr>
              <a:t>The 3-Pass Strategy</a:t>
            </a:r>
            <a:endParaRPr lang="en-US" sz="3600" dirty="0"/>
          </a:p>
        </p:txBody>
      </p:sp>
      <p:sp>
        <p:nvSpPr>
          <p:cNvPr id="3" name="Shape 1"/>
          <p:cNvSpPr/>
          <p:nvPr/>
        </p:nvSpPr>
        <p:spPr>
          <a:xfrm>
            <a:off x="365760" y="960120"/>
            <a:ext cx="2743200" cy="3520440"/>
          </a:xfrm>
          <a:prstGeom prst="roundRect">
            <a:avLst>
              <a:gd name="adj" fmla="val 2667"/>
            </a:avLst>
          </a:prstGeom>
          <a:solidFill>
            <a:srgbClr val="FFFFFF"/>
          </a:solidFill>
          <a:ln w="25400">
            <a:solidFill>
              <a:srgbClr val="D93025"/>
            </a:solidFill>
            <a:prstDash val="solid"/>
          </a:ln>
        </p:spPr>
        <p:txBody>
          <a:bodyPr/>
          <a:lstStyle/>
          <a:p>
            <a:endParaRPr lang="en-US"/>
          </a:p>
        </p:txBody>
      </p:sp>
      <p:sp>
        <p:nvSpPr>
          <p:cNvPr id="4" name="Shape 2"/>
          <p:cNvSpPr/>
          <p:nvPr/>
        </p:nvSpPr>
        <p:spPr>
          <a:xfrm>
            <a:off x="1463040" y="777240"/>
            <a:ext cx="548640" cy="548640"/>
          </a:xfrm>
          <a:prstGeom prst="ellipse">
            <a:avLst/>
          </a:prstGeom>
          <a:solidFill>
            <a:srgbClr val="D93025"/>
          </a:solidFill>
          <a:ln w="12700">
            <a:solidFill>
              <a:srgbClr val="D93025"/>
            </a:solidFill>
            <a:prstDash val="solid"/>
          </a:ln>
        </p:spPr>
        <p:txBody>
          <a:bodyPr/>
          <a:lstStyle/>
          <a:p>
            <a:endParaRPr lang="en-US"/>
          </a:p>
        </p:txBody>
      </p:sp>
      <p:sp>
        <p:nvSpPr>
          <p:cNvPr id="5" name="Text 3"/>
          <p:cNvSpPr/>
          <p:nvPr/>
        </p:nvSpPr>
        <p:spPr>
          <a:xfrm>
            <a:off x="1463040" y="777240"/>
            <a:ext cx="548640" cy="5486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411480" y="1143000"/>
            <a:ext cx="2560320" cy="640080"/>
          </a:xfrm>
          <a:prstGeom prst="rect">
            <a:avLst/>
          </a:prstGeom>
          <a:noFill/>
          <a:ln/>
        </p:spPr>
        <p:txBody>
          <a:bodyPr wrap="square" rtlCol="0" anchor="ctr"/>
          <a:lstStyle/>
          <a:p>
            <a:pPr marL="0" indent="0" algn="ctr">
              <a:buNone/>
            </a:pPr>
            <a:r>
              <a:rPr lang="en-US" sz="1400" b="1" dirty="0">
                <a:solidFill>
                  <a:srgbClr val="D93025"/>
                </a:solidFill>
                <a:latin typeface="Calibri" pitchFamily="34" charset="0"/>
                <a:ea typeface="Calibri" pitchFamily="34" charset="-122"/>
                <a:cs typeface="Calibri" pitchFamily="34" charset="-120"/>
              </a:rPr>
              <a:t>🛑  Capitals &amp; Punctuation</a:t>
            </a:r>
            <a:endParaRPr lang="en-US" sz="1400" dirty="0"/>
          </a:p>
        </p:txBody>
      </p:sp>
      <p:sp>
        <p:nvSpPr>
          <p:cNvPr id="7" name="Shape 5"/>
          <p:cNvSpPr/>
          <p:nvPr/>
        </p:nvSpPr>
        <p:spPr>
          <a:xfrm>
            <a:off x="548640" y="1691640"/>
            <a:ext cx="2377440" cy="0"/>
          </a:xfrm>
          <a:prstGeom prst="line">
            <a:avLst/>
          </a:prstGeom>
          <a:noFill/>
          <a:ln w="12700">
            <a:solidFill>
              <a:srgbClr val="D93025"/>
            </a:solidFill>
            <a:prstDash val="dash"/>
          </a:ln>
        </p:spPr>
        <p:txBody>
          <a:bodyPr/>
          <a:lstStyle/>
          <a:p>
            <a:endParaRPr lang="en-US"/>
          </a:p>
        </p:txBody>
      </p:sp>
      <p:sp>
        <p:nvSpPr>
          <p:cNvPr id="8" name="Text 6"/>
          <p:cNvSpPr/>
          <p:nvPr/>
        </p:nvSpPr>
        <p:spPr>
          <a:xfrm>
            <a:off x="502920" y="1755648"/>
            <a:ext cx="640080" cy="320040"/>
          </a:xfrm>
          <a:prstGeom prst="rect">
            <a:avLst/>
          </a:prstGeom>
          <a:noFill/>
          <a:ln/>
        </p:spPr>
        <p:txBody>
          <a:bodyPr wrap="square" rtlCol="0" anchor="ctr"/>
          <a:lstStyle/>
          <a:p>
            <a:pPr marL="0" indent="0">
              <a:buNone/>
            </a:pPr>
            <a:r>
              <a:rPr lang="en-US" sz="1100" b="1" dirty="0">
                <a:solidFill>
                  <a:srgbClr val="D93025"/>
                </a:solidFill>
                <a:latin typeface="Calibri" pitchFamily="34" charset="0"/>
                <a:ea typeface="Calibri" pitchFamily="34" charset="-122"/>
                <a:cs typeface="Calibri" pitchFamily="34" charset="-120"/>
              </a:rPr>
              <a:t>FORM</a:t>
            </a:r>
            <a:endParaRPr lang="en-US" sz="1100" dirty="0"/>
          </a:p>
        </p:txBody>
      </p:sp>
      <p:sp>
        <p:nvSpPr>
          <p:cNvPr id="9" name="Text 7"/>
          <p:cNvSpPr/>
          <p:nvPr/>
        </p:nvSpPr>
        <p:spPr>
          <a:xfrm>
            <a:off x="502920" y="2057400"/>
            <a:ext cx="2468880" cy="960120"/>
          </a:xfrm>
          <a:prstGeom prst="rect">
            <a:avLst/>
          </a:prstGeom>
          <a:noFill/>
          <a:ln/>
        </p:spPr>
        <p:txBody>
          <a:bodyPr wrap="square" rtlCol="0" anchor="ctr"/>
          <a:lstStyle/>
          <a:p>
            <a:pPr marL="0" indent="0">
              <a:buNone/>
            </a:pPr>
            <a:r>
              <a:rPr lang="en-US" sz="1250" dirty="0">
                <a:solidFill>
                  <a:srgbClr val="1A1A1A"/>
                </a:solidFill>
                <a:latin typeface="Calibri" pitchFamily="34" charset="0"/>
                <a:ea typeface="Calibri" pitchFamily="34" charset="-122"/>
                <a:cs typeface="Calibri" pitchFamily="34" charset="-120"/>
              </a:rPr>
              <a:t>Sentence starts with capital.</a:t>
            </a:r>
            <a:endParaRPr lang="en-US" sz="1250" dirty="0"/>
          </a:p>
          <a:p>
            <a:pPr marL="0" indent="0">
              <a:buNone/>
            </a:pPr>
            <a:r>
              <a:rPr lang="en-US" sz="1250" dirty="0">
                <a:solidFill>
                  <a:srgbClr val="1A1A1A"/>
                </a:solidFill>
                <a:latin typeface="Calibri" pitchFamily="34" charset="0"/>
                <a:ea typeface="Calibri" pitchFamily="34" charset="-122"/>
                <a:cs typeface="Calibri" pitchFamily="34" charset="-120"/>
              </a:rPr>
              <a:t>Sentence ends with . ? !</a:t>
            </a:r>
            <a:endParaRPr lang="en-US" sz="1250" dirty="0"/>
          </a:p>
        </p:txBody>
      </p:sp>
      <p:sp>
        <p:nvSpPr>
          <p:cNvPr id="10" name="Shape 8"/>
          <p:cNvSpPr/>
          <p:nvPr/>
        </p:nvSpPr>
        <p:spPr>
          <a:xfrm>
            <a:off x="548640" y="3063240"/>
            <a:ext cx="2377440" cy="0"/>
          </a:xfrm>
          <a:prstGeom prst="line">
            <a:avLst/>
          </a:prstGeom>
          <a:noFill/>
          <a:ln w="12700">
            <a:solidFill>
              <a:srgbClr val="D93025"/>
            </a:solidFill>
            <a:prstDash val="sysDot"/>
          </a:ln>
        </p:spPr>
        <p:txBody>
          <a:bodyPr/>
          <a:lstStyle/>
          <a:p>
            <a:endParaRPr lang="en-US"/>
          </a:p>
        </p:txBody>
      </p:sp>
      <p:sp>
        <p:nvSpPr>
          <p:cNvPr id="11" name="Text 9"/>
          <p:cNvSpPr/>
          <p:nvPr/>
        </p:nvSpPr>
        <p:spPr>
          <a:xfrm>
            <a:off x="502920" y="3108960"/>
            <a:ext cx="1005840" cy="320040"/>
          </a:xfrm>
          <a:prstGeom prst="rect">
            <a:avLst/>
          </a:prstGeom>
          <a:noFill/>
          <a:ln/>
        </p:spPr>
        <p:txBody>
          <a:bodyPr wrap="square" rtlCol="0" anchor="ctr"/>
          <a:lstStyle/>
          <a:p>
            <a:pPr marL="0" indent="0">
              <a:buNone/>
            </a:pPr>
            <a:r>
              <a:rPr lang="en-US" sz="1100" b="1" dirty="0">
                <a:solidFill>
                  <a:srgbClr val="1A5EA8"/>
                </a:solidFill>
                <a:latin typeface="Calibri" pitchFamily="34" charset="0"/>
                <a:ea typeface="Calibri" pitchFamily="34" charset="-122"/>
                <a:cs typeface="Calibri" pitchFamily="34" charset="-120"/>
              </a:rPr>
              <a:t>MEANING</a:t>
            </a:r>
            <a:endParaRPr lang="en-US" sz="1100" dirty="0"/>
          </a:p>
        </p:txBody>
      </p:sp>
      <p:sp>
        <p:nvSpPr>
          <p:cNvPr id="12" name="Text 10"/>
          <p:cNvSpPr/>
          <p:nvPr/>
        </p:nvSpPr>
        <p:spPr>
          <a:xfrm>
            <a:off x="502920" y="3456432"/>
            <a:ext cx="2468880" cy="1280160"/>
          </a:xfrm>
          <a:prstGeom prst="rect">
            <a:avLst/>
          </a:prstGeom>
          <a:noFill/>
          <a:ln/>
        </p:spPr>
        <p:txBody>
          <a:bodyPr wrap="square" rtlCol="0" anchor="ctr"/>
          <a:lstStyle/>
          <a:p>
            <a:pPr marL="0" indent="0">
              <a:buNone/>
            </a:pPr>
            <a:r>
              <a:rPr lang="en-US" sz="1250" dirty="0">
                <a:solidFill>
                  <a:srgbClr val="1A1A1A"/>
                </a:solidFill>
                <a:latin typeface="Calibri" pitchFamily="34" charset="0"/>
                <a:ea typeface="Calibri" pitchFamily="34" charset="-122"/>
                <a:cs typeface="Calibri" pitchFamily="34" charset="-120"/>
              </a:rPr>
              <a:t>Signals sentence boundaries.</a:t>
            </a:r>
            <a:endParaRPr lang="en-US" sz="1250" dirty="0"/>
          </a:p>
          <a:p>
            <a:pPr marL="0" indent="0">
              <a:buNone/>
            </a:pPr>
            <a:r>
              <a:rPr lang="en-US" sz="1250" dirty="0">
                <a:solidFill>
                  <a:srgbClr val="1A1A1A"/>
                </a:solidFill>
                <a:latin typeface="Calibri" pitchFamily="34" charset="0"/>
                <a:ea typeface="Calibri" pitchFamily="34" charset="-122"/>
                <a:cs typeface="Calibri" pitchFamily="34" charset="-120"/>
              </a:rPr>
              <a:t>Proper nouns = specific people/places.</a:t>
            </a:r>
            <a:endParaRPr lang="en-US" sz="1250" dirty="0"/>
          </a:p>
        </p:txBody>
      </p:sp>
      <p:sp>
        <p:nvSpPr>
          <p:cNvPr id="13" name="Shape 11"/>
          <p:cNvSpPr/>
          <p:nvPr/>
        </p:nvSpPr>
        <p:spPr>
          <a:xfrm>
            <a:off x="3291840" y="960120"/>
            <a:ext cx="2743200" cy="3520440"/>
          </a:xfrm>
          <a:prstGeom prst="roundRect">
            <a:avLst>
              <a:gd name="adj" fmla="val 2667"/>
            </a:avLst>
          </a:prstGeom>
          <a:solidFill>
            <a:srgbClr val="FFFFFF"/>
          </a:solidFill>
          <a:ln w="25400">
            <a:solidFill>
              <a:srgbClr val="CC5500"/>
            </a:solidFill>
            <a:prstDash val="solid"/>
          </a:ln>
        </p:spPr>
        <p:txBody>
          <a:bodyPr/>
          <a:lstStyle/>
          <a:p>
            <a:endParaRPr lang="en-US"/>
          </a:p>
        </p:txBody>
      </p:sp>
      <p:sp>
        <p:nvSpPr>
          <p:cNvPr id="14" name="Shape 12"/>
          <p:cNvSpPr/>
          <p:nvPr/>
        </p:nvSpPr>
        <p:spPr>
          <a:xfrm>
            <a:off x="4389120" y="777240"/>
            <a:ext cx="548640" cy="548640"/>
          </a:xfrm>
          <a:prstGeom prst="ellipse">
            <a:avLst/>
          </a:prstGeom>
          <a:solidFill>
            <a:srgbClr val="CC5500"/>
          </a:solidFill>
          <a:ln w="12700">
            <a:solidFill>
              <a:srgbClr val="CC5500"/>
            </a:solidFill>
            <a:prstDash val="solid"/>
          </a:ln>
        </p:spPr>
        <p:txBody>
          <a:bodyPr/>
          <a:lstStyle/>
          <a:p>
            <a:endParaRPr lang="en-US"/>
          </a:p>
        </p:txBody>
      </p:sp>
      <p:sp>
        <p:nvSpPr>
          <p:cNvPr id="15" name="Text 13"/>
          <p:cNvSpPr/>
          <p:nvPr/>
        </p:nvSpPr>
        <p:spPr>
          <a:xfrm>
            <a:off x="4389120" y="777240"/>
            <a:ext cx="548640" cy="5486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4"/>
          <p:cNvSpPr/>
          <p:nvPr/>
        </p:nvSpPr>
        <p:spPr>
          <a:xfrm>
            <a:off x="3337560" y="1147602"/>
            <a:ext cx="2560320" cy="640080"/>
          </a:xfrm>
          <a:prstGeom prst="rect">
            <a:avLst/>
          </a:prstGeom>
          <a:noFill/>
          <a:ln/>
        </p:spPr>
        <p:txBody>
          <a:bodyPr wrap="square" rtlCol="0" anchor="ctr"/>
          <a:lstStyle/>
          <a:p>
            <a:pPr marL="0" indent="0" algn="ctr">
              <a:buNone/>
            </a:pPr>
            <a:r>
              <a:rPr lang="en-US" sz="1400" b="1" dirty="0">
                <a:solidFill>
                  <a:srgbClr val="CC5500"/>
                </a:solidFill>
                <a:latin typeface="Calibri" pitchFamily="34" charset="0"/>
                <a:ea typeface="Calibri" pitchFamily="34" charset="-122"/>
                <a:cs typeface="Calibri" pitchFamily="34" charset="-120"/>
              </a:rPr>
              <a:t>🔠  Spelling &amp; Word Form</a:t>
            </a:r>
            <a:endParaRPr lang="en-US" sz="1400" dirty="0"/>
          </a:p>
        </p:txBody>
      </p:sp>
      <p:sp>
        <p:nvSpPr>
          <p:cNvPr id="17" name="Shape 15"/>
          <p:cNvSpPr/>
          <p:nvPr/>
        </p:nvSpPr>
        <p:spPr>
          <a:xfrm>
            <a:off x="3474720" y="1691640"/>
            <a:ext cx="2377440" cy="0"/>
          </a:xfrm>
          <a:prstGeom prst="line">
            <a:avLst/>
          </a:prstGeom>
          <a:noFill/>
          <a:ln w="12700">
            <a:solidFill>
              <a:srgbClr val="CC5500"/>
            </a:solidFill>
            <a:prstDash val="dash"/>
          </a:ln>
        </p:spPr>
        <p:txBody>
          <a:bodyPr/>
          <a:lstStyle/>
          <a:p>
            <a:endParaRPr lang="en-US"/>
          </a:p>
        </p:txBody>
      </p:sp>
      <p:sp>
        <p:nvSpPr>
          <p:cNvPr id="18" name="Text 16"/>
          <p:cNvSpPr/>
          <p:nvPr/>
        </p:nvSpPr>
        <p:spPr>
          <a:xfrm>
            <a:off x="3429000" y="1755648"/>
            <a:ext cx="640080" cy="320040"/>
          </a:xfrm>
          <a:prstGeom prst="rect">
            <a:avLst/>
          </a:prstGeom>
          <a:noFill/>
          <a:ln/>
        </p:spPr>
        <p:txBody>
          <a:bodyPr wrap="square" rtlCol="0" anchor="ctr"/>
          <a:lstStyle/>
          <a:p>
            <a:pPr marL="0" indent="0">
              <a:buNone/>
            </a:pPr>
            <a:r>
              <a:rPr lang="en-US" sz="1100" b="1" dirty="0">
                <a:solidFill>
                  <a:srgbClr val="D93025"/>
                </a:solidFill>
                <a:latin typeface="Calibri" pitchFamily="34" charset="0"/>
                <a:ea typeface="Calibri" pitchFamily="34" charset="-122"/>
                <a:cs typeface="Calibri" pitchFamily="34" charset="-120"/>
              </a:rPr>
              <a:t>FORM</a:t>
            </a:r>
            <a:endParaRPr lang="en-US" sz="1100" dirty="0"/>
          </a:p>
        </p:txBody>
      </p:sp>
      <p:sp>
        <p:nvSpPr>
          <p:cNvPr id="19" name="Text 17"/>
          <p:cNvSpPr/>
          <p:nvPr/>
        </p:nvSpPr>
        <p:spPr>
          <a:xfrm>
            <a:off x="3429000" y="2057400"/>
            <a:ext cx="2468880" cy="960120"/>
          </a:xfrm>
          <a:prstGeom prst="rect">
            <a:avLst/>
          </a:prstGeom>
          <a:noFill/>
          <a:ln/>
        </p:spPr>
        <p:txBody>
          <a:bodyPr wrap="square" rtlCol="0" anchor="ctr"/>
          <a:lstStyle/>
          <a:p>
            <a:pPr marL="0" indent="0">
              <a:buNone/>
            </a:pPr>
            <a:r>
              <a:rPr lang="en-US" sz="1250" dirty="0">
                <a:solidFill>
                  <a:srgbClr val="1A1A1A"/>
                </a:solidFill>
                <a:latin typeface="Calibri" pitchFamily="34" charset="0"/>
                <a:ea typeface="Calibri" pitchFamily="34" charset="-122"/>
                <a:cs typeface="Calibri" pitchFamily="34" charset="-120"/>
              </a:rPr>
              <a:t>Correct spelling.</a:t>
            </a:r>
            <a:endParaRPr lang="en-US" sz="1250" dirty="0"/>
          </a:p>
          <a:p>
            <a:pPr marL="0" indent="0">
              <a:buNone/>
            </a:pPr>
            <a:r>
              <a:rPr lang="en-US" sz="1250" dirty="0">
                <a:solidFill>
                  <a:srgbClr val="1A1A1A"/>
                </a:solidFill>
                <a:latin typeface="Calibri" pitchFamily="34" charset="0"/>
                <a:ea typeface="Calibri" pitchFamily="34" charset="-122"/>
                <a:cs typeface="Calibri" pitchFamily="34" charset="-120"/>
              </a:rPr>
              <a:t>Correct verb/noun ending</a:t>
            </a:r>
            <a:endParaRPr lang="en-US" sz="1250" dirty="0"/>
          </a:p>
          <a:p>
            <a:pPr marL="0" indent="0">
              <a:buNone/>
            </a:pPr>
            <a:r>
              <a:rPr lang="en-US" sz="1250" dirty="0">
                <a:solidFill>
                  <a:srgbClr val="1A1A1A"/>
                </a:solidFill>
                <a:latin typeface="Calibri" pitchFamily="34" charset="0"/>
                <a:ea typeface="Calibri" pitchFamily="34" charset="-122"/>
                <a:cs typeface="Calibri" pitchFamily="34" charset="-120"/>
              </a:rPr>
              <a:t>(-s, -ed, -ing, -er).</a:t>
            </a:r>
            <a:endParaRPr lang="en-US" sz="1250" dirty="0"/>
          </a:p>
        </p:txBody>
      </p:sp>
      <p:sp>
        <p:nvSpPr>
          <p:cNvPr id="20" name="Shape 18"/>
          <p:cNvSpPr/>
          <p:nvPr/>
        </p:nvSpPr>
        <p:spPr>
          <a:xfrm>
            <a:off x="3474720" y="3063240"/>
            <a:ext cx="2377440" cy="0"/>
          </a:xfrm>
          <a:prstGeom prst="line">
            <a:avLst/>
          </a:prstGeom>
          <a:noFill/>
          <a:ln w="12700">
            <a:solidFill>
              <a:srgbClr val="CC5500"/>
            </a:solidFill>
            <a:prstDash val="sysDot"/>
          </a:ln>
        </p:spPr>
        <p:txBody>
          <a:bodyPr/>
          <a:lstStyle/>
          <a:p>
            <a:endParaRPr lang="en-US"/>
          </a:p>
        </p:txBody>
      </p:sp>
      <p:sp>
        <p:nvSpPr>
          <p:cNvPr id="21" name="Text 19"/>
          <p:cNvSpPr/>
          <p:nvPr/>
        </p:nvSpPr>
        <p:spPr>
          <a:xfrm>
            <a:off x="3429000" y="3108960"/>
            <a:ext cx="1005840" cy="320040"/>
          </a:xfrm>
          <a:prstGeom prst="rect">
            <a:avLst/>
          </a:prstGeom>
          <a:noFill/>
          <a:ln/>
        </p:spPr>
        <p:txBody>
          <a:bodyPr wrap="square" rtlCol="0" anchor="ctr"/>
          <a:lstStyle/>
          <a:p>
            <a:pPr marL="0" indent="0">
              <a:buNone/>
            </a:pPr>
            <a:r>
              <a:rPr lang="en-US" sz="1100" b="1" dirty="0">
                <a:solidFill>
                  <a:srgbClr val="1A5EA8"/>
                </a:solidFill>
                <a:latin typeface="Calibri" pitchFamily="34" charset="0"/>
                <a:ea typeface="Calibri" pitchFamily="34" charset="-122"/>
                <a:cs typeface="Calibri" pitchFamily="34" charset="-120"/>
              </a:rPr>
              <a:t>MEANING</a:t>
            </a:r>
            <a:endParaRPr lang="en-US" sz="1100" dirty="0"/>
          </a:p>
        </p:txBody>
      </p:sp>
      <p:sp>
        <p:nvSpPr>
          <p:cNvPr id="22" name="Text 20"/>
          <p:cNvSpPr/>
          <p:nvPr/>
        </p:nvSpPr>
        <p:spPr>
          <a:xfrm>
            <a:off x="3429000" y="3456432"/>
            <a:ext cx="2468880" cy="1280160"/>
          </a:xfrm>
          <a:prstGeom prst="rect">
            <a:avLst/>
          </a:prstGeom>
          <a:noFill/>
          <a:ln/>
        </p:spPr>
        <p:txBody>
          <a:bodyPr wrap="square" rtlCol="0" anchor="ctr"/>
          <a:lstStyle/>
          <a:p>
            <a:pPr marL="0" indent="0">
              <a:buNone/>
            </a:pPr>
            <a:r>
              <a:rPr lang="en-US" sz="1250" dirty="0">
                <a:solidFill>
                  <a:srgbClr val="1A1A1A"/>
                </a:solidFill>
                <a:latin typeface="Calibri" pitchFamily="34" charset="0"/>
                <a:ea typeface="Calibri" pitchFamily="34" charset="-122"/>
                <a:cs typeface="Calibri" pitchFamily="34" charset="-120"/>
              </a:rPr>
              <a:t>Wrong spelling = wrong word.</a:t>
            </a:r>
            <a:endParaRPr lang="en-US" sz="1250" dirty="0"/>
          </a:p>
          <a:p>
            <a:pPr marL="0" indent="0">
              <a:buNone/>
            </a:pPr>
            <a:r>
              <a:rPr lang="en-US" sz="1250" dirty="0">
                <a:solidFill>
                  <a:srgbClr val="1A1A1A"/>
                </a:solidFill>
                <a:latin typeface="Calibri" pitchFamily="34" charset="0"/>
                <a:ea typeface="Calibri" pitchFamily="34" charset="-122"/>
                <a:cs typeface="Calibri" pitchFamily="34" charset="-120"/>
              </a:rPr>
              <a:t>-s on a verb = one subject.</a:t>
            </a:r>
            <a:endParaRPr lang="en-US" sz="1250" dirty="0"/>
          </a:p>
          <a:p>
            <a:pPr marL="0" indent="0">
              <a:buNone/>
            </a:pPr>
            <a:r>
              <a:rPr lang="en-US" sz="1250" dirty="0">
                <a:solidFill>
                  <a:srgbClr val="1A1A1A"/>
                </a:solidFill>
                <a:latin typeface="Calibri" pitchFamily="34" charset="0"/>
                <a:ea typeface="Calibri" pitchFamily="34" charset="-122"/>
                <a:cs typeface="Calibri" pitchFamily="34" charset="-120"/>
              </a:rPr>
              <a:t>-ed = action is finished.</a:t>
            </a:r>
            <a:endParaRPr lang="en-US" sz="1250" dirty="0"/>
          </a:p>
        </p:txBody>
      </p:sp>
      <p:sp>
        <p:nvSpPr>
          <p:cNvPr id="23" name="Shape 21"/>
          <p:cNvSpPr/>
          <p:nvPr/>
        </p:nvSpPr>
        <p:spPr>
          <a:xfrm>
            <a:off x="6172200" y="919521"/>
            <a:ext cx="2743200" cy="3520440"/>
          </a:xfrm>
          <a:prstGeom prst="roundRect">
            <a:avLst>
              <a:gd name="adj" fmla="val 2667"/>
            </a:avLst>
          </a:prstGeom>
          <a:solidFill>
            <a:srgbClr val="FFFFFF"/>
          </a:solidFill>
          <a:ln w="25400">
            <a:solidFill>
              <a:srgbClr val="1A5EA8"/>
            </a:solidFill>
            <a:prstDash val="solid"/>
          </a:ln>
        </p:spPr>
        <p:txBody>
          <a:bodyPr/>
          <a:lstStyle/>
          <a:p>
            <a:endParaRPr lang="en-US"/>
          </a:p>
        </p:txBody>
      </p:sp>
      <p:sp>
        <p:nvSpPr>
          <p:cNvPr id="24" name="Shape 22"/>
          <p:cNvSpPr/>
          <p:nvPr/>
        </p:nvSpPr>
        <p:spPr>
          <a:xfrm>
            <a:off x="7315200" y="777240"/>
            <a:ext cx="548640" cy="548640"/>
          </a:xfrm>
          <a:prstGeom prst="ellipse">
            <a:avLst/>
          </a:prstGeom>
          <a:solidFill>
            <a:srgbClr val="1A5EA8"/>
          </a:solidFill>
          <a:ln w="12700">
            <a:solidFill>
              <a:srgbClr val="1A5EA8"/>
            </a:solidFill>
            <a:prstDash val="solid"/>
          </a:ln>
        </p:spPr>
        <p:txBody>
          <a:bodyPr/>
          <a:lstStyle/>
          <a:p>
            <a:endParaRPr lang="en-US"/>
          </a:p>
        </p:txBody>
      </p:sp>
      <p:sp>
        <p:nvSpPr>
          <p:cNvPr id="25" name="Text 23"/>
          <p:cNvSpPr/>
          <p:nvPr/>
        </p:nvSpPr>
        <p:spPr>
          <a:xfrm>
            <a:off x="7315200" y="777240"/>
            <a:ext cx="548640" cy="5486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6" name="Text 24"/>
          <p:cNvSpPr/>
          <p:nvPr/>
        </p:nvSpPr>
        <p:spPr>
          <a:xfrm>
            <a:off x="6302959" y="1120527"/>
            <a:ext cx="2560320" cy="640080"/>
          </a:xfrm>
          <a:prstGeom prst="rect">
            <a:avLst/>
          </a:prstGeom>
          <a:noFill/>
          <a:ln/>
        </p:spPr>
        <p:txBody>
          <a:bodyPr wrap="square" rtlCol="0" anchor="ctr"/>
          <a:lstStyle/>
          <a:p>
            <a:pPr marL="0" indent="0" algn="ctr">
              <a:buNone/>
            </a:pPr>
            <a:r>
              <a:rPr lang="en-US" sz="1400" b="1" dirty="0">
                <a:solidFill>
                  <a:srgbClr val="1A5EA8"/>
                </a:solidFill>
                <a:latin typeface="Calibri" pitchFamily="34" charset="0"/>
                <a:ea typeface="Calibri" pitchFamily="34" charset="-122"/>
                <a:cs typeface="Calibri" pitchFamily="34" charset="-120"/>
              </a:rPr>
              <a:t>🔄  Grammar &amp; Agreement</a:t>
            </a:r>
            <a:endParaRPr lang="en-US" sz="1400" dirty="0"/>
          </a:p>
        </p:txBody>
      </p:sp>
      <p:sp>
        <p:nvSpPr>
          <p:cNvPr id="27" name="Shape 25"/>
          <p:cNvSpPr/>
          <p:nvPr/>
        </p:nvSpPr>
        <p:spPr>
          <a:xfrm>
            <a:off x="6400800" y="1691640"/>
            <a:ext cx="2377440" cy="0"/>
          </a:xfrm>
          <a:prstGeom prst="line">
            <a:avLst/>
          </a:prstGeom>
          <a:noFill/>
          <a:ln w="12700">
            <a:solidFill>
              <a:srgbClr val="1A5EA8"/>
            </a:solidFill>
            <a:prstDash val="dash"/>
          </a:ln>
        </p:spPr>
        <p:txBody>
          <a:bodyPr/>
          <a:lstStyle/>
          <a:p>
            <a:endParaRPr lang="en-US"/>
          </a:p>
        </p:txBody>
      </p:sp>
      <p:sp>
        <p:nvSpPr>
          <p:cNvPr id="28" name="Text 26"/>
          <p:cNvSpPr/>
          <p:nvPr/>
        </p:nvSpPr>
        <p:spPr>
          <a:xfrm>
            <a:off x="6355080" y="1755648"/>
            <a:ext cx="640080" cy="320040"/>
          </a:xfrm>
          <a:prstGeom prst="rect">
            <a:avLst/>
          </a:prstGeom>
          <a:noFill/>
          <a:ln/>
        </p:spPr>
        <p:txBody>
          <a:bodyPr wrap="square" rtlCol="0" anchor="ctr"/>
          <a:lstStyle/>
          <a:p>
            <a:pPr marL="0" indent="0">
              <a:buNone/>
            </a:pPr>
            <a:r>
              <a:rPr lang="en-US" sz="1100" b="1" dirty="0">
                <a:solidFill>
                  <a:srgbClr val="D93025"/>
                </a:solidFill>
                <a:latin typeface="Calibri" pitchFamily="34" charset="0"/>
                <a:ea typeface="Calibri" pitchFamily="34" charset="-122"/>
                <a:cs typeface="Calibri" pitchFamily="34" charset="-120"/>
              </a:rPr>
              <a:t>FORM</a:t>
            </a:r>
            <a:endParaRPr lang="en-US" sz="1100" dirty="0"/>
          </a:p>
        </p:txBody>
      </p:sp>
      <p:sp>
        <p:nvSpPr>
          <p:cNvPr id="29" name="Text 27"/>
          <p:cNvSpPr/>
          <p:nvPr/>
        </p:nvSpPr>
        <p:spPr>
          <a:xfrm>
            <a:off x="6355080" y="2057400"/>
            <a:ext cx="2468880" cy="960120"/>
          </a:xfrm>
          <a:prstGeom prst="rect">
            <a:avLst/>
          </a:prstGeom>
          <a:noFill/>
          <a:ln/>
        </p:spPr>
        <p:txBody>
          <a:bodyPr wrap="square" rtlCol="0" anchor="ctr"/>
          <a:lstStyle/>
          <a:p>
            <a:pPr marL="0" indent="0">
              <a:buNone/>
            </a:pPr>
            <a:r>
              <a:rPr lang="en-US" sz="1250" dirty="0">
                <a:solidFill>
                  <a:srgbClr val="1A1A1A"/>
                </a:solidFill>
                <a:latin typeface="Calibri" pitchFamily="34" charset="0"/>
                <a:ea typeface="Calibri" pitchFamily="34" charset="-122"/>
                <a:cs typeface="Calibri" pitchFamily="34" charset="-120"/>
              </a:rPr>
              <a:t>Subject matches verb.</a:t>
            </a:r>
            <a:endParaRPr lang="en-US" sz="1250" dirty="0"/>
          </a:p>
          <a:p>
            <a:pPr marL="0" indent="0">
              <a:buNone/>
            </a:pPr>
            <a:r>
              <a:rPr lang="en-US" sz="1250" dirty="0">
                <a:solidFill>
                  <a:srgbClr val="1A1A1A"/>
                </a:solidFill>
                <a:latin typeface="Calibri" pitchFamily="34" charset="0"/>
                <a:ea typeface="Calibri" pitchFamily="34" charset="-122"/>
                <a:cs typeface="Calibri" pitchFamily="34" charset="-120"/>
              </a:rPr>
              <a:t>Pronoun matches noun.</a:t>
            </a:r>
            <a:endParaRPr lang="en-US" sz="1250" dirty="0"/>
          </a:p>
          <a:p>
            <a:pPr marL="0" indent="0">
              <a:buNone/>
            </a:pPr>
            <a:r>
              <a:rPr lang="en-US" sz="1250" dirty="0">
                <a:solidFill>
                  <a:srgbClr val="1A1A1A"/>
                </a:solidFill>
                <a:latin typeface="Calibri" pitchFamily="34" charset="0"/>
                <a:ea typeface="Calibri" pitchFamily="34" charset="-122"/>
                <a:cs typeface="Calibri" pitchFamily="34" charset="-120"/>
              </a:rPr>
              <a:t>Tense is consistent.</a:t>
            </a:r>
            <a:endParaRPr lang="en-US" sz="1250" dirty="0"/>
          </a:p>
        </p:txBody>
      </p:sp>
      <p:sp>
        <p:nvSpPr>
          <p:cNvPr id="30" name="Shape 28"/>
          <p:cNvSpPr/>
          <p:nvPr/>
        </p:nvSpPr>
        <p:spPr>
          <a:xfrm>
            <a:off x="6400800" y="3063240"/>
            <a:ext cx="2377440" cy="0"/>
          </a:xfrm>
          <a:prstGeom prst="line">
            <a:avLst/>
          </a:prstGeom>
          <a:noFill/>
          <a:ln w="12700">
            <a:solidFill>
              <a:srgbClr val="1A5EA8"/>
            </a:solidFill>
            <a:prstDash val="sysDot"/>
          </a:ln>
        </p:spPr>
        <p:txBody>
          <a:bodyPr/>
          <a:lstStyle/>
          <a:p>
            <a:endParaRPr lang="en-US"/>
          </a:p>
        </p:txBody>
      </p:sp>
      <p:sp>
        <p:nvSpPr>
          <p:cNvPr id="31" name="Text 29"/>
          <p:cNvSpPr/>
          <p:nvPr/>
        </p:nvSpPr>
        <p:spPr>
          <a:xfrm>
            <a:off x="6355080" y="3108960"/>
            <a:ext cx="1005840" cy="320040"/>
          </a:xfrm>
          <a:prstGeom prst="rect">
            <a:avLst/>
          </a:prstGeom>
          <a:noFill/>
          <a:ln/>
        </p:spPr>
        <p:txBody>
          <a:bodyPr wrap="square" rtlCol="0" anchor="ctr"/>
          <a:lstStyle/>
          <a:p>
            <a:pPr marL="0" indent="0">
              <a:buNone/>
            </a:pPr>
            <a:r>
              <a:rPr lang="en-US" sz="1100" b="1" dirty="0">
                <a:solidFill>
                  <a:srgbClr val="1A5EA8"/>
                </a:solidFill>
                <a:latin typeface="Calibri" pitchFamily="34" charset="0"/>
                <a:ea typeface="Calibri" pitchFamily="34" charset="-122"/>
                <a:cs typeface="Calibri" pitchFamily="34" charset="-120"/>
              </a:rPr>
              <a:t>MEANING</a:t>
            </a:r>
            <a:endParaRPr lang="en-US" sz="1100" dirty="0"/>
          </a:p>
        </p:txBody>
      </p:sp>
      <p:sp>
        <p:nvSpPr>
          <p:cNvPr id="32" name="Text 30"/>
          <p:cNvSpPr/>
          <p:nvPr/>
        </p:nvSpPr>
        <p:spPr>
          <a:xfrm>
            <a:off x="6355080" y="3456432"/>
            <a:ext cx="2468880" cy="1280160"/>
          </a:xfrm>
          <a:prstGeom prst="rect">
            <a:avLst/>
          </a:prstGeom>
          <a:noFill/>
          <a:ln/>
        </p:spPr>
        <p:txBody>
          <a:bodyPr wrap="square" rtlCol="0" anchor="ctr"/>
          <a:lstStyle/>
          <a:p>
            <a:pPr marL="0" indent="0">
              <a:buNone/>
            </a:pPr>
            <a:r>
              <a:rPr lang="en-US" sz="1250" dirty="0">
                <a:solidFill>
                  <a:srgbClr val="1A1A1A"/>
                </a:solidFill>
                <a:latin typeface="Calibri" pitchFamily="34" charset="0"/>
                <a:ea typeface="Calibri" pitchFamily="34" charset="-122"/>
                <a:cs typeface="Calibri" pitchFamily="34" charset="-120"/>
              </a:rPr>
              <a:t>Agreement shows WHO acts.</a:t>
            </a:r>
            <a:endParaRPr lang="en-US" sz="1250" dirty="0"/>
          </a:p>
          <a:p>
            <a:pPr marL="0" indent="0">
              <a:buNone/>
            </a:pPr>
            <a:r>
              <a:rPr lang="en-US" sz="1250" dirty="0">
                <a:solidFill>
                  <a:srgbClr val="1A1A1A"/>
                </a:solidFill>
                <a:latin typeface="Calibri" pitchFamily="34" charset="0"/>
                <a:ea typeface="Calibri" pitchFamily="34" charset="-122"/>
                <a:cs typeface="Calibri" pitchFamily="34" charset="-120"/>
              </a:rPr>
              <a:t>Pronoun choice shows identity.</a:t>
            </a:r>
            <a:endParaRPr lang="en-US" sz="1250" dirty="0"/>
          </a:p>
          <a:p>
            <a:pPr marL="0" indent="0">
              <a:buNone/>
            </a:pPr>
            <a:r>
              <a:rPr lang="en-US" sz="1250" dirty="0">
                <a:solidFill>
                  <a:srgbClr val="1A1A1A"/>
                </a:solidFill>
                <a:latin typeface="Calibri" pitchFamily="34" charset="0"/>
                <a:ea typeface="Calibri" pitchFamily="34" charset="-122"/>
                <a:cs typeface="Calibri" pitchFamily="34" charset="-120"/>
              </a:rPr>
              <a:t>Tense anchors events in time.</a:t>
            </a:r>
            <a:endParaRPr lang="en-US" sz="1250" dirty="0"/>
          </a:p>
        </p:txBody>
      </p:sp>
      <p:sp>
        <p:nvSpPr>
          <p:cNvPr id="33" name="Shape 31"/>
          <p:cNvSpPr/>
          <p:nvPr/>
        </p:nvSpPr>
        <p:spPr>
          <a:xfrm>
            <a:off x="8579815" y="4443618"/>
            <a:ext cx="396850" cy="396850"/>
          </a:xfrm>
          <a:prstGeom prst="roundRect">
            <a:avLst>
              <a:gd name="adj" fmla="val 80645"/>
            </a:avLst>
          </a:prstGeom>
          <a:solidFill>
            <a:srgbClr val="1A1A1A"/>
          </a:solidFill>
          <a:ln w="12700">
            <a:solidFill>
              <a:srgbClr val="1A1A1A"/>
            </a:solidFill>
            <a:prstDash val="solid"/>
          </a:ln>
        </p:spPr>
        <p:txBody>
          <a:bodyPr/>
          <a:lstStyle/>
          <a:p>
            <a:endParaRPr lang="en-US"/>
          </a:p>
        </p:txBody>
      </p:sp>
      <p:sp>
        <p:nvSpPr>
          <p:cNvPr id="34" name="Shape 32"/>
          <p:cNvSpPr/>
          <p:nvPr/>
        </p:nvSpPr>
        <p:spPr>
          <a:xfrm>
            <a:off x="8670524" y="4511650"/>
            <a:ext cx="56693" cy="56693"/>
          </a:xfrm>
          <a:prstGeom prst="ellipse">
            <a:avLst/>
          </a:prstGeom>
          <a:solidFill>
            <a:srgbClr val="FFFFFF"/>
          </a:solidFill>
          <a:ln w="12700">
            <a:solidFill>
              <a:srgbClr val="FFFFFF"/>
            </a:solidFill>
            <a:prstDash val="solid"/>
          </a:ln>
        </p:spPr>
        <p:txBody>
          <a:bodyPr/>
          <a:lstStyle/>
          <a:p>
            <a:endParaRPr lang="en-US"/>
          </a:p>
        </p:txBody>
      </p:sp>
      <p:sp>
        <p:nvSpPr>
          <p:cNvPr id="35" name="Shape 33"/>
          <p:cNvSpPr/>
          <p:nvPr/>
        </p:nvSpPr>
        <p:spPr>
          <a:xfrm>
            <a:off x="8823594" y="4511650"/>
            <a:ext cx="56693" cy="56693"/>
          </a:xfrm>
          <a:prstGeom prst="ellipse">
            <a:avLst/>
          </a:prstGeom>
          <a:solidFill>
            <a:srgbClr val="FFFFFF"/>
          </a:solidFill>
          <a:ln w="12700">
            <a:solidFill>
              <a:srgbClr val="FFFFFF"/>
            </a:solidFill>
            <a:prstDash val="solid"/>
          </a:ln>
        </p:spPr>
        <p:txBody>
          <a:bodyPr/>
          <a:lstStyle/>
          <a:p>
            <a:endParaRPr lang="en-US"/>
          </a:p>
        </p:txBody>
      </p:sp>
      <p:sp>
        <p:nvSpPr>
          <p:cNvPr id="36" name="Shape 34"/>
          <p:cNvSpPr/>
          <p:nvPr/>
        </p:nvSpPr>
        <p:spPr>
          <a:xfrm>
            <a:off x="8676193" y="4840468"/>
            <a:ext cx="34016" cy="170078"/>
          </a:xfrm>
          <a:prstGeom prst="line">
            <a:avLst/>
          </a:prstGeom>
          <a:noFill/>
          <a:ln w="31750">
            <a:solidFill>
              <a:srgbClr val="1A1A1A"/>
            </a:solidFill>
            <a:prstDash val="solid"/>
          </a:ln>
        </p:spPr>
        <p:txBody>
          <a:bodyPr/>
          <a:lstStyle/>
          <a:p>
            <a:endParaRPr lang="en-US"/>
          </a:p>
        </p:txBody>
      </p:sp>
      <p:sp>
        <p:nvSpPr>
          <p:cNvPr id="37" name="Shape 35"/>
          <p:cNvSpPr/>
          <p:nvPr/>
        </p:nvSpPr>
        <p:spPr>
          <a:xfrm>
            <a:off x="8846271" y="4840468"/>
            <a:ext cx="34016" cy="170078"/>
          </a:xfrm>
          <a:prstGeom prst="line">
            <a:avLst/>
          </a:prstGeom>
          <a:noFill/>
          <a:ln w="31750">
            <a:solidFill>
              <a:srgbClr val="1A1A1A"/>
            </a:solidFill>
            <a:prstDash val="solid"/>
          </a:ln>
        </p:spPr>
        <p:txBody>
          <a:bodyPr/>
          <a:lstStyle/>
          <a:p>
            <a:endParaRPr lang="en-US"/>
          </a:p>
        </p:txBody>
      </p:sp>
      <p:sp>
        <p:nvSpPr>
          <p:cNvPr id="38" name="Text 36"/>
          <p:cNvSpPr/>
          <p:nvPr/>
        </p:nvSpPr>
        <p:spPr>
          <a:xfrm>
            <a:off x="7498080" y="4572000"/>
            <a:ext cx="1828800" cy="329184"/>
          </a:xfrm>
          <a:prstGeom prst="rect">
            <a:avLst/>
          </a:prstGeom>
          <a:noFill/>
          <a:ln/>
        </p:spPr>
        <p:txBody>
          <a:bodyPr wrap="square" rtlCol="0" anchor="ctr"/>
          <a:lstStyle/>
          <a:p>
            <a:pPr marL="0" indent="0" algn="l">
              <a:buNone/>
            </a:pPr>
            <a:r>
              <a:rPr lang="en-US" sz="1050" b="1" i="1" dirty="0">
                <a:solidFill>
                  <a:srgbClr val="CC5500"/>
                </a:solidFill>
                <a:latin typeface="Cambria" pitchFamily="34" charset="0"/>
                <a:ea typeface="Cambria" pitchFamily="34" charset="-122"/>
                <a:cs typeface="Cambria" pitchFamily="34" charset="-120"/>
              </a:rPr>
              <a:t>Use all 3 every time!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37160"/>
            <a:ext cx="7772400" cy="640080"/>
          </a:xfrm>
          <a:prstGeom prst="rect">
            <a:avLst/>
          </a:prstGeom>
          <a:noFill/>
          <a:ln/>
        </p:spPr>
        <p:txBody>
          <a:bodyPr wrap="square" rtlCol="0" anchor="ctr"/>
          <a:lstStyle/>
          <a:p>
            <a:pPr marL="0" indent="0">
              <a:buNone/>
            </a:pPr>
            <a:r>
              <a:rPr lang="en-US" sz="3600" b="1" dirty="0">
                <a:solidFill>
                  <a:srgbClr val="1A1A1A"/>
                </a:solidFill>
                <a:latin typeface="Cambria" pitchFamily="34" charset="0"/>
                <a:ea typeface="Cambria" pitchFamily="34" charset="-122"/>
                <a:cs typeface="Cambria" pitchFamily="34" charset="-120"/>
              </a:rPr>
              <a:t>Form &amp; Meaning Traps</a:t>
            </a:r>
            <a:endParaRPr lang="en-US" sz="3600" dirty="0"/>
          </a:p>
        </p:txBody>
      </p:sp>
      <p:sp>
        <p:nvSpPr>
          <p:cNvPr id="3" name="Shape 1"/>
          <p:cNvSpPr/>
          <p:nvPr/>
        </p:nvSpPr>
        <p:spPr>
          <a:xfrm>
            <a:off x="457200" y="868680"/>
            <a:ext cx="1828800" cy="402336"/>
          </a:xfrm>
          <a:prstGeom prst="roundRect">
            <a:avLst>
              <a:gd name="adj" fmla="val 11364"/>
            </a:avLst>
          </a:prstGeom>
          <a:solidFill>
            <a:srgbClr val="1A1A1A"/>
          </a:solidFill>
          <a:ln w="12700">
            <a:solidFill>
              <a:srgbClr val="1A1A1A"/>
            </a:solidFill>
            <a:prstDash val="solid"/>
          </a:ln>
        </p:spPr>
        <p:txBody>
          <a:bodyPr/>
          <a:lstStyle/>
          <a:p>
            <a:endParaRPr lang="en-US"/>
          </a:p>
        </p:txBody>
      </p:sp>
      <p:sp>
        <p:nvSpPr>
          <p:cNvPr id="4" name="Text 2"/>
          <p:cNvSpPr/>
          <p:nvPr/>
        </p:nvSpPr>
        <p:spPr>
          <a:xfrm>
            <a:off x="457200" y="868680"/>
            <a:ext cx="1828800"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Error</a:t>
            </a:r>
            <a:endParaRPr lang="en-US" sz="1300" dirty="0"/>
          </a:p>
        </p:txBody>
      </p:sp>
      <p:sp>
        <p:nvSpPr>
          <p:cNvPr id="5" name="Shape 3"/>
          <p:cNvSpPr/>
          <p:nvPr/>
        </p:nvSpPr>
        <p:spPr>
          <a:xfrm>
            <a:off x="2331720" y="868680"/>
            <a:ext cx="1737360" cy="402336"/>
          </a:xfrm>
          <a:prstGeom prst="roundRect">
            <a:avLst>
              <a:gd name="adj" fmla="val 11364"/>
            </a:avLst>
          </a:prstGeom>
          <a:solidFill>
            <a:srgbClr val="1A1A1A"/>
          </a:solidFill>
          <a:ln w="12700">
            <a:solidFill>
              <a:srgbClr val="1A1A1A"/>
            </a:solidFill>
            <a:prstDash val="solid"/>
          </a:ln>
        </p:spPr>
        <p:txBody>
          <a:bodyPr/>
          <a:lstStyle/>
          <a:p>
            <a:endParaRPr lang="en-US"/>
          </a:p>
        </p:txBody>
      </p:sp>
      <p:sp>
        <p:nvSpPr>
          <p:cNvPr id="6" name="Text 4"/>
          <p:cNvSpPr/>
          <p:nvPr/>
        </p:nvSpPr>
        <p:spPr>
          <a:xfrm>
            <a:off x="2331720" y="868680"/>
            <a:ext cx="1737360"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Form Fix</a:t>
            </a:r>
            <a:endParaRPr lang="en-US" sz="1300" dirty="0"/>
          </a:p>
        </p:txBody>
      </p:sp>
      <p:sp>
        <p:nvSpPr>
          <p:cNvPr id="7" name="Shape 5"/>
          <p:cNvSpPr/>
          <p:nvPr/>
        </p:nvSpPr>
        <p:spPr>
          <a:xfrm>
            <a:off x="4160520" y="868680"/>
            <a:ext cx="1783080" cy="402336"/>
          </a:xfrm>
          <a:prstGeom prst="roundRect">
            <a:avLst>
              <a:gd name="adj" fmla="val 11364"/>
            </a:avLst>
          </a:prstGeom>
          <a:solidFill>
            <a:srgbClr val="1A1A1A"/>
          </a:solidFill>
          <a:ln w="12700">
            <a:solidFill>
              <a:srgbClr val="1A1A1A"/>
            </a:solidFill>
            <a:prstDash val="solid"/>
          </a:ln>
        </p:spPr>
        <p:txBody>
          <a:bodyPr/>
          <a:lstStyle/>
          <a:p>
            <a:endParaRPr lang="en-US"/>
          </a:p>
        </p:txBody>
      </p:sp>
      <p:sp>
        <p:nvSpPr>
          <p:cNvPr id="8" name="Text 6"/>
          <p:cNvSpPr/>
          <p:nvPr/>
        </p:nvSpPr>
        <p:spPr>
          <a:xfrm>
            <a:off x="4160520" y="868680"/>
            <a:ext cx="1783080"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Meaning Signal</a:t>
            </a:r>
            <a:endParaRPr lang="en-US" sz="1300" dirty="0"/>
          </a:p>
        </p:txBody>
      </p:sp>
      <p:sp>
        <p:nvSpPr>
          <p:cNvPr id="9" name="Shape 7"/>
          <p:cNvSpPr/>
          <p:nvPr/>
        </p:nvSpPr>
        <p:spPr>
          <a:xfrm>
            <a:off x="5989320" y="868680"/>
            <a:ext cx="3017520" cy="402336"/>
          </a:xfrm>
          <a:prstGeom prst="roundRect">
            <a:avLst>
              <a:gd name="adj" fmla="val 11364"/>
            </a:avLst>
          </a:prstGeom>
          <a:solidFill>
            <a:srgbClr val="1A1A1A"/>
          </a:solidFill>
          <a:ln w="12700">
            <a:solidFill>
              <a:srgbClr val="1A1A1A"/>
            </a:solidFill>
            <a:prstDash val="solid"/>
          </a:ln>
        </p:spPr>
        <p:txBody>
          <a:bodyPr/>
          <a:lstStyle/>
          <a:p>
            <a:endParaRPr lang="en-US"/>
          </a:p>
        </p:txBody>
      </p:sp>
      <p:sp>
        <p:nvSpPr>
          <p:cNvPr id="10" name="Text 8"/>
          <p:cNvSpPr/>
          <p:nvPr/>
        </p:nvSpPr>
        <p:spPr>
          <a:xfrm>
            <a:off x="5989320" y="868680"/>
            <a:ext cx="3017520"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Why it matters</a:t>
            </a:r>
            <a:endParaRPr lang="en-US" sz="1300" dirty="0"/>
          </a:p>
        </p:txBody>
      </p:sp>
      <p:sp>
        <p:nvSpPr>
          <p:cNvPr id="11" name="Shape 9"/>
          <p:cNvSpPr/>
          <p:nvPr/>
        </p:nvSpPr>
        <p:spPr>
          <a:xfrm>
            <a:off x="457200" y="1371600"/>
            <a:ext cx="1828800" cy="804672"/>
          </a:xfrm>
          <a:prstGeom prst="roundRect">
            <a:avLst>
              <a:gd name="adj" fmla="val 9091"/>
            </a:avLst>
          </a:prstGeom>
          <a:solidFill>
            <a:srgbClr val="FAFAFA"/>
          </a:solidFill>
          <a:ln w="12700">
            <a:solidFill>
              <a:srgbClr val="AAAAAA"/>
            </a:solidFill>
            <a:prstDash val="solid"/>
          </a:ln>
        </p:spPr>
        <p:txBody>
          <a:bodyPr/>
          <a:lstStyle/>
          <a:p>
            <a:endParaRPr lang="en-US"/>
          </a:p>
        </p:txBody>
      </p:sp>
      <p:sp>
        <p:nvSpPr>
          <p:cNvPr id="12" name="Text 10"/>
          <p:cNvSpPr/>
          <p:nvPr/>
        </p:nvSpPr>
        <p:spPr>
          <a:xfrm>
            <a:off x="530352" y="1371600"/>
            <a:ext cx="1719072" cy="804672"/>
          </a:xfrm>
          <a:prstGeom prst="rect">
            <a:avLst/>
          </a:prstGeom>
          <a:noFill/>
          <a:ln/>
        </p:spPr>
        <p:txBody>
          <a:bodyPr wrap="square" rtlCol="0" anchor="ctr"/>
          <a:lstStyle/>
          <a:p>
            <a:pPr marL="0" indent="0">
              <a:buNone/>
            </a:pPr>
            <a:r>
              <a:rPr lang="en-US" sz="1250" b="1" dirty="0">
                <a:solidFill>
                  <a:srgbClr val="D93025"/>
                </a:solidFill>
                <a:latin typeface="Calibri" pitchFamily="34" charset="0"/>
                <a:ea typeface="Calibri" pitchFamily="34" charset="-122"/>
                <a:cs typeface="Calibri" pitchFamily="34" charset="-120"/>
              </a:rPr>
              <a:t>The students</a:t>
            </a:r>
            <a:endParaRPr lang="en-US" sz="1250" dirty="0"/>
          </a:p>
          <a:p>
            <a:pPr marL="0" indent="0">
              <a:buNone/>
            </a:pPr>
            <a:r>
              <a:rPr lang="en-US" sz="1250" b="1" dirty="0">
                <a:solidFill>
                  <a:srgbClr val="D93025"/>
                </a:solidFill>
                <a:latin typeface="Calibri" pitchFamily="34" charset="0"/>
                <a:ea typeface="Calibri" pitchFamily="34" charset="-122"/>
                <a:cs typeface="Calibri" pitchFamily="34" charset="-120"/>
              </a:rPr>
              <a:t>was excited.</a:t>
            </a:r>
            <a:endParaRPr lang="en-US" sz="1250" dirty="0"/>
          </a:p>
        </p:txBody>
      </p:sp>
      <p:sp>
        <p:nvSpPr>
          <p:cNvPr id="13" name="Shape 11"/>
          <p:cNvSpPr/>
          <p:nvPr/>
        </p:nvSpPr>
        <p:spPr>
          <a:xfrm>
            <a:off x="2331720" y="1371600"/>
            <a:ext cx="1737360" cy="804672"/>
          </a:xfrm>
          <a:prstGeom prst="roundRect">
            <a:avLst>
              <a:gd name="adj" fmla="val 9091"/>
            </a:avLst>
          </a:prstGeom>
          <a:solidFill>
            <a:srgbClr val="FAFAFA"/>
          </a:solidFill>
          <a:ln w="12700">
            <a:solidFill>
              <a:srgbClr val="AAAAAA"/>
            </a:solidFill>
            <a:prstDash val="solid"/>
          </a:ln>
        </p:spPr>
        <p:txBody>
          <a:bodyPr/>
          <a:lstStyle/>
          <a:p>
            <a:endParaRPr lang="en-US"/>
          </a:p>
        </p:txBody>
      </p:sp>
      <p:sp>
        <p:nvSpPr>
          <p:cNvPr id="14" name="Text 12"/>
          <p:cNvSpPr/>
          <p:nvPr/>
        </p:nvSpPr>
        <p:spPr>
          <a:xfrm>
            <a:off x="2404872" y="1371600"/>
            <a:ext cx="1627632" cy="804672"/>
          </a:xfrm>
          <a:prstGeom prst="rect">
            <a:avLst/>
          </a:prstGeom>
          <a:noFill/>
          <a:ln/>
        </p:spPr>
        <p:txBody>
          <a:bodyPr wrap="square" rtlCol="0" anchor="ctr"/>
          <a:lstStyle/>
          <a:p>
            <a:pPr marL="0" indent="0">
              <a:buNone/>
            </a:pPr>
            <a:r>
              <a:rPr lang="en-US" sz="1300" b="1" dirty="0">
                <a:solidFill>
                  <a:srgbClr val="1A5EA8"/>
                </a:solidFill>
                <a:latin typeface="Calibri" pitchFamily="34" charset="0"/>
                <a:ea typeface="Calibri" pitchFamily="34" charset="-122"/>
                <a:cs typeface="Calibri" pitchFamily="34" charset="-120"/>
              </a:rPr>
              <a:t>were excited</a:t>
            </a:r>
            <a:endParaRPr lang="en-US" sz="1300" dirty="0"/>
          </a:p>
        </p:txBody>
      </p:sp>
      <p:sp>
        <p:nvSpPr>
          <p:cNvPr id="15" name="Shape 13"/>
          <p:cNvSpPr/>
          <p:nvPr/>
        </p:nvSpPr>
        <p:spPr>
          <a:xfrm>
            <a:off x="4160520" y="1371600"/>
            <a:ext cx="1783080" cy="804672"/>
          </a:xfrm>
          <a:prstGeom prst="roundRect">
            <a:avLst>
              <a:gd name="adj" fmla="val 9091"/>
            </a:avLst>
          </a:prstGeom>
          <a:solidFill>
            <a:srgbClr val="FAFAFA"/>
          </a:solidFill>
          <a:ln w="12700">
            <a:solidFill>
              <a:srgbClr val="AAAAAA"/>
            </a:solidFill>
            <a:prstDash val="solid"/>
          </a:ln>
        </p:spPr>
        <p:txBody>
          <a:bodyPr/>
          <a:lstStyle/>
          <a:p>
            <a:endParaRPr lang="en-US"/>
          </a:p>
        </p:txBody>
      </p:sp>
      <p:sp>
        <p:nvSpPr>
          <p:cNvPr id="16" name="Text 14"/>
          <p:cNvSpPr/>
          <p:nvPr/>
        </p:nvSpPr>
        <p:spPr>
          <a:xfrm>
            <a:off x="4233672" y="1371600"/>
            <a:ext cx="1673352" cy="804672"/>
          </a:xfrm>
          <a:prstGeom prst="rect">
            <a:avLst/>
          </a:prstGeom>
          <a:noFill/>
          <a:ln/>
        </p:spPr>
        <p:txBody>
          <a:bodyPr wrap="square" rtlCol="0" anchor="ctr"/>
          <a:lstStyle/>
          <a:p>
            <a:pPr marL="0" indent="0">
              <a:buNone/>
            </a:pPr>
            <a:r>
              <a:rPr lang="en-US" sz="1200" i="1" dirty="0">
                <a:solidFill>
                  <a:srgbClr val="1A1A1A"/>
                </a:solidFill>
                <a:latin typeface="Calibri" pitchFamily="34" charset="0"/>
                <a:ea typeface="Calibri" pitchFamily="34" charset="-122"/>
                <a:cs typeface="Calibri" pitchFamily="34" charset="-120"/>
              </a:rPr>
              <a:t>Verb shows how many subjects</a:t>
            </a:r>
            <a:endParaRPr lang="en-US" sz="1200" dirty="0"/>
          </a:p>
        </p:txBody>
      </p:sp>
      <p:sp>
        <p:nvSpPr>
          <p:cNvPr id="17" name="Shape 15"/>
          <p:cNvSpPr/>
          <p:nvPr/>
        </p:nvSpPr>
        <p:spPr>
          <a:xfrm>
            <a:off x="5989320" y="1371600"/>
            <a:ext cx="3017520" cy="804672"/>
          </a:xfrm>
          <a:prstGeom prst="roundRect">
            <a:avLst>
              <a:gd name="adj" fmla="val 9091"/>
            </a:avLst>
          </a:prstGeom>
          <a:solidFill>
            <a:srgbClr val="FAFAFA"/>
          </a:solidFill>
          <a:ln w="12700">
            <a:solidFill>
              <a:srgbClr val="AAAAAA"/>
            </a:solidFill>
            <a:prstDash val="solid"/>
          </a:ln>
        </p:spPr>
        <p:txBody>
          <a:bodyPr/>
          <a:lstStyle/>
          <a:p>
            <a:endParaRPr lang="en-US"/>
          </a:p>
        </p:txBody>
      </p:sp>
      <p:sp>
        <p:nvSpPr>
          <p:cNvPr id="18" name="Text 16"/>
          <p:cNvSpPr/>
          <p:nvPr/>
        </p:nvSpPr>
        <p:spPr>
          <a:xfrm>
            <a:off x="6062472" y="1371600"/>
            <a:ext cx="2889504" cy="804672"/>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"Was" signals ONE person. "Were" signals MORE THAN ONE. Wrong verb = wrong number.</a:t>
            </a:r>
            <a:endParaRPr lang="en-US" sz="1150" dirty="0"/>
          </a:p>
        </p:txBody>
      </p:sp>
      <p:sp>
        <p:nvSpPr>
          <p:cNvPr id="19" name="Shape 17"/>
          <p:cNvSpPr/>
          <p:nvPr/>
        </p:nvSpPr>
        <p:spPr>
          <a:xfrm>
            <a:off x="457200" y="2258568"/>
            <a:ext cx="1828800" cy="804672"/>
          </a:xfrm>
          <a:prstGeom prst="roundRect">
            <a:avLst>
              <a:gd name="adj" fmla="val 9091"/>
            </a:avLst>
          </a:prstGeom>
          <a:solidFill>
            <a:srgbClr val="FFFFFF"/>
          </a:solidFill>
          <a:ln w="12700">
            <a:solidFill>
              <a:srgbClr val="AAAAAA"/>
            </a:solidFill>
            <a:prstDash val="solid"/>
          </a:ln>
        </p:spPr>
        <p:txBody>
          <a:bodyPr/>
          <a:lstStyle/>
          <a:p>
            <a:endParaRPr lang="en-US"/>
          </a:p>
        </p:txBody>
      </p:sp>
      <p:sp>
        <p:nvSpPr>
          <p:cNvPr id="20" name="Text 18"/>
          <p:cNvSpPr/>
          <p:nvPr/>
        </p:nvSpPr>
        <p:spPr>
          <a:xfrm>
            <a:off x="530352" y="2258568"/>
            <a:ext cx="1719072" cy="804672"/>
          </a:xfrm>
          <a:prstGeom prst="rect">
            <a:avLst/>
          </a:prstGeom>
          <a:noFill/>
          <a:ln/>
        </p:spPr>
        <p:txBody>
          <a:bodyPr wrap="square" rtlCol="0" anchor="ctr"/>
          <a:lstStyle/>
          <a:p>
            <a:pPr marL="0" indent="0">
              <a:buNone/>
            </a:pPr>
            <a:r>
              <a:rPr lang="en-US" sz="1250" b="1" dirty="0">
                <a:solidFill>
                  <a:srgbClr val="D93025"/>
                </a:solidFill>
                <a:latin typeface="Calibri" pitchFamily="34" charset="0"/>
                <a:ea typeface="Calibri" pitchFamily="34" charset="-122"/>
                <a:cs typeface="Calibri" pitchFamily="34" charset="-120"/>
              </a:rPr>
              <a:t>She finished</a:t>
            </a:r>
            <a:endParaRPr lang="en-US" sz="1250" dirty="0"/>
          </a:p>
          <a:p>
            <a:pPr marL="0" indent="0">
              <a:buNone/>
            </a:pPr>
            <a:r>
              <a:rPr lang="en-US" sz="1250" b="1" dirty="0">
                <a:solidFill>
                  <a:srgbClr val="D93025"/>
                </a:solidFill>
                <a:latin typeface="Calibri" pitchFamily="34" charset="0"/>
                <a:ea typeface="Calibri" pitchFamily="34" charset="-122"/>
                <a:cs typeface="Calibri" pitchFamily="34" charset="-120"/>
              </a:rPr>
              <a:t>her work quick.</a:t>
            </a:r>
            <a:endParaRPr lang="en-US" sz="1250" dirty="0"/>
          </a:p>
        </p:txBody>
      </p:sp>
      <p:sp>
        <p:nvSpPr>
          <p:cNvPr id="21" name="Shape 19"/>
          <p:cNvSpPr/>
          <p:nvPr/>
        </p:nvSpPr>
        <p:spPr>
          <a:xfrm>
            <a:off x="2331720" y="2258568"/>
            <a:ext cx="1737360" cy="804672"/>
          </a:xfrm>
          <a:prstGeom prst="roundRect">
            <a:avLst>
              <a:gd name="adj" fmla="val 9091"/>
            </a:avLst>
          </a:prstGeom>
          <a:solidFill>
            <a:srgbClr val="FFFFFF"/>
          </a:solidFill>
          <a:ln w="12700">
            <a:solidFill>
              <a:srgbClr val="AAAAAA"/>
            </a:solidFill>
            <a:prstDash val="solid"/>
          </a:ln>
        </p:spPr>
        <p:txBody>
          <a:bodyPr/>
          <a:lstStyle/>
          <a:p>
            <a:endParaRPr lang="en-US"/>
          </a:p>
        </p:txBody>
      </p:sp>
      <p:sp>
        <p:nvSpPr>
          <p:cNvPr id="22" name="Text 20"/>
          <p:cNvSpPr/>
          <p:nvPr/>
        </p:nvSpPr>
        <p:spPr>
          <a:xfrm>
            <a:off x="2404872" y="2258568"/>
            <a:ext cx="1627632" cy="804672"/>
          </a:xfrm>
          <a:prstGeom prst="rect">
            <a:avLst/>
          </a:prstGeom>
          <a:noFill/>
          <a:ln/>
        </p:spPr>
        <p:txBody>
          <a:bodyPr wrap="square" rtlCol="0" anchor="ctr"/>
          <a:lstStyle/>
          <a:p>
            <a:pPr marL="0" indent="0">
              <a:buNone/>
            </a:pPr>
            <a:r>
              <a:rPr lang="en-US" sz="1300" b="1" dirty="0">
                <a:solidFill>
                  <a:srgbClr val="1A5EA8"/>
                </a:solidFill>
                <a:latin typeface="Calibri" pitchFamily="34" charset="0"/>
                <a:ea typeface="Calibri" pitchFamily="34" charset="-122"/>
                <a:cs typeface="Calibri" pitchFamily="34" charset="-120"/>
              </a:rPr>
              <a:t>quickly</a:t>
            </a:r>
            <a:endParaRPr lang="en-US" sz="1300" dirty="0"/>
          </a:p>
        </p:txBody>
      </p:sp>
      <p:sp>
        <p:nvSpPr>
          <p:cNvPr id="23" name="Shape 21"/>
          <p:cNvSpPr/>
          <p:nvPr/>
        </p:nvSpPr>
        <p:spPr>
          <a:xfrm>
            <a:off x="4160520" y="2258568"/>
            <a:ext cx="1783080" cy="804672"/>
          </a:xfrm>
          <a:prstGeom prst="roundRect">
            <a:avLst>
              <a:gd name="adj" fmla="val 9091"/>
            </a:avLst>
          </a:prstGeom>
          <a:solidFill>
            <a:srgbClr val="FFFFFF"/>
          </a:solidFill>
          <a:ln w="12700">
            <a:solidFill>
              <a:srgbClr val="AAAAAA"/>
            </a:solidFill>
            <a:prstDash val="solid"/>
          </a:ln>
        </p:spPr>
        <p:txBody>
          <a:bodyPr/>
          <a:lstStyle/>
          <a:p>
            <a:endParaRPr lang="en-US"/>
          </a:p>
        </p:txBody>
      </p:sp>
      <p:sp>
        <p:nvSpPr>
          <p:cNvPr id="24" name="Text 22"/>
          <p:cNvSpPr/>
          <p:nvPr/>
        </p:nvSpPr>
        <p:spPr>
          <a:xfrm>
            <a:off x="4233672" y="2258568"/>
            <a:ext cx="1673352" cy="804672"/>
          </a:xfrm>
          <a:prstGeom prst="rect">
            <a:avLst/>
          </a:prstGeom>
          <a:noFill/>
          <a:ln/>
        </p:spPr>
        <p:txBody>
          <a:bodyPr wrap="square" rtlCol="0" anchor="ctr"/>
          <a:lstStyle/>
          <a:p>
            <a:pPr marL="0" indent="0">
              <a:buNone/>
            </a:pPr>
            <a:r>
              <a:rPr lang="en-US" sz="1200" i="1" dirty="0">
                <a:solidFill>
                  <a:srgbClr val="1A1A1A"/>
                </a:solidFill>
                <a:latin typeface="Calibri" pitchFamily="34" charset="0"/>
                <a:ea typeface="Calibri" pitchFamily="34" charset="-122"/>
                <a:cs typeface="Calibri" pitchFamily="34" charset="-120"/>
              </a:rPr>
              <a:t>Adverb describes HOW an action was done</a:t>
            </a:r>
            <a:endParaRPr lang="en-US" sz="1200" dirty="0"/>
          </a:p>
        </p:txBody>
      </p:sp>
      <p:sp>
        <p:nvSpPr>
          <p:cNvPr id="25" name="Shape 23"/>
          <p:cNvSpPr/>
          <p:nvPr/>
        </p:nvSpPr>
        <p:spPr>
          <a:xfrm>
            <a:off x="5989320" y="2258568"/>
            <a:ext cx="3017520" cy="804672"/>
          </a:xfrm>
          <a:prstGeom prst="roundRect">
            <a:avLst>
              <a:gd name="adj" fmla="val 9091"/>
            </a:avLst>
          </a:prstGeom>
          <a:solidFill>
            <a:srgbClr val="FFFFFF"/>
          </a:solidFill>
          <a:ln w="12700">
            <a:solidFill>
              <a:srgbClr val="AAAAAA"/>
            </a:solidFill>
            <a:prstDash val="solid"/>
          </a:ln>
        </p:spPr>
        <p:txBody>
          <a:bodyPr/>
          <a:lstStyle/>
          <a:p>
            <a:endParaRPr lang="en-US"/>
          </a:p>
        </p:txBody>
      </p:sp>
      <p:sp>
        <p:nvSpPr>
          <p:cNvPr id="26" name="Text 24"/>
          <p:cNvSpPr/>
          <p:nvPr/>
        </p:nvSpPr>
        <p:spPr>
          <a:xfrm>
            <a:off x="6062472" y="2258568"/>
            <a:ext cx="2889504" cy="804672"/>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"Quick" is an adjective (describes nouns). "Quickly" is an adverb — it tells us about the manner of the action.</a:t>
            </a:r>
            <a:endParaRPr lang="en-US" sz="1150" dirty="0"/>
          </a:p>
        </p:txBody>
      </p:sp>
      <p:sp>
        <p:nvSpPr>
          <p:cNvPr id="27" name="Shape 25"/>
          <p:cNvSpPr/>
          <p:nvPr/>
        </p:nvSpPr>
        <p:spPr>
          <a:xfrm>
            <a:off x="457200" y="3145536"/>
            <a:ext cx="1828800" cy="804672"/>
          </a:xfrm>
          <a:prstGeom prst="roundRect">
            <a:avLst>
              <a:gd name="adj" fmla="val 9091"/>
            </a:avLst>
          </a:prstGeom>
          <a:solidFill>
            <a:srgbClr val="FAFAFA"/>
          </a:solidFill>
          <a:ln w="12700">
            <a:solidFill>
              <a:srgbClr val="AAAAAA"/>
            </a:solidFill>
            <a:prstDash val="solid"/>
          </a:ln>
        </p:spPr>
        <p:txBody>
          <a:bodyPr/>
          <a:lstStyle/>
          <a:p>
            <a:endParaRPr lang="en-US"/>
          </a:p>
        </p:txBody>
      </p:sp>
      <p:sp>
        <p:nvSpPr>
          <p:cNvPr id="28" name="Text 26"/>
          <p:cNvSpPr/>
          <p:nvPr/>
        </p:nvSpPr>
        <p:spPr>
          <a:xfrm>
            <a:off x="530352" y="3145536"/>
            <a:ext cx="1719072" cy="804672"/>
          </a:xfrm>
          <a:prstGeom prst="rect">
            <a:avLst/>
          </a:prstGeom>
          <a:noFill/>
          <a:ln/>
        </p:spPr>
        <p:txBody>
          <a:bodyPr wrap="square" rtlCol="0" anchor="ctr"/>
          <a:lstStyle/>
          <a:p>
            <a:pPr marL="0" indent="0">
              <a:buNone/>
            </a:pPr>
            <a:r>
              <a:rPr lang="en-US" sz="1250" b="1" dirty="0">
                <a:solidFill>
                  <a:srgbClr val="D93025"/>
                </a:solidFill>
                <a:latin typeface="Calibri" pitchFamily="34" charset="0"/>
                <a:ea typeface="Calibri" pitchFamily="34" charset="-122"/>
                <a:cs typeface="Calibri" pitchFamily="34" charset="-120"/>
              </a:rPr>
              <a:t>Yesterday,</a:t>
            </a:r>
            <a:endParaRPr lang="en-US" sz="1250" dirty="0"/>
          </a:p>
          <a:p>
            <a:pPr marL="0" indent="0">
              <a:buNone/>
            </a:pPr>
            <a:r>
              <a:rPr lang="en-US" sz="1250" b="1" dirty="0">
                <a:solidFill>
                  <a:srgbClr val="D93025"/>
                </a:solidFill>
                <a:latin typeface="Calibri" pitchFamily="34" charset="0"/>
                <a:ea typeface="Calibri" pitchFamily="34" charset="-122"/>
                <a:cs typeface="Calibri" pitchFamily="34" charset="-120"/>
              </a:rPr>
              <a:t>they go to the park.</a:t>
            </a:r>
            <a:endParaRPr lang="en-US" sz="1250" dirty="0"/>
          </a:p>
        </p:txBody>
      </p:sp>
      <p:sp>
        <p:nvSpPr>
          <p:cNvPr id="29" name="Shape 27"/>
          <p:cNvSpPr/>
          <p:nvPr/>
        </p:nvSpPr>
        <p:spPr>
          <a:xfrm>
            <a:off x="2331720" y="3145536"/>
            <a:ext cx="1737360" cy="804672"/>
          </a:xfrm>
          <a:prstGeom prst="roundRect">
            <a:avLst>
              <a:gd name="adj" fmla="val 9091"/>
            </a:avLst>
          </a:prstGeom>
          <a:solidFill>
            <a:srgbClr val="FAFAFA"/>
          </a:solidFill>
          <a:ln w="12700">
            <a:solidFill>
              <a:srgbClr val="AAAAAA"/>
            </a:solidFill>
            <a:prstDash val="solid"/>
          </a:ln>
        </p:spPr>
        <p:txBody>
          <a:bodyPr/>
          <a:lstStyle/>
          <a:p>
            <a:endParaRPr lang="en-US"/>
          </a:p>
        </p:txBody>
      </p:sp>
      <p:sp>
        <p:nvSpPr>
          <p:cNvPr id="30" name="Text 28"/>
          <p:cNvSpPr/>
          <p:nvPr/>
        </p:nvSpPr>
        <p:spPr>
          <a:xfrm>
            <a:off x="2404872" y="3145536"/>
            <a:ext cx="1627632" cy="804672"/>
          </a:xfrm>
          <a:prstGeom prst="rect">
            <a:avLst/>
          </a:prstGeom>
          <a:noFill/>
          <a:ln/>
        </p:spPr>
        <p:txBody>
          <a:bodyPr wrap="square" rtlCol="0" anchor="ctr"/>
          <a:lstStyle/>
          <a:p>
            <a:pPr marL="0" indent="0">
              <a:buNone/>
            </a:pPr>
            <a:r>
              <a:rPr lang="en-US" sz="1300" b="1" dirty="0">
                <a:solidFill>
                  <a:srgbClr val="1A5EA8"/>
                </a:solidFill>
                <a:latin typeface="Calibri" pitchFamily="34" charset="0"/>
                <a:ea typeface="Calibri" pitchFamily="34" charset="-122"/>
                <a:cs typeface="Calibri" pitchFamily="34" charset="-120"/>
              </a:rPr>
              <a:t>went</a:t>
            </a:r>
            <a:endParaRPr lang="en-US" sz="1300" dirty="0"/>
          </a:p>
        </p:txBody>
      </p:sp>
      <p:sp>
        <p:nvSpPr>
          <p:cNvPr id="31" name="Shape 29"/>
          <p:cNvSpPr/>
          <p:nvPr/>
        </p:nvSpPr>
        <p:spPr>
          <a:xfrm>
            <a:off x="4160520" y="3145536"/>
            <a:ext cx="1783080" cy="804672"/>
          </a:xfrm>
          <a:prstGeom prst="roundRect">
            <a:avLst>
              <a:gd name="adj" fmla="val 9091"/>
            </a:avLst>
          </a:prstGeom>
          <a:solidFill>
            <a:srgbClr val="FAFAFA"/>
          </a:solidFill>
          <a:ln w="12700">
            <a:solidFill>
              <a:srgbClr val="AAAAAA"/>
            </a:solidFill>
            <a:prstDash val="solid"/>
          </a:ln>
        </p:spPr>
        <p:txBody>
          <a:bodyPr/>
          <a:lstStyle/>
          <a:p>
            <a:endParaRPr lang="en-US"/>
          </a:p>
        </p:txBody>
      </p:sp>
      <p:sp>
        <p:nvSpPr>
          <p:cNvPr id="32" name="Text 30"/>
          <p:cNvSpPr/>
          <p:nvPr/>
        </p:nvSpPr>
        <p:spPr>
          <a:xfrm>
            <a:off x="4233672" y="3145536"/>
            <a:ext cx="1673352" cy="804672"/>
          </a:xfrm>
          <a:prstGeom prst="rect">
            <a:avLst/>
          </a:prstGeom>
          <a:noFill/>
          <a:ln/>
        </p:spPr>
        <p:txBody>
          <a:bodyPr wrap="square" rtlCol="0" anchor="ctr"/>
          <a:lstStyle/>
          <a:p>
            <a:pPr marL="0" indent="0">
              <a:buNone/>
            </a:pPr>
            <a:r>
              <a:rPr lang="en-US" sz="1200" i="1" dirty="0">
                <a:solidFill>
                  <a:srgbClr val="1A1A1A"/>
                </a:solidFill>
                <a:latin typeface="Calibri" pitchFamily="34" charset="0"/>
                <a:ea typeface="Calibri" pitchFamily="34" charset="-122"/>
                <a:cs typeface="Calibri" pitchFamily="34" charset="-120"/>
              </a:rPr>
              <a:t>Tense locates the event in time</a:t>
            </a:r>
            <a:endParaRPr lang="en-US" sz="1200" dirty="0"/>
          </a:p>
        </p:txBody>
      </p:sp>
      <p:sp>
        <p:nvSpPr>
          <p:cNvPr id="33" name="Shape 31"/>
          <p:cNvSpPr/>
          <p:nvPr/>
        </p:nvSpPr>
        <p:spPr>
          <a:xfrm>
            <a:off x="5989320" y="3145536"/>
            <a:ext cx="3017520" cy="804672"/>
          </a:xfrm>
          <a:prstGeom prst="roundRect">
            <a:avLst>
              <a:gd name="adj" fmla="val 9091"/>
            </a:avLst>
          </a:prstGeom>
          <a:solidFill>
            <a:srgbClr val="FAFAFA"/>
          </a:solidFill>
          <a:ln w="12700">
            <a:solidFill>
              <a:srgbClr val="AAAAAA"/>
            </a:solidFill>
            <a:prstDash val="solid"/>
          </a:ln>
        </p:spPr>
        <p:txBody>
          <a:bodyPr/>
          <a:lstStyle/>
          <a:p>
            <a:endParaRPr lang="en-US"/>
          </a:p>
        </p:txBody>
      </p:sp>
      <p:sp>
        <p:nvSpPr>
          <p:cNvPr id="34" name="Text 32"/>
          <p:cNvSpPr/>
          <p:nvPr/>
        </p:nvSpPr>
        <p:spPr>
          <a:xfrm>
            <a:off x="6062472" y="3145536"/>
            <a:ext cx="2889504" cy="804672"/>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"Yesterday" anchors the event in the past. "Went" (past tense) matches that time signal. "Go" leaves it floating — is it now or then?</a:t>
            </a:r>
            <a:endParaRPr lang="en-US" sz="1150" dirty="0"/>
          </a:p>
        </p:txBody>
      </p:sp>
      <p:sp>
        <p:nvSpPr>
          <p:cNvPr id="35" name="Shape 33"/>
          <p:cNvSpPr/>
          <p:nvPr/>
        </p:nvSpPr>
        <p:spPr>
          <a:xfrm>
            <a:off x="457200" y="4032504"/>
            <a:ext cx="1828800" cy="804672"/>
          </a:xfrm>
          <a:prstGeom prst="roundRect">
            <a:avLst>
              <a:gd name="adj" fmla="val 9091"/>
            </a:avLst>
          </a:prstGeom>
          <a:solidFill>
            <a:srgbClr val="FFFFFF"/>
          </a:solidFill>
          <a:ln w="12700">
            <a:solidFill>
              <a:srgbClr val="AAAAAA"/>
            </a:solidFill>
            <a:prstDash val="solid"/>
          </a:ln>
        </p:spPr>
        <p:txBody>
          <a:bodyPr/>
          <a:lstStyle/>
          <a:p>
            <a:endParaRPr lang="en-US"/>
          </a:p>
        </p:txBody>
      </p:sp>
      <p:sp>
        <p:nvSpPr>
          <p:cNvPr id="36" name="Text 34"/>
          <p:cNvSpPr/>
          <p:nvPr/>
        </p:nvSpPr>
        <p:spPr>
          <a:xfrm>
            <a:off x="530352" y="4032504"/>
            <a:ext cx="1719072" cy="804672"/>
          </a:xfrm>
          <a:prstGeom prst="rect">
            <a:avLst/>
          </a:prstGeom>
          <a:noFill/>
          <a:ln/>
        </p:spPr>
        <p:txBody>
          <a:bodyPr wrap="square" rtlCol="0" anchor="ctr"/>
          <a:lstStyle/>
          <a:p>
            <a:pPr marL="0" indent="0">
              <a:buNone/>
            </a:pPr>
            <a:r>
              <a:rPr lang="en-US" sz="1250" b="1" dirty="0">
                <a:solidFill>
                  <a:srgbClr val="CC5500"/>
                </a:solidFill>
                <a:latin typeface="Calibri" pitchFamily="34" charset="0"/>
                <a:ea typeface="Calibri" pitchFamily="34" charset="-122"/>
                <a:cs typeface="Calibri" pitchFamily="34" charset="-120"/>
              </a:rPr>
              <a:t>My friend</a:t>
            </a:r>
            <a:endParaRPr lang="en-US" sz="1250" dirty="0"/>
          </a:p>
          <a:p>
            <a:pPr marL="0" indent="0">
              <a:buNone/>
            </a:pPr>
            <a:r>
              <a:rPr lang="en-US" sz="1250" b="1" dirty="0">
                <a:solidFill>
                  <a:srgbClr val="CC5500"/>
                </a:solidFill>
                <a:latin typeface="Calibri" pitchFamily="34" charset="0"/>
                <a:ea typeface="Calibri" pitchFamily="34" charset="-122"/>
                <a:cs typeface="Calibri" pitchFamily="34" charset="-120"/>
              </a:rPr>
              <a:t>left their phone.</a:t>
            </a:r>
            <a:endParaRPr lang="en-US" sz="1250" dirty="0"/>
          </a:p>
        </p:txBody>
      </p:sp>
      <p:sp>
        <p:nvSpPr>
          <p:cNvPr id="37" name="Shape 35"/>
          <p:cNvSpPr/>
          <p:nvPr/>
        </p:nvSpPr>
        <p:spPr>
          <a:xfrm>
            <a:off x="2331720" y="4032504"/>
            <a:ext cx="1737360" cy="804672"/>
          </a:xfrm>
          <a:prstGeom prst="roundRect">
            <a:avLst>
              <a:gd name="adj" fmla="val 9091"/>
            </a:avLst>
          </a:prstGeom>
          <a:solidFill>
            <a:srgbClr val="FFFFFF"/>
          </a:solidFill>
          <a:ln w="12700">
            <a:solidFill>
              <a:srgbClr val="AAAAAA"/>
            </a:solidFill>
            <a:prstDash val="solid"/>
          </a:ln>
        </p:spPr>
        <p:txBody>
          <a:bodyPr/>
          <a:lstStyle/>
          <a:p>
            <a:endParaRPr lang="en-US"/>
          </a:p>
        </p:txBody>
      </p:sp>
      <p:sp>
        <p:nvSpPr>
          <p:cNvPr id="38" name="Text 36"/>
          <p:cNvSpPr/>
          <p:nvPr/>
        </p:nvSpPr>
        <p:spPr>
          <a:xfrm>
            <a:off x="2404872" y="4032504"/>
            <a:ext cx="1627632" cy="804672"/>
          </a:xfrm>
          <a:prstGeom prst="rect">
            <a:avLst/>
          </a:prstGeom>
          <a:noFill/>
          <a:ln/>
        </p:spPr>
        <p:txBody>
          <a:bodyPr wrap="square" rtlCol="0" anchor="ctr"/>
          <a:lstStyle/>
          <a:p>
            <a:pPr marL="0" indent="0">
              <a:buNone/>
            </a:pPr>
            <a:r>
              <a:rPr lang="en-US" sz="1300" b="1" dirty="0">
                <a:solidFill>
                  <a:srgbClr val="1A5EA8"/>
                </a:solidFill>
                <a:latin typeface="Calibri" pitchFamily="34" charset="0"/>
                <a:ea typeface="Calibri" pitchFamily="34" charset="-122"/>
                <a:cs typeface="Calibri" pitchFamily="34" charset="-120"/>
              </a:rPr>
              <a:t>Check context:</a:t>
            </a:r>
            <a:endParaRPr lang="en-US" sz="1300" dirty="0"/>
          </a:p>
          <a:p>
            <a:pPr marL="0" indent="0">
              <a:buNone/>
            </a:pPr>
            <a:r>
              <a:rPr lang="en-US" sz="1300" b="1" dirty="0">
                <a:solidFill>
                  <a:srgbClr val="1A5EA8"/>
                </a:solidFill>
                <a:latin typeface="Calibri" pitchFamily="34" charset="0"/>
                <a:ea typeface="Calibri" pitchFamily="34" charset="-122"/>
                <a:cs typeface="Calibri" pitchFamily="34" charset="-120"/>
              </a:rPr>
              <a:t>her/his/their</a:t>
            </a:r>
            <a:endParaRPr lang="en-US" sz="1300" dirty="0"/>
          </a:p>
        </p:txBody>
      </p:sp>
      <p:sp>
        <p:nvSpPr>
          <p:cNvPr id="39" name="Shape 37"/>
          <p:cNvSpPr/>
          <p:nvPr/>
        </p:nvSpPr>
        <p:spPr>
          <a:xfrm>
            <a:off x="4160520" y="4032504"/>
            <a:ext cx="1783080" cy="804672"/>
          </a:xfrm>
          <a:prstGeom prst="roundRect">
            <a:avLst>
              <a:gd name="adj" fmla="val 9091"/>
            </a:avLst>
          </a:prstGeom>
          <a:solidFill>
            <a:srgbClr val="FFFFFF"/>
          </a:solidFill>
          <a:ln w="12700">
            <a:solidFill>
              <a:srgbClr val="AAAAAA"/>
            </a:solidFill>
            <a:prstDash val="solid"/>
          </a:ln>
        </p:spPr>
        <p:txBody>
          <a:bodyPr/>
          <a:lstStyle/>
          <a:p>
            <a:endParaRPr lang="en-US"/>
          </a:p>
        </p:txBody>
      </p:sp>
      <p:sp>
        <p:nvSpPr>
          <p:cNvPr id="40" name="Text 38"/>
          <p:cNvSpPr/>
          <p:nvPr/>
        </p:nvSpPr>
        <p:spPr>
          <a:xfrm>
            <a:off x="4233672" y="4032504"/>
            <a:ext cx="1673352" cy="804672"/>
          </a:xfrm>
          <a:prstGeom prst="rect">
            <a:avLst/>
          </a:prstGeom>
          <a:noFill/>
          <a:ln/>
        </p:spPr>
        <p:txBody>
          <a:bodyPr wrap="square" rtlCol="0" anchor="ctr"/>
          <a:lstStyle/>
          <a:p>
            <a:pPr marL="0" indent="0">
              <a:buNone/>
            </a:pPr>
            <a:r>
              <a:rPr lang="en-US" sz="1200" i="1" dirty="0">
                <a:solidFill>
                  <a:srgbClr val="1A1A1A"/>
                </a:solidFill>
                <a:latin typeface="Calibri" pitchFamily="34" charset="0"/>
                <a:ea typeface="Calibri" pitchFamily="34" charset="-122"/>
                <a:cs typeface="Calibri" pitchFamily="34" charset="-120"/>
              </a:rPr>
              <a:t>Pronoun identifies a specific person</a:t>
            </a:r>
            <a:endParaRPr lang="en-US" sz="1200" dirty="0"/>
          </a:p>
        </p:txBody>
      </p:sp>
      <p:sp>
        <p:nvSpPr>
          <p:cNvPr id="41" name="Shape 39"/>
          <p:cNvSpPr/>
          <p:nvPr/>
        </p:nvSpPr>
        <p:spPr>
          <a:xfrm>
            <a:off x="5989320" y="4032504"/>
            <a:ext cx="3017520" cy="804672"/>
          </a:xfrm>
          <a:prstGeom prst="roundRect">
            <a:avLst>
              <a:gd name="adj" fmla="val 9091"/>
            </a:avLst>
          </a:prstGeom>
          <a:solidFill>
            <a:srgbClr val="FFFFFF"/>
          </a:solidFill>
          <a:ln w="12700">
            <a:solidFill>
              <a:srgbClr val="AAAAAA"/>
            </a:solidFill>
            <a:prstDash val="solid"/>
          </a:ln>
        </p:spPr>
        <p:txBody>
          <a:bodyPr/>
          <a:lstStyle/>
          <a:p>
            <a:endParaRPr lang="en-US"/>
          </a:p>
        </p:txBody>
      </p:sp>
      <p:sp>
        <p:nvSpPr>
          <p:cNvPr id="42" name="Text 40"/>
          <p:cNvSpPr/>
          <p:nvPr/>
        </p:nvSpPr>
        <p:spPr>
          <a:xfrm>
            <a:off x="6062472" y="4032504"/>
            <a:ext cx="2889504" cy="804672"/>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"Their" is not always wrong — but it must match what the writer wants to say about the friend's identity. Agreement = precision.</a:t>
            </a:r>
            <a:endParaRPr lang="en-US" sz="1150" dirty="0"/>
          </a:p>
        </p:txBody>
      </p:sp>
      <p:sp>
        <p:nvSpPr>
          <p:cNvPr id="43" name="Shape 41"/>
          <p:cNvSpPr/>
          <p:nvPr/>
        </p:nvSpPr>
        <p:spPr>
          <a:xfrm>
            <a:off x="8492490" y="3872484"/>
            <a:ext cx="480060" cy="480060"/>
          </a:xfrm>
          <a:prstGeom prst="roundRect">
            <a:avLst>
              <a:gd name="adj" fmla="val 66667"/>
            </a:avLst>
          </a:prstGeom>
          <a:solidFill>
            <a:srgbClr val="1A1A1A"/>
          </a:solidFill>
          <a:ln w="12700">
            <a:solidFill>
              <a:srgbClr val="1A1A1A"/>
            </a:solidFill>
            <a:prstDash val="solid"/>
          </a:ln>
        </p:spPr>
        <p:txBody>
          <a:bodyPr/>
          <a:lstStyle/>
          <a:p>
            <a:endParaRPr lang="en-US"/>
          </a:p>
        </p:txBody>
      </p:sp>
      <p:sp>
        <p:nvSpPr>
          <p:cNvPr id="44" name="Shape 42"/>
          <p:cNvSpPr/>
          <p:nvPr/>
        </p:nvSpPr>
        <p:spPr>
          <a:xfrm>
            <a:off x="8602218" y="3954780"/>
            <a:ext cx="68580" cy="68580"/>
          </a:xfrm>
          <a:prstGeom prst="ellipse">
            <a:avLst/>
          </a:prstGeom>
          <a:solidFill>
            <a:srgbClr val="FFFFFF"/>
          </a:solidFill>
          <a:ln w="12700">
            <a:solidFill>
              <a:srgbClr val="FFFFFF"/>
            </a:solidFill>
            <a:prstDash val="solid"/>
          </a:ln>
        </p:spPr>
        <p:txBody>
          <a:bodyPr/>
          <a:lstStyle/>
          <a:p>
            <a:endParaRPr lang="en-US"/>
          </a:p>
        </p:txBody>
      </p:sp>
      <p:sp>
        <p:nvSpPr>
          <p:cNvPr id="45" name="Shape 43"/>
          <p:cNvSpPr/>
          <p:nvPr/>
        </p:nvSpPr>
        <p:spPr>
          <a:xfrm>
            <a:off x="8787384" y="3954780"/>
            <a:ext cx="68580" cy="68580"/>
          </a:xfrm>
          <a:prstGeom prst="ellipse">
            <a:avLst/>
          </a:prstGeom>
          <a:solidFill>
            <a:srgbClr val="FFFFFF"/>
          </a:solidFill>
          <a:ln w="12700">
            <a:solidFill>
              <a:srgbClr val="FFFFFF"/>
            </a:solidFill>
            <a:prstDash val="solid"/>
          </a:ln>
        </p:spPr>
        <p:txBody>
          <a:bodyPr/>
          <a:lstStyle/>
          <a:p>
            <a:endParaRPr lang="en-US"/>
          </a:p>
        </p:txBody>
      </p:sp>
      <p:sp>
        <p:nvSpPr>
          <p:cNvPr id="46" name="Shape 44"/>
          <p:cNvSpPr/>
          <p:nvPr/>
        </p:nvSpPr>
        <p:spPr>
          <a:xfrm>
            <a:off x="8609076" y="4352544"/>
            <a:ext cx="41148" cy="205740"/>
          </a:xfrm>
          <a:prstGeom prst="line">
            <a:avLst/>
          </a:prstGeom>
          <a:noFill/>
          <a:ln w="31750">
            <a:solidFill>
              <a:srgbClr val="1A1A1A"/>
            </a:solidFill>
            <a:prstDash val="solid"/>
          </a:ln>
        </p:spPr>
        <p:txBody>
          <a:bodyPr/>
          <a:lstStyle/>
          <a:p>
            <a:endParaRPr lang="en-US"/>
          </a:p>
        </p:txBody>
      </p:sp>
      <p:sp>
        <p:nvSpPr>
          <p:cNvPr id="47" name="Shape 45"/>
          <p:cNvSpPr/>
          <p:nvPr/>
        </p:nvSpPr>
        <p:spPr>
          <a:xfrm>
            <a:off x="8814816" y="4352544"/>
            <a:ext cx="41148" cy="205740"/>
          </a:xfrm>
          <a:prstGeom prst="line">
            <a:avLst/>
          </a:prstGeom>
          <a:noFill/>
          <a:ln w="31750">
            <a:solidFill>
              <a:srgbClr val="1A1A1A"/>
            </a:solidFill>
            <a:prstDash val="solid"/>
          </a:ln>
        </p:spPr>
        <p:txBody>
          <a:bodyPr/>
          <a:lstStyle/>
          <a:p>
            <a:endParaRPr lang="en-US"/>
          </a:p>
        </p:txBody>
      </p:sp>
      <p:sp>
        <p:nvSpPr>
          <p:cNvPr id="48" name="Shape 46"/>
          <p:cNvSpPr/>
          <p:nvPr/>
        </p:nvSpPr>
        <p:spPr>
          <a:xfrm>
            <a:off x="7132320" y="4572000"/>
            <a:ext cx="1508760" cy="457200"/>
          </a:xfrm>
          <a:prstGeom prst="roundRect">
            <a:avLst>
              <a:gd name="adj" fmla="val 16000"/>
            </a:avLst>
          </a:prstGeom>
          <a:solidFill>
            <a:srgbClr val="FFFAF0"/>
          </a:solidFill>
          <a:ln w="19050">
            <a:solidFill>
              <a:srgbClr val="CC5500"/>
            </a:solidFill>
            <a:prstDash val="solid"/>
          </a:ln>
        </p:spPr>
        <p:txBody>
          <a:bodyPr/>
          <a:lstStyle/>
          <a:p>
            <a:endParaRPr lang="en-US"/>
          </a:p>
        </p:txBody>
      </p:sp>
      <p:sp>
        <p:nvSpPr>
          <p:cNvPr id="49" name="Text 47"/>
          <p:cNvSpPr/>
          <p:nvPr/>
        </p:nvSpPr>
        <p:spPr>
          <a:xfrm>
            <a:off x="7150608" y="4572000"/>
            <a:ext cx="1481328" cy="457200"/>
          </a:xfrm>
          <a:prstGeom prst="rect">
            <a:avLst/>
          </a:prstGeom>
          <a:noFill/>
          <a:ln/>
        </p:spPr>
        <p:txBody>
          <a:bodyPr wrap="square" rtlCol="0" anchor="ctr"/>
          <a:lstStyle/>
          <a:p>
            <a:pPr marL="0" indent="0" algn="ctr">
              <a:buNone/>
            </a:pPr>
            <a:r>
              <a:rPr lang="en-US" sz="1050" i="1" dirty="0">
                <a:solidFill>
                  <a:srgbClr val="CC5500"/>
                </a:solidFill>
                <a:latin typeface="Cambria" pitchFamily="34" charset="0"/>
                <a:ea typeface="Cambria" pitchFamily="34" charset="-122"/>
                <a:cs typeface="Cambria" pitchFamily="34" charset="-120"/>
              </a:rPr>
              <a:t>Form + Meaning = Precision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37160"/>
            <a:ext cx="7772400" cy="594360"/>
          </a:xfrm>
          <a:prstGeom prst="rect">
            <a:avLst/>
          </a:prstGeom>
          <a:noFill/>
          <a:ln/>
        </p:spPr>
        <p:txBody>
          <a:bodyPr wrap="square" rtlCol="0" anchor="ctr"/>
          <a:lstStyle/>
          <a:p>
            <a:pPr marL="0" indent="0">
              <a:buNone/>
            </a:pPr>
            <a:r>
              <a:rPr lang="en-US" sz="3400" b="1" dirty="0">
                <a:solidFill>
                  <a:srgbClr val="D93025"/>
                </a:solidFill>
                <a:latin typeface="Cambria" pitchFamily="34" charset="0"/>
                <a:ea typeface="Cambria" pitchFamily="34" charset="-122"/>
                <a:cs typeface="Cambria" pitchFamily="34" charset="-120"/>
              </a:rPr>
              <a:t>Mission: Find 5 Errors</a:t>
            </a:r>
            <a:endParaRPr lang="en-US" sz="3400" dirty="0"/>
          </a:p>
        </p:txBody>
      </p:sp>
      <p:sp>
        <p:nvSpPr>
          <p:cNvPr id="3" name="Shape 1"/>
          <p:cNvSpPr/>
          <p:nvPr/>
        </p:nvSpPr>
        <p:spPr>
          <a:xfrm>
            <a:off x="365760" y="841248"/>
            <a:ext cx="6766560" cy="3246120"/>
          </a:xfrm>
          <a:prstGeom prst="roundRect">
            <a:avLst>
              <a:gd name="adj" fmla="val 2254"/>
            </a:avLst>
          </a:prstGeom>
          <a:solidFill>
            <a:srgbClr val="FFFFFF"/>
          </a:solidFill>
          <a:ln w="31750">
            <a:solidFill>
              <a:srgbClr val="D93025"/>
            </a:solidFill>
            <a:prstDash val="solid"/>
          </a:ln>
        </p:spPr>
        <p:txBody>
          <a:bodyPr/>
          <a:lstStyle/>
          <a:p>
            <a:endParaRPr lang="en-US"/>
          </a:p>
        </p:txBody>
      </p:sp>
      <p:sp>
        <p:nvSpPr>
          <p:cNvPr id="4" name="Shape 2"/>
          <p:cNvSpPr/>
          <p:nvPr/>
        </p:nvSpPr>
        <p:spPr>
          <a:xfrm>
            <a:off x="6949440" y="685800"/>
            <a:ext cx="1554480" cy="1554480"/>
          </a:xfrm>
          <a:prstGeom prst="ellipse">
            <a:avLst/>
          </a:prstGeom>
          <a:solidFill>
            <a:srgbClr val="FFFFFF"/>
          </a:solidFill>
          <a:ln w="31750">
            <a:solidFill>
              <a:srgbClr val="D93025"/>
            </a:solidFill>
            <a:prstDash val="solid"/>
          </a:ln>
        </p:spPr>
        <p:txBody>
          <a:bodyPr/>
          <a:lstStyle/>
          <a:p>
            <a:endParaRPr lang="en-US"/>
          </a:p>
        </p:txBody>
      </p:sp>
      <p:sp>
        <p:nvSpPr>
          <p:cNvPr id="5" name="Text 3"/>
          <p:cNvSpPr/>
          <p:nvPr/>
        </p:nvSpPr>
        <p:spPr>
          <a:xfrm>
            <a:off x="6949440" y="685800"/>
            <a:ext cx="1554480" cy="1554480"/>
          </a:xfrm>
          <a:prstGeom prst="rect">
            <a:avLst/>
          </a:prstGeom>
          <a:noFill/>
          <a:ln/>
        </p:spPr>
        <p:txBody>
          <a:bodyPr wrap="square" rtlCol="0" anchor="ctr"/>
          <a:lstStyle/>
          <a:p>
            <a:pPr marL="0" indent="0" algn="ctr">
              <a:buNone/>
            </a:pPr>
            <a:r>
              <a:rPr lang="en-US" sz="2600" b="1" i="1" dirty="0">
                <a:solidFill>
                  <a:srgbClr val="D93025"/>
                </a:solidFill>
                <a:latin typeface="Cambria" pitchFamily="34" charset="0"/>
                <a:ea typeface="Cambria" pitchFamily="34" charset="-122"/>
                <a:cs typeface="Cambria" pitchFamily="34" charset="-120"/>
              </a:rPr>
              <a:t>5</a:t>
            </a:r>
            <a:endParaRPr lang="en-US" sz="2600" dirty="0"/>
          </a:p>
          <a:p>
            <a:pPr marL="0" indent="0" algn="ctr">
              <a:buNone/>
            </a:pPr>
            <a:r>
              <a:rPr lang="en-US" sz="2600" b="1" i="1" dirty="0">
                <a:solidFill>
                  <a:srgbClr val="D93025"/>
                </a:solidFill>
                <a:latin typeface="Cambria" pitchFamily="34" charset="0"/>
                <a:ea typeface="Cambria" pitchFamily="34" charset="-122"/>
                <a:cs typeface="Cambria" pitchFamily="34" charset="-120"/>
              </a:rPr>
              <a:t>errors</a:t>
            </a:r>
            <a:endParaRPr lang="en-US" sz="2600" dirty="0"/>
          </a:p>
        </p:txBody>
      </p:sp>
      <p:sp>
        <p:nvSpPr>
          <p:cNvPr id="6" name="Text 4"/>
          <p:cNvSpPr/>
          <p:nvPr/>
        </p:nvSpPr>
        <p:spPr>
          <a:xfrm>
            <a:off x="566928" y="1024128"/>
            <a:ext cx="6400800" cy="530352"/>
          </a:xfrm>
          <a:prstGeom prst="rect">
            <a:avLst/>
          </a:prstGeom>
          <a:noFill/>
          <a:ln/>
        </p:spPr>
        <p:txBody>
          <a:bodyPr wrap="square" rtlCol="0" anchor="ctr"/>
          <a:lstStyle/>
          <a:p>
            <a:pPr marL="0" indent="0">
              <a:buNone/>
            </a:pPr>
            <a:r>
              <a:rPr lang="en-US" sz="1500" b="1" dirty="0">
                <a:solidFill>
                  <a:srgbClr val="D93025"/>
                </a:solidFill>
                <a:latin typeface="Calibri" pitchFamily="34" charset="0"/>
                <a:ea typeface="Calibri" pitchFamily="34" charset="-122"/>
                <a:cs typeface="Calibri" pitchFamily="34" charset="-120"/>
              </a:rPr>
              <a:t>Last saturday</a:t>
            </a:r>
            <a:r>
              <a:rPr lang="en-US" sz="1500" dirty="0">
                <a:solidFill>
                  <a:srgbClr val="1A1A1A"/>
                </a:solidFill>
                <a:latin typeface="Calibri" pitchFamily="34" charset="0"/>
                <a:ea typeface="Calibri" pitchFamily="34" charset="-122"/>
                <a:cs typeface="Calibri" pitchFamily="34" charset="-120"/>
              </a:rPr>
              <a:t>, the students in Class 7B worked very </a:t>
            </a:r>
            <a:r>
              <a:rPr lang="en-US" sz="1500" b="1" dirty="0">
                <a:solidFill>
                  <a:srgbClr val="D93025"/>
                </a:solidFill>
                <a:latin typeface="Calibri" pitchFamily="34" charset="0"/>
                <a:ea typeface="Calibri" pitchFamily="34" charset="-122"/>
                <a:cs typeface="Calibri" pitchFamily="34" charset="-120"/>
              </a:rPr>
              <a:t>quick</a:t>
            </a:r>
            <a:r>
              <a:rPr lang="en-US" sz="1500" dirty="0">
                <a:solidFill>
                  <a:srgbClr val="1A1A1A"/>
                </a:solidFill>
                <a:latin typeface="Calibri" pitchFamily="34" charset="0"/>
                <a:ea typeface="Calibri" pitchFamily="34" charset="-122"/>
                <a:cs typeface="Calibri" pitchFamily="34" charset="-120"/>
              </a:rPr>
              <a:t> to finish</a:t>
            </a:r>
            <a:endParaRPr lang="en-US" sz="1500" dirty="0"/>
          </a:p>
        </p:txBody>
      </p:sp>
      <p:sp>
        <p:nvSpPr>
          <p:cNvPr id="7" name="Text 5"/>
          <p:cNvSpPr/>
          <p:nvPr/>
        </p:nvSpPr>
        <p:spPr>
          <a:xfrm>
            <a:off x="566928" y="1591056"/>
            <a:ext cx="6400800" cy="530352"/>
          </a:xfrm>
          <a:prstGeom prst="rect">
            <a:avLst/>
          </a:prstGeom>
          <a:noFill/>
          <a:ln/>
        </p:spPr>
        <p:txBody>
          <a:bodyPr wrap="square" rtlCol="0" anchor="ctr"/>
          <a:lstStyle/>
          <a:p>
            <a:pPr marL="0" indent="0">
              <a:buNone/>
            </a:pPr>
            <a:r>
              <a:rPr lang="en-US" sz="1500" dirty="0">
                <a:solidFill>
                  <a:srgbClr val="1A1A1A"/>
                </a:solidFill>
                <a:latin typeface="Calibri" pitchFamily="34" charset="0"/>
                <a:ea typeface="Calibri" pitchFamily="34" charset="-122"/>
                <a:cs typeface="Calibri" pitchFamily="34" charset="-120"/>
              </a:rPr>
              <a:t>their science project. The whole class </a:t>
            </a:r>
            <a:r>
              <a:rPr lang="en-US" sz="1500" b="1" dirty="0">
                <a:solidFill>
                  <a:srgbClr val="D93025"/>
                </a:solidFill>
                <a:latin typeface="Calibri" pitchFamily="34" charset="0"/>
                <a:ea typeface="Calibri" pitchFamily="34" charset="-122"/>
                <a:cs typeface="Calibri" pitchFamily="34" charset="-120"/>
              </a:rPr>
              <a:t>was</a:t>
            </a:r>
            <a:r>
              <a:rPr lang="en-US" sz="1500" dirty="0">
                <a:solidFill>
                  <a:srgbClr val="1A1A1A"/>
                </a:solidFill>
                <a:latin typeface="Calibri" pitchFamily="34" charset="0"/>
                <a:ea typeface="Calibri" pitchFamily="34" charset="-122"/>
                <a:cs typeface="Calibri" pitchFamily="34" charset="-120"/>
              </a:rPr>
              <a:t> excited about the results and</a:t>
            </a:r>
            <a:endParaRPr lang="en-US" sz="1500" dirty="0"/>
          </a:p>
        </p:txBody>
      </p:sp>
      <p:sp>
        <p:nvSpPr>
          <p:cNvPr id="8" name="Text 6"/>
          <p:cNvSpPr/>
          <p:nvPr/>
        </p:nvSpPr>
        <p:spPr>
          <a:xfrm>
            <a:off x="566928" y="2157984"/>
            <a:ext cx="6400800" cy="530352"/>
          </a:xfrm>
          <a:prstGeom prst="rect">
            <a:avLst/>
          </a:prstGeom>
          <a:noFill/>
          <a:ln/>
        </p:spPr>
        <p:txBody>
          <a:bodyPr wrap="square" rtlCol="0" anchor="ctr"/>
          <a:lstStyle/>
          <a:p>
            <a:pPr marL="0" indent="0">
              <a:buNone/>
            </a:pPr>
            <a:r>
              <a:rPr lang="en-US" sz="1500" dirty="0">
                <a:solidFill>
                  <a:srgbClr val="1A1A1A"/>
                </a:solidFill>
                <a:latin typeface="Calibri" pitchFamily="34" charset="0"/>
                <a:ea typeface="Calibri" pitchFamily="34" charset="-122"/>
                <a:cs typeface="Calibri" pitchFamily="34" charset="-120"/>
              </a:rPr>
              <a:t>decided to present to the school. Their teacher, Ms. Chen, told them to </a:t>
            </a:r>
            <a:endParaRPr lang="en-US" sz="1500" dirty="0"/>
          </a:p>
        </p:txBody>
      </p:sp>
      <p:sp>
        <p:nvSpPr>
          <p:cNvPr id="9" name="Text 7"/>
          <p:cNvSpPr/>
          <p:nvPr/>
        </p:nvSpPr>
        <p:spPr>
          <a:xfrm>
            <a:off x="566928" y="2724912"/>
            <a:ext cx="6400800" cy="530352"/>
          </a:xfrm>
          <a:prstGeom prst="rect">
            <a:avLst/>
          </a:prstGeom>
          <a:noFill/>
          <a:ln/>
        </p:spPr>
        <p:txBody>
          <a:bodyPr wrap="square" rtlCol="0" anchor="ctr"/>
          <a:lstStyle/>
          <a:p>
            <a:pPr marL="0" indent="0">
              <a:buNone/>
            </a:pPr>
            <a:r>
              <a:rPr lang="en-US" sz="1500" b="1" dirty="0">
                <a:solidFill>
                  <a:srgbClr val="D93025"/>
                </a:solidFill>
                <a:latin typeface="Calibri" pitchFamily="34" charset="0"/>
                <a:ea typeface="Calibri" pitchFamily="34" charset="-122"/>
                <a:cs typeface="Calibri" pitchFamily="34" charset="-120"/>
              </a:rPr>
              <a:t>go</a:t>
            </a:r>
            <a:r>
              <a:rPr lang="en-US" sz="1500" dirty="0">
                <a:solidFill>
                  <a:srgbClr val="1A1A1A"/>
                </a:solidFill>
                <a:latin typeface="Calibri" pitchFamily="34" charset="0"/>
                <a:ea typeface="Calibri" pitchFamily="34" charset="-122"/>
                <a:cs typeface="Calibri" pitchFamily="34" charset="-120"/>
              </a:rPr>
              <a:t> to the hall yesterday evening. She forgot to bring </a:t>
            </a:r>
            <a:r>
              <a:rPr lang="en-US" sz="1500" b="1" dirty="0">
                <a:solidFill>
                  <a:srgbClr val="D93025"/>
                </a:solidFill>
                <a:latin typeface="Calibri" pitchFamily="34" charset="0"/>
                <a:ea typeface="Calibri" pitchFamily="34" charset="-122"/>
                <a:cs typeface="Calibri" pitchFamily="34" charset="-120"/>
              </a:rPr>
              <a:t>his</a:t>
            </a:r>
            <a:endParaRPr lang="en-US" sz="1500" dirty="0"/>
          </a:p>
        </p:txBody>
      </p:sp>
      <p:sp>
        <p:nvSpPr>
          <p:cNvPr id="10" name="Text 8"/>
          <p:cNvSpPr/>
          <p:nvPr/>
        </p:nvSpPr>
        <p:spPr>
          <a:xfrm>
            <a:off x="566928" y="3291840"/>
            <a:ext cx="6400800" cy="530352"/>
          </a:xfrm>
          <a:prstGeom prst="rect">
            <a:avLst/>
          </a:prstGeom>
          <a:noFill/>
          <a:ln/>
        </p:spPr>
        <p:txBody>
          <a:bodyPr wrap="square" rtlCol="0" anchor="ctr"/>
          <a:lstStyle/>
          <a:p>
            <a:pPr marL="0" indent="0">
              <a:buNone/>
            </a:pPr>
            <a:r>
              <a:rPr lang="en-US" sz="1500" dirty="0">
                <a:solidFill>
                  <a:srgbClr val="1A1A1A"/>
                </a:solidFill>
                <a:latin typeface="Calibri" pitchFamily="34" charset="0"/>
                <a:ea typeface="Calibri" pitchFamily="34" charset="-122"/>
                <a:cs typeface="Calibri" pitchFamily="34" charset="-120"/>
              </a:rPr>
              <a:t>notebook, so a student lent her a pen and some paper</a:t>
            </a:r>
            <a:r>
              <a:rPr lang="en-US" sz="1500" b="1" dirty="0">
                <a:solidFill>
                  <a:srgbClr val="D93025"/>
                </a:solidFill>
                <a:latin typeface="Calibri" pitchFamily="34" charset="0"/>
                <a:ea typeface="Calibri" pitchFamily="34" charset="-122"/>
                <a:cs typeface="Calibri" pitchFamily="34" charset="-120"/>
              </a:rPr>
              <a:t> [?]</a:t>
            </a:r>
            <a:endParaRPr lang="en-US" sz="1500" dirty="0"/>
          </a:p>
        </p:txBody>
      </p:sp>
      <p:sp>
        <p:nvSpPr>
          <p:cNvPr id="11" name="Shape 9"/>
          <p:cNvSpPr/>
          <p:nvPr/>
        </p:nvSpPr>
        <p:spPr>
          <a:xfrm>
            <a:off x="365760" y="4133088"/>
            <a:ext cx="8412480" cy="0"/>
          </a:xfrm>
          <a:prstGeom prst="line">
            <a:avLst/>
          </a:prstGeom>
          <a:noFill/>
          <a:ln w="12700">
            <a:solidFill>
              <a:srgbClr val="AAAAAA"/>
            </a:solidFill>
            <a:prstDash val="sysDot"/>
          </a:ln>
        </p:spPr>
        <p:txBody>
          <a:bodyPr/>
          <a:lstStyle/>
          <a:p>
            <a:endParaRPr lang="en-US"/>
          </a:p>
        </p:txBody>
      </p:sp>
      <p:sp>
        <p:nvSpPr>
          <p:cNvPr id="12" name="Shape 10"/>
          <p:cNvSpPr/>
          <p:nvPr/>
        </p:nvSpPr>
        <p:spPr>
          <a:xfrm>
            <a:off x="457200" y="4251960"/>
            <a:ext cx="2560320" cy="594360"/>
          </a:xfrm>
          <a:prstGeom prst="roundRect">
            <a:avLst>
              <a:gd name="adj" fmla="val 12308"/>
            </a:avLst>
          </a:prstGeom>
          <a:solidFill>
            <a:srgbClr val="FFFFFF"/>
          </a:solidFill>
          <a:ln w="19050">
            <a:solidFill>
              <a:srgbClr val="D93025"/>
            </a:solidFill>
            <a:prstDash val="solid"/>
          </a:ln>
        </p:spPr>
        <p:txBody>
          <a:bodyPr/>
          <a:lstStyle/>
          <a:p>
            <a:endParaRPr lang="en-US"/>
          </a:p>
        </p:txBody>
      </p:sp>
      <p:sp>
        <p:nvSpPr>
          <p:cNvPr id="13" name="Text 11"/>
          <p:cNvSpPr/>
          <p:nvPr/>
        </p:nvSpPr>
        <p:spPr>
          <a:xfrm>
            <a:off x="566928" y="4251960"/>
            <a:ext cx="2377440" cy="594360"/>
          </a:xfrm>
          <a:prstGeom prst="rect">
            <a:avLst/>
          </a:prstGeom>
          <a:noFill/>
          <a:ln/>
        </p:spPr>
        <p:txBody>
          <a:bodyPr wrap="square" rtlCol="0" anchor="ctr"/>
          <a:lstStyle/>
          <a:p>
            <a:pPr marL="0" indent="0">
              <a:buNone/>
            </a:pPr>
            <a:r>
              <a:rPr lang="en-US" sz="1250" i="1" dirty="0">
                <a:solidFill>
                  <a:srgbClr val="D93025"/>
                </a:solidFill>
                <a:latin typeface="Calibri" pitchFamily="34" charset="0"/>
                <a:ea typeface="Calibri" pitchFamily="34" charset="-122"/>
                <a:cs typeface="Calibri" pitchFamily="34" charset="-120"/>
              </a:rPr>
              <a:t>Pass 1?  Check your 3 passes →</a:t>
            </a:r>
            <a:endParaRPr lang="en-US" sz="1250" dirty="0"/>
          </a:p>
        </p:txBody>
      </p:sp>
      <p:sp>
        <p:nvSpPr>
          <p:cNvPr id="14" name="Shape 12"/>
          <p:cNvSpPr/>
          <p:nvPr/>
        </p:nvSpPr>
        <p:spPr>
          <a:xfrm>
            <a:off x="3291840" y="4251960"/>
            <a:ext cx="2560320" cy="594360"/>
          </a:xfrm>
          <a:prstGeom prst="roundRect">
            <a:avLst>
              <a:gd name="adj" fmla="val 12308"/>
            </a:avLst>
          </a:prstGeom>
          <a:solidFill>
            <a:srgbClr val="FFFFFF"/>
          </a:solidFill>
          <a:ln w="19050">
            <a:solidFill>
              <a:srgbClr val="CC5500"/>
            </a:solidFill>
            <a:prstDash val="solid"/>
          </a:ln>
        </p:spPr>
        <p:txBody>
          <a:bodyPr/>
          <a:lstStyle/>
          <a:p>
            <a:endParaRPr lang="en-US"/>
          </a:p>
        </p:txBody>
      </p:sp>
      <p:sp>
        <p:nvSpPr>
          <p:cNvPr id="15" name="Text 13"/>
          <p:cNvSpPr/>
          <p:nvPr/>
        </p:nvSpPr>
        <p:spPr>
          <a:xfrm>
            <a:off x="3401568" y="4251960"/>
            <a:ext cx="2377440" cy="594360"/>
          </a:xfrm>
          <a:prstGeom prst="rect">
            <a:avLst/>
          </a:prstGeom>
          <a:noFill/>
          <a:ln/>
        </p:spPr>
        <p:txBody>
          <a:bodyPr wrap="square" rtlCol="0" anchor="ctr"/>
          <a:lstStyle/>
          <a:p>
            <a:pPr marL="0" indent="0">
              <a:buNone/>
            </a:pPr>
            <a:r>
              <a:rPr lang="en-US" sz="1250" i="1" dirty="0">
                <a:solidFill>
                  <a:srgbClr val="CC5500"/>
                </a:solidFill>
                <a:latin typeface="Calibri" pitchFamily="34" charset="0"/>
                <a:ea typeface="Calibri" pitchFamily="34" charset="-122"/>
                <a:cs typeface="Calibri" pitchFamily="34" charset="-120"/>
              </a:rPr>
              <a:t>Pass 2?  Check your 3 passes →</a:t>
            </a:r>
            <a:endParaRPr lang="en-US" sz="1250" dirty="0"/>
          </a:p>
        </p:txBody>
      </p:sp>
      <p:sp>
        <p:nvSpPr>
          <p:cNvPr id="16" name="Shape 14"/>
          <p:cNvSpPr/>
          <p:nvPr/>
        </p:nvSpPr>
        <p:spPr>
          <a:xfrm>
            <a:off x="6126480" y="4251960"/>
            <a:ext cx="2560320" cy="594360"/>
          </a:xfrm>
          <a:prstGeom prst="roundRect">
            <a:avLst>
              <a:gd name="adj" fmla="val 12308"/>
            </a:avLst>
          </a:prstGeom>
          <a:solidFill>
            <a:srgbClr val="FFFFFF"/>
          </a:solidFill>
          <a:ln w="19050">
            <a:solidFill>
              <a:srgbClr val="1A5EA8"/>
            </a:solidFill>
            <a:prstDash val="solid"/>
          </a:ln>
        </p:spPr>
        <p:txBody>
          <a:bodyPr/>
          <a:lstStyle/>
          <a:p>
            <a:endParaRPr lang="en-US"/>
          </a:p>
        </p:txBody>
      </p:sp>
      <p:sp>
        <p:nvSpPr>
          <p:cNvPr id="17" name="Text 15"/>
          <p:cNvSpPr/>
          <p:nvPr/>
        </p:nvSpPr>
        <p:spPr>
          <a:xfrm>
            <a:off x="6236208" y="4251960"/>
            <a:ext cx="2377440" cy="594360"/>
          </a:xfrm>
          <a:prstGeom prst="rect">
            <a:avLst/>
          </a:prstGeom>
          <a:noFill/>
          <a:ln/>
        </p:spPr>
        <p:txBody>
          <a:bodyPr wrap="square" rtlCol="0" anchor="ctr"/>
          <a:lstStyle/>
          <a:p>
            <a:pPr marL="0" indent="0">
              <a:buNone/>
            </a:pPr>
            <a:r>
              <a:rPr lang="en-US" sz="1250" i="1" dirty="0">
                <a:solidFill>
                  <a:srgbClr val="1A5EA8"/>
                </a:solidFill>
                <a:latin typeface="Calibri" pitchFamily="34" charset="0"/>
                <a:ea typeface="Calibri" pitchFamily="34" charset="-122"/>
                <a:cs typeface="Calibri" pitchFamily="34" charset="-120"/>
              </a:rPr>
              <a:t>Pass 3?  Check your 3 passes →</a:t>
            </a:r>
            <a:endParaRPr lang="en-US" sz="1250" dirty="0"/>
          </a:p>
        </p:txBody>
      </p:sp>
      <p:sp>
        <p:nvSpPr>
          <p:cNvPr id="18" name="Shape 16"/>
          <p:cNvSpPr/>
          <p:nvPr/>
        </p:nvSpPr>
        <p:spPr>
          <a:xfrm>
            <a:off x="8444484" y="4043477"/>
            <a:ext cx="576072" cy="576072"/>
          </a:xfrm>
          <a:prstGeom prst="roundRect">
            <a:avLst>
              <a:gd name="adj" fmla="val 55556"/>
            </a:avLst>
          </a:prstGeom>
          <a:solidFill>
            <a:srgbClr val="1A1A1A"/>
          </a:solidFill>
          <a:ln w="12700">
            <a:solidFill>
              <a:srgbClr val="1A1A1A"/>
            </a:solidFill>
            <a:prstDash val="solid"/>
          </a:ln>
        </p:spPr>
        <p:txBody>
          <a:bodyPr/>
          <a:lstStyle/>
          <a:p>
            <a:endParaRPr lang="en-US"/>
          </a:p>
        </p:txBody>
      </p:sp>
      <p:sp>
        <p:nvSpPr>
          <p:cNvPr id="19" name="Shape 17"/>
          <p:cNvSpPr/>
          <p:nvPr/>
        </p:nvSpPr>
        <p:spPr>
          <a:xfrm>
            <a:off x="8576158" y="4142232"/>
            <a:ext cx="82296" cy="82296"/>
          </a:xfrm>
          <a:prstGeom prst="ellipse">
            <a:avLst/>
          </a:prstGeom>
          <a:solidFill>
            <a:srgbClr val="FFFFFF"/>
          </a:solidFill>
          <a:ln w="12700">
            <a:solidFill>
              <a:srgbClr val="FFFFFF"/>
            </a:solidFill>
            <a:prstDash val="solid"/>
          </a:ln>
        </p:spPr>
        <p:txBody>
          <a:bodyPr/>
          <a:lstStyle/>
          <a:p>
            <a:endParaRPr lang="en-US"/>
          </a:p>
        </p:txBody>
      </p:sp>
      <p:sp>
        <p:nvSpPr>
          <p:cNvPr id="20" name="Shape 18"/>
          <p:cNvSpPr/>
          <p:nvPr/>
        </p:nvSpPr>
        <p:spPr>
          <a:xfrm>
            <a:off x="8798357" y="4142232"/>
            <a:ext cx="82296" cy="82296"/>
          </a:xfrm>
          <a:prstGeom prst="ellipse">
            <a:avLst/>
          </a:prstGeom>
          <a:solidFill>
            <a:srgbClr val="FFFFFF"/>
          </a:solidFill>
          <a:ln w="12700">
            <a:solidFill>
              <a:srgbClr val="FFFFFF"/>
            </a:solidFill>
            <a:prstDash val="solid"/>
          </a:ln>
        </p:spPr>
        <p:txBody>
          <a:bodyPr/>
          <a:lstStyle/>
          <a:p>
            <a:endParaRPr lang="en-US"/>
          </a:p>
        </p:txBody>
      </p:sp>
      <p:sp>
        <p:nvSpPr>
          <p:cNvPr id="21" name="Shape 19"/>
          <p:cNvSpPr/>
          <p:nvPr/>
        </p:nvSpPr>
        <p:spPr>
          <a:xfrm>
            <a:off x="8584387" y="4619549"/>
            <a:ext cx="49378" cy="246888"/>
          </a:xfrm>
          <a:prstGeom prst="line">
            <a:avLst/>
          </a:prstGeom>
          <a:noFill/>
          <a:ln w="31750">
            <a:solidFill>
              <a:srgbClr val="1A1A1A"/>
            </a:solidFill>
            <a:prstDash val="solid"/>
          </a:ln>
        </p:spPr>
        <p:txBody>
          <a:bodyPr/>
          <a:lstStyle/>
          <a:p>
            <a:endParaRPr lang="en-US"/>
          </a:p>
        </p:txBody>
      </p:sp>
      <p:sp>
        <p:nvSpPr>
          <p:cNvPr id="22" name="Shape 20"/>
          <p:cNvSpPr/>
          <p:nvPr/>
        </p:nvSpPr>
        <p:spPr>
          <a:xfrm>
            <a:off x="8831275" y="4619549"/>
            <a:ext cx="49378" cy="246888"/>
          </a:xfrm>
          <a:prstGeom prst="line">
            <a:avLst/>
          </a:prstGeom>
          <a:noFill/>
          <a:ln w="31750">
            <a:solidFill>
              <a:srgbClr val="1A1A1A"/>
            </a:solidFill>
            <a:prstDash val="solid"/>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37160"/>
            <a:ext cx="7772400" cy="594360"/>
          </a:xfrm>
          <a:prstGeom prst="rect">
            <a:avLst/>
          </a:prstGeom>
          <a:noFill/>
          <a:ln/>
        </p:spPr>
        <p:txBody>
          <a:bodyPr wrap="square" rtlCol="0" anchor="ctr"/>
          <a:lstStyle/>
          <a:p>
            <a:pPr marL="0" indent="0">
              <a:buNone/>
            </a:pPr>
            <a:r>
              <a:rPr lang="en-US" sz="3200" b="1" dirty="0">
                <a:solidFill>
                  <a:srgbClr val="1A5EA8"/>
                </a:solidFill>
                <a:latin typeface="Cambria" pitchFamily="34" charset="0"/>
                <a:ea typeface="Cambria" pitchFamily="34" charset="-122"/>
                <a:cs typeface="Cambria" pitchFamily="34" charset="-120"/>
              </a:rPr>
              <a:t>Answer Key — Form &amp; Meaning</a:t>
            </a:r>
            <a:endParaRPr lang="en-US" sz="3200" dirty="0"/>
          </a:p>
        </p:txBody>
      </p:sp>
      <p:sp>
        <p:nvSpPr>
          <p:cNvPr id="3" name="Shape 1"/>
          <p:cNvSpPr/>
          <p:nvPr/>
        </p:nvSpPr>
        <p:spPr>
          <a:xfrm>
            <a:off x="365760" y="996696"/>
            <a:ext cx="457200" cy="457200"/>
          </a:xfrm>
          <a:prstGeom prst="ellipse">
            <a:avLst/>
          </a:prstGeom>
          <a:solidFill>
            <a:srgbClr val="D93025"/>
          </a:solidFill>
          <a:ln w="12700">
            <a:solidFill>
              <a:srgbClr val="D93025"/>
            </a:solidFill>
            <a:prstDash val="solid"/>
          </a:ln>
        </p:spPr>
        <p:txBody>
          <a:bodyPr/>
          <a:lstStyle/>
          <a:p>
            <a:endParaRPr lang="en-US"/>
          </a:p>
        </p:txBody>
      </p:sp>
      <p:sp>
        <p:nvSpPr>
          <p:cNvPr id="4" name="Text 2"/>
          <p:cNvSpPr/>
          <p:nvPr/>
        </p:nvSpPr>
        <p:spPr>
          <a:xfrm>
            <a:off x="365760" y="996696"/>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960120" y="932688"/>
            <a:ext cx="1234440" cy="347472"/>
          </a:xfrm>
          <a:prstGeom prst="rect">
            <a:avLst/>
          </a:prstGeom>
          <a:noFill/>
          <a:ln/>
        </p:spPr>
        <p:txBody>
          <a:bodyPr wrap="square" rtlCol="0" anchor="ctr"/>
          <a:lstStyle/>
          <a:p>
            <a:pPr marL="0" indent="0">
              <a:buNone/>
            </a:pPr>
            <a:r>
              <a:rPr lang="en-US" sz="1350" b="1" dirty="0">
                <a:solidFill>
                  <a:srgbClr val="D93025"/>
                </a:solidFill>
                <a:latin typeface="Calibri" pitchFamily="34" charset="0"/>
                <a:ea typeface="Calibri" pitchFamily="34" charset="-122"/>
                <a:cs typeface="Calibri" pitchFamily="34" charset="-120"/>
              </a:rPr>
              <a:t>saturday</a:t>
            </a:r>
            <a:endParaRPr lang="en-US" sz="1350" dirty="0"/>
          </a:p>
        </p:txBody>
      </p:sp>
      <p:sp>
        <p:nvSpPr>
          <p:cNvPr id="6" name="Shape 4"/>
          <p:cNvSpPr/>
          <p:nvPr/>
        </p:nvSpPr>
        <p:spPr>
          <a:xfrm>
            <a:off x="960120" y="1261872"/>
            <a:ext cx="1188720" cy="0"/>
          </a:xfrm>
          <a:prstGeom prst="line">
            <a:avLst/>
          </a:prstGeom>
          <a:noFill/>
          <a:ln w="19050">
            <a:solidFill>
              <a:srgbClr val="D93025"/>
            </a:solidFill>
            <a:prstDash val="dash"/>
          </a:ln>
        </p:spPr>
        <p:txBody>
          <a:bodyPr/>
          <a:lstStyle/>
          <a:p>
            <a:endParaRPr lang="en-US"/>
          </a:p>
        </p:txBody>
      </p:sp>
      <p:sp>
        <p:nvSpPr>
          <p:cNvPr id="7" name="Shape 5"/>
          <p:cNvSpPr/>
          <p:nvPr/>
        </p:nvSpPr>
        <p:spPr>
          <a:xfrm>
            <a:off x="2267712" y="1097280"/>
            <a:ext cx="320040" cy="0"/>
          </a:xfrm>
          <a:prstGeom prst="line">
            <a:avLst/>
          </a:prstGeom>
          <a:noFill/>
          <a:ln w="25400">
            <a:solidFill>
              <a:srgbClr val="CC5500"/>
            </a:solidFill>
            <a:prstDash val="solid"/>
            <a:tailEnd type="triangle"/>
          </a:ln>
        </p:spPr>
        <p:txBody>
          <a:bodyPr/>
          <a:lstStyle/>
          <a:p>
            <a:endParaRPr lang="en-US"/>
          </a:p>
        </p:txBody>
      </p:sp>
      <p:sp>
        <p:nvSpPr>
          <p:cNvPr id="8" name="Text 6"/>
          <p:cNvSpPr/>
          <p:nvPr/>
        </p:nvSpPr>
        <p:spPr>
          <a:xfrm>
            <a:off x="2651760" y="932688"/>
            <a:ext cx="1463040" cy="347472"/>
          </a:xfrm>
          <a:prstGeom prst="rect">
            <a:avLst/>
          </a:prstGeom>
          <a:noFill/>
          <a:ln/>
        </p:spPr>
        <p:txBody>
          <a:bodyPr wrap="square" rtlCol="0" anchor="ctr"/>
          <a:lstStyle/>
          <a:p>
            <a:pPr marL="0" indent="0">
              <a:buNone/>
            </a:pPr>
            <a:r>
              <a:rPr lang="en-US" sz="1350" b="1" dirty="0">
                <a:solidFill>
                  <a:srgbClr val="1A5EA8"/>
                </a:solidFill>
                <a:latin typeface="Calibri" pitchFamily="34" charset="0"/>
                <a:ea typeface="Calibri" pitchFamily="34" charset="-122"/>
                <a:cs typeface="Calibri" pitchFamily="34" charset="-120"/>
              </a:rPr>
              <a:t>Saturday</a:t>
            </a:r>
            <a:endParaRPr lang="en-US" sz="1350" dirty="0"/>
          </a:p>
        </p:txBody>
      </p:sp>
      <p:sp>
        <p:nvSpPr>
          <p:cNvPr id="9" name="Shape 7"/>
          <p:cNvSpPr/>
          <p:nvPr/>
        </p:nvSpPr>
        <p:spPr>
          <a:xfrm>
            <a:off x="4206240" y="969264"/>
            <a:ext cx="658368" cy="329184"/>
          </a:xfrm>
          <a:prstGeom prst="roundRect">
            <a:avLst>
              <a:gd name="adj" fmla="val 33333"/>
            </a:avLst>
          </a:prstGeom>
          <a:solidFill>
            <a:srgbClr val="D93025"/>
          </a:solidFill>
          <a:ln w="12700">
            <a:solidFill>
              <a:srgbClr val="D93025"/>
            </a:solidFill>
            <a:prstDash val="solid"/>
          </a:ln>
        </p:spPr>
        <p:txBody>
          <a:bodyPr/>
          <a:lstStyle/>
          <a:p>
            <a:endParaRPr lang="en-US"/>
          </a:p>
        </p:txBody>
      </p:sp>
      <p:sp>
        <p:nvSpPr>
          <p:cNvPr id="10" name="Text 8"/>
          <p:cNvSpPr/>
          <p:nvPr/>
        </p:nvSpPr>
        <p:spPr>
          <a:xfrm>
            <a:off x="4206240" y="969264"/>
            <a:ext cx="658368"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Pass 1</a:t>
            </a:r>
            <a:endParaRPr lang="en-US" sz="1100" dirty="0"/>
          </a:p>
        </p:txBody>
      </p:sp>
      <p:sp>
        <p:nvSpPr>
          <p:cNvPr id="11" name="Shape 9"/>
          <p:cNvSpPr/>
          <p:nvPr/>
        </p:nvSpPr>
        <p:spPr>
          <a:xfrm>
            <a:off x="4983480" y="886968"/>
            <a:ext cx="594360" cy="274320"/>
          </a:xfrm>
          <a:prstGeom prst="roundRect">
            <a:avLst>
              <a:gd name="adj" fmla="val 16667"/>
            </a:avLst>
          </a:prstGeom>
          <a:solidFill>
            <a:srgbClr val="D93025"/>
          </a:solidFill>
          <a:ln w="12700">
            <a:solidFill>
              <a:srgbClr val="D93025"/>
            </a:solidFill>
            <a:prstDash val="solid"/>
          </a:ln>
        </p:spPr>
        <p:txBody>
          <a:bodyPr/>
          <a:lstStyle/>
          <a:p>
            <a:endParaRPr lang="en-US"/>
          </a:p>
        </p:txBody>
      </p:sp>
      <p:sp>
        <p:nvSpPr>
          <p:cNvPr id="12" name="Text 10"/>
          <p:cNvSpPr/>
          <p:nvPr/>
        </p:nvSpPr>
        <p:spPr>
          <a:xfrm>
            <a:off x="4983480" y="886968"/>
            <a:ext cx="59436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FORM</a:t>
            </a:r>
            <a:endParaRPr lang="en-US" sz="900" dirty="0"/>
          </a:p>
        </p:txBody>
      </p:sp>
      <p:sp>
        <p:nvSpPr>
          <p:cNvPr id="13" name="Text 11"/>
          <p:cNvSpPr/>
          <p:nvPr/>
        </p:nvSpPr>
        <p:spPr>
          <a:xfrm>
            <a:off x="5623560" y="868680"/>
            <a:ext cx="3200400" cy="347472"/>
          </a:xfrm>
          <a:prstGeom prst="rect">
            <a:avLst/>
          </a:prstGeom>
          <a:noFill/>
          <a:ln/>
        </p:spPr>
        <p:txBody>
          <a:bodyPr wrap="square" rtlCol="0" anchor="ctr"/>
          <a:lstStyle/>
          <a:p>
            <a:pPr marL="0" indent="0">
              <a:buNone/>
            </a:pPr>
            <a:r>
              <a:rPr lang="en-US" sz="1150" i="1" dirty="0">
                <a:solidFill>
                  <a:srgbClr val="1A1A1A"/>
                </a:solidFill>
                <a:latin typeface="Calibri" pitchFamily="34" charset="0"/>
                <a:ea typeface="Calibri" pitchFamily="34" charset="-122"/>
                <a:cs typeface="Calibri" pitchFamily="34" charset="-120"/>
              </a:rPr>
              <a:t>Proper nouns start with capital letter</a:t>
            </a:r>
            <a:endParaRPr lang="en-US" sz="1150" dirty="0"/>
          </a:p>
        </p:txBody>
      </p:sp>
      <p:sp>
        <p:nvSpPr>
          <p:cNvPr id="14" name="Shape 12"/>
          <p:cNvSpPr/>
          <p:nvPr/>
        </p:nvSpPr>
        <p:spPr>
          <a:xfrm>
            <a:off x="4983480" y="1243584"/>
            <a:ext cx="804672" cy="274320"/>
          </a:xfrm>
          <a:prstGeom prst="roundRect">
            <a:avLst>
              <a:gd name="adj" fmla="val 16667"/>
            </a:avLst>
          </a:prstGeom>
          <a:solidFill>
            <a:srgbClr val="1A5EA8"/>
          </a:solidFill>
          <a:ln w="12700">
            <a:solidFill>
              <a:srgbClr val="1A5EA8"/>
            </a:solidFill>
            <a:prstDash val="solid"/>
          </a:ln>
        </p:spPr>
        <p:txBody>
          <a:bodyPr/>
          <a:lstStyle/>
          <a:p>
            <a:endParaRPr lang="en-US"/>
          </a:p>
        </p:txBody>
      </p:sp>
      <p:sp>
        <p:nvSpPr>
          <p:cNvPr id="15" name="Text 13"/>
          <p:cNvSpPr/>
          <p:nvPr/>
        </p:nvSpPr>
        <p:spPr>
          <a:xfrm>
            <a:off x="4983480" y="1243584"/>
            <a:ext cx="804672"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MEANING</a:t>
            </a:r>
            <a:endParaRPr lang="en-US" sz="900" dirty="0"/>
          </a:p>
        </p:txBody>
      </p:sp>
      <p:sp>
        <p:nvSpPr>
          <p:cNvPr id="16" name="Text 14"/>
          <p:cNvSpPr/>
          <p:nvPr/>
        </p:nvSpPr>
        <p:spPr>
          <a:xfrm>
            <a:off x="5833872" y="1225296"/>
            <a:ext cx="2999232" cy="365760"/>
          </a:xfrm>
          <a:prstGeom prst="rect">
            <a:avLst/>
          </a:prstGeom>
          <a:noFill/>
          <a:ln/>
        </p:spPr>
        <p:txBody>
          <a:bodyPr wrap="square" rtlCol="0" anchor="ctr"/>
          <a:lstStyle/>
          <a:p>
            <a:pPr marL="0" indent="0">
              <a:buNone/>
            </a:pPr>
            <a:r>
              <a:rPr lang="en-US" sz="1100" i="1" dirty="0">
                <a:solidFill>
                  <a:srgbClr val="1A1A1A"/>
                </a:solidFill>
                <a:latin typeface="Calibri" pitchFamily="34" charset="0"/>
                <a:ea typeface="Calibri" pitchFamily="34" charset="-122"/>
                <a:cs typeface="Calibri" pitchFamily="34" charset="-120"/>
              </a:rPr>
              <a:t>Capitals signal specific, named things — not just any day, but that particular day</a:t>
            </a:r>
            <a:endParaRPr lang="en-US" sz="1100" dirty="0"/>
          </a:p>
        </p:txBody>
      </p:sp>
      <p:sp>
        <p:nvSpPr>
          <p:cNvPr id="17" name="Shape 15"/>
          <p:cNvSpPr/>
          <p:nvPr/>
        </p:nvSpPr>
        <p:spPr>
          <a:xfrm>
            <a:off x="365760" y="1837944"/>
            <a:ext cx="457200" cy="457200"/>
          </a:xfrm>
          <a:prstGeom prst="ellipse">
            <a:avLst/>
          </a:prstGeom>
          <a:solidFill>
            <a:srgbClr val="CC5500"/>
          </a:solidFill>
          <a:ln w="12700">
            <a:solidFill>
              <a:srgbClr val="CC5500"/>
            </a:solidFill>
            <a:prstDash val="solid"/>
          </a:ln>
        </p:spPr>
        <p:txBody>
          <a:bodyPr/>
          <a:lstStyle/>
          <a:p>
            <a:endParaRPr lang="en-US"/>
          </a:p>
        </p:txBody>
      </p:sp>
      <p:sp>
        <p:nvSpPr>
          <p:cNvPr id="18" name="Text 16"/>
          <p:cNvSpPr/>
          <p:nvPr/>
        </p:nvSpPr>
        <p:spPr>
          <a:xfrm>
            <a:off x="365760" y="1837944"/>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9" name="Text 17"/>
          <p:cNvSpPr/>
          <p:nvPr/>
        </p:nvSpPr>
        <p:spPr>
          <a:xfrm>
            <a:off x="960120" y="1773936"/>
            <a:ext cx="1234440" cy="347472"/>
          </a:xfrm>
          <a:prstGeom prst="rect">
            <a:avLst/>
          </a:prstGeom>
          <a:noFill/>
          <a:ln/>
        </p:spPr>
        <p:txBody>
          <a:bodyPr wrap="square" rtlCol="0" anchor="ctr"/>
          <a:lstStyle/>
          <a:p>
            <a:pPr marL="0" indent="0">
              <a:buNone/>
            </a:pPr>
            <a:r>
              <a:rPr lang="en-US" sz="1350" b="1" dirty="0">
                <a:solidFill>
                  <a:srgbClr val="D93025"/>
                </a:solidFill>
                <a:latin typeface="Calibri" pitchFamily="34" charset="0"/>
                <a:ea typeface="Calibri" pitchFamily="34" charset="-122"/>
                <a:cs typeface="Calibri" pitchFamily="34" charset="-120"/>
              </a:rPr>
              <a:t>quick</a:t>
            </a:r>
            <a:endParaRPr lang="en-US" sz="1350" dirty="0"/>
          </a:p>
        </p:txBody>
      </p:sp>
      <p:sp>
        <p:nvSpPr>
          <p:cNvPr id="20" name="Shape 18"/>
          <p:cNvSpPr/>
          <p:nvPr/>
        </p:nvSpPr>
        <p:spPr>
          <a:xfrm>
            <a:off x="960120" y="2103120"/>
            <a:ext cx="1188720" cy="0"/>
          </a:xfrm>
          <a:prstGeom prst="line">
            <a:avLst/>
          </a:prstGeom>
          <a:noFill/>
          <a:ln w="19050">
            <a:solidFill>
              <a:srgbClr val="D93025"/>
            </a:solidFill>
            <a:prstDash val="dash"/>
          </a:ln>
        </p:spPr>
        <p:txBody>
          <a:bodyPr/>
          <a:lstStyle/>
          <a:p>
            <a:endParaRPr lang="en-US"/>
          </a:p>
        </p:txBody>
      </p:sp>
      <p:sp>
        <p:nvSpPr>
          <p:cNvPr id="21" name="Shape 19"/>
          <p:cNvSpPr/>
          <p:nvPr/>
        </p:nvSpPr>
        <p:spPr>
          <a:xfrm>
            <a:off x="2267712" y="1938528"/>
            <a:ext cx="320040" cy="0"/>
          </a:xfrm>
          <a:prstGeom prst="line">
            <a:avLst/>
          </a:prstGeom>
          <a:noFill/>
          <a:ln w="25400">
            <a:solidFill>
              <a:srgbClr val="CC5500"/>
            </a:solidFill>
            <a:prstDash val="solid"/>
            <a:tailEnd type="triangle"/>
          </a:ln>
        </p:spPr>
        <p:txBody>
          <a:bodyPr/>
          <a:lstStyle/>
          <a:p>
            <a:endParaRPr lang="en-US"/>
          </a:p>
        </p:txBody>
      </p:sp>
      <p:sp>
        <p:nvSpPr>
          <p:cNvPr id="22" name="Text 20"/>
          <p:cNvSpPr/>
          <p:nvPr/>
        </p:nvSpPr>
        <p:spPr>
          <a:xfrm>
            <a:off x="2651760" y="1773936"/>
            <a:ext cx="1463040" cy="347472"/>
          </a:xfrm>
          <a:prstGeom prst="rect">
            <a:avLst/>
          </a:prstGeom>
          <a:noFill/>
          <a:ln/>
        </p:spPr>
        <p:txBody>
          <a:bodyPr wrap="square" rtlCol="0" anchor="ctr"/>
          <a:lstStyle/>
          <a:p>
            <a:pPr marL="0" indent="0">
              <a:buNone/>
            </a:pPr>
            <a:r>
              <a:rPr lang="en-US" sz="1350" b="1" dirty="0">
                <a:solidFill>
                  <a:srgbClr val="1A5EA8"/>
                </a:solidFill>
                <a:latin typeface="Calibri" pitchFamily="34" charset="0"/>
                <a:ea typeface="Calibri" pitchFamily="34" charset="-122"/>
                <a:cs typeface="Calibri" pitchFamily="34" charset="-120"/>
              </a:rPr>
              <a:t>quickly</a:t>
            </a:r>
            <a:endParaRPr lang="en-US" sz="1350" dirty="0"/>
          </a:p>
        </p:txBody>
      </p:sp>
      <p:sp>
        <p:nvSpPr>
          <p:cNvPr id="23" name="Shape 21"/>
          <p:cNvSpPr/>
          <p:nvPr/>
        </p:nvSpPr>
        <p:spPr>
          <a:xfrm>
            <a:off x="4206240" y="1810512"/>
            <a:ext cx="658368" cy="329184"/>
          </a:xfrm>
          <a:prstGeom prst="roundRect">
            <a:avLst>
              <a:gd name="adj" fmla="val 33333"/>
            </a:avLst>
          </a:prstGeom>
          <a:solidFill>
            <a:srgbClr val="CC5500"/>
          </a:solidFill>
          <a:ln w="12700">
            <a:solidFill>
              <a:srgbClr val="CC5500"/>
            </a:solidFill>
            <a:prstDash val="solid"/>
          </a:ln>
        </p:spPr>
        <p:txBody>
          <a:bodyPr/>
          <a:lstStyle/>
          <a:p>
            <a:endParaRPr lang="en-US"/>
          </a:p>
        </p:txBody>
      </p:sp>
      <p:sp>
        <p:nvSpPr>
          <p:cNvPr id="24" name="Text 22"/>
          <p:cNvSpPr/>
          <p:nvPr/>
        </p:nvSpPr>
        <p:spPr>
          <a:xfrm>
            <a:off x="4206240" y="1810512"/>
            <a:ext cx="658368"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Pass 2</a:t>
            </a:r>
            <a:endParaRPr lang="en-US" sz="1100" dirty="0"/>
          </a:p>
        </p:txBody>
      </p:sp>
      <p:sp>
        <p:nvSpPr>
          <p:cNvPr id="25" name="Shape 23"/>
          <p:cNvSpPr/>
          <p:nvPr/>
        </p:nvSpPr>
        <p:spPr>
          <a:xfrm>
            <a:off x="4983480" y="1728216"/>
            <a:ext cx="594360" cy="274320"/>
          </a:xfrm>
          <a:prstGeom prst="roundRect">
            <a:avLst>
              <a:gd name="adj" fmla="val 16667"/>
            </a:avLst>
          </a:prstGeom>
          <a:solidFill>
            <a:srgbClr val="D93025"/>
          </a:solidFill>
          <a:ln w="12700">
            <a:solidFill>
              <a:srgbClr val="D93025"/>
            </a:solidFill>
            <a:prstDash val="solid"/>
          </a:ln>
        </p:spPr>
        <p:txBody>
          <a:bodyPr/>
          <a:lstStyle/>
          <a:p>
            <a:endParaRPr lang="en-US"/>
          </a:p>
        </p:txBody>
      </p:sp>
      <p:sp>
        <p:nvSpPr>
          <p:cNvPr id="26" name="Text 24"/>
          <p:cNvSpPr/>
          <p:nvPr/>
        </p:nvSpPr>
        <p:spPr>
          <a:xfrm>
            <a:off x="4983480" y="1728216"/>
            <a:ext cx="59436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FORM</a:t>
            </a:r>
            <a:endParaRPr lang="en-US" sz="900" dirty="0"/>
          </a:p>
        </p:txBody>
      </p:sp>
      <p:sp>
        <p:nvSpPr>
          <p:cNvPr id="27" name="Text 25"/>
          <p:cNvSpPr/>
          <p:nvPr/>
        </p:nvSpPr>
        <p:spPr>
          <a:xfrm>
            <a:off x="5623560" y="1709928"/>
            <a:ext cx="3200400" cy="347472"/>
          </a:xfrm>
          <a:prstGeom prst="rect">
            <a:avLst/>
          </a:prstGeom>
          <a:noFill/>
          <a:ln/>
        </p:spPr>
        <p:txBody>
          <a:bodyPr wrap="square" rtlCol="0" anchor="ctr"/>
          <a:lstStyle/>
          <a:p>
            <a:pPr marL="0" indent="0">
              <a:buNone/>
            </a:pPr>
            <a:r>
              <a:rPr lang="en-US" sz="1150" i="1" dirty="0">
                <a:solidFill>
                  <a:srgbClr val="1A1A1A"/>
                </a:solidFill>
                <a:latin typeface="Calibri" pitchFamily="34" charset="0"/>
                <a:ea typeface="Calibri" pitchFamily="34" charset="-122"/>
                <a:cs typeface="Calibri" pitchFamily="34" charset="-120"/>
              </a:rPr>
              <a:t>Adverb form (-ly) required to modify a verb</a:t>
            </a:r>
            <a:endParaRPr lang="en-US" sz="1150" dirty="0"/>
          </a:p>
        </p:txBody>
      </p:sp>
      <p:sp>
        <p:nvSpPr>
          <p:cNvPr id="28" name="Shape 26"/>
          <p:cNvSpPr/>
          <p:nvPr/>
        </p:nvSpPr>
        <p:spPr>
          <a:xfrm>
            <a:off x="4983480" y="2084832"/>
            <a:ext cx="804672" cy="274320"/>
          </a:xfrm>
          <a:prstGeom prst="roundRect">
            <a:avLst>
              <a:gd name="adj" fmla="val 16667"/>
            </a:avLst>
          </a:prstGeom>
          <a:solidFill>
            <a:srgbClr val="1A5EA8"/>
          </a:solidFill>
          <a:ln w="12700">
            <a:solidFill>
              <a:srgbClr val="1A5EA8"/>
            </a:solidFill>
            <a:prstDash val="solid"/>
          </a:ln>
        </p:spPr>
        <p:txBody>
          <a:bodyPr/>
          <a:lstStyle/>
          <a:p>
            <a:endParaRPr lang="en-US"/>
          </a:p>
        </p:txBody>
      </p:sp>
      <p:sp>
        <p:nvSpPr>
          <p:cNvPr id="29" name="Text 27"/>
          <p:cNvSpPr/>
          <p:nvPr/>
        </p:nvSpPr>
        <p:spPr>
          <a:xfrm>
            <a:off x="4983480" y="2084832"/>
            <a:ext cx="804672"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MEANING</a:t>
            </a:r>
            <a:endParaRPr lang="en-US" sz="900" dirty="0"/>
          </a:p>
        </p:txBody>
      </p:sp>
      <p:sp>
        <p:nvSpPr>
          <p:cNvPr id="30" name="Text 28"/>
          <p:cNvSpPr/>
          <p:nvPr/>
        </p:nvSpPr>
        <p:spPr>
          <a:xfrm>
            <a:off x="5833872" y="2066544"/>
            <a:ext cx="2999232" cy="365760"/>
          </a:xfrm>
          <a:prstGeom prst="rect">
            <a:avLst/>
          </a:prstGeom>
          <a:noFill/>
          <a:ln/>
        </p:spPr>
        <p:txBody>
          <a:bodyPr wrap="square" rtlCol="0" anchor="ctr"/>
          <a:lstStyle/>
          <a:p>
            <a:pPr marL="0" indent="0">
              <a:buNone/>
            </a:pPr>
            <a:r>
              <a:rPr lang="en-US" sz="1100" i="1" dirty="0">
                <a:solidFill>
                  <a:srgbClr val="1A1A1A"/>
                </a:solidFill>
                <a:latin typeface="Calibri" pitchFamily="34" charset="0"/>
                <a:ea typeface="Calibri" pitchFamily="34" charset="-122"/>
                <a:cs typeface="Calibri" pitchFamily="34" charset="-120"/>
              </a:rPr>
              <a:t>Tells us HOW they worked — quickly signals effort and manner, not just a description of them</a:t>
            </a:r>
            <a:endParaRPr lang="en-US" sz="1100" dirty="0"/>
          </a:p>
        </p:txBody>
      </p:sp>
      <p:sp>
        <p:nvSpPr>
          <p:cNvPr id="31" name="Shape 29"/>
          <p:cNvSpPr/>
          <p:nvPr/>
        </p:nvSpPr>
        <p:spPr>
          <a:xfrm>
            <a:off x="365760" y="2679192"/>
            <a:ext cx="457200" cy="457200"/>
          </a:xfrm>
          <a:prstGeom prst="ellipse">
            <a:avLst/>
          </a:prstGeom>
          <a:solidFill>
            <a:srgbClr val="1A5EA8"/>
          </a:solidFill>
          <a:ln w="12700">
            <a:solidFill>
              <a:srgbClr val="1A5EA8"/>
            </a:solidFill>
            <a:prstDash val="solid"/>
          </a:ln>
        </p:spPr>
        <p:txBody>
          <a:bodyPr/>
          <a:lstStyle/>
          <a:p>
            <a:endParaRPr lang="en-US"/>
          </a:p>
        </p:txBody>
      </p:sp>
      <p:sp>
        <p:nvSpPr>
          <p:cNvPr id="32" name="Text 30"/>
          <p:cNvSpPr/>
          <p:nvPr/>
        </p:nvSpPr>
        <p:spPr>
          <a:xfrm>
            <a:off x="365760" y="2679192"/>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3" name="Text 31"/>
          <p:cNvSpPr/>
          <p:nvPr/>
        </p:nvSpPr>
        <p:spPr>
          <a:xfrm>
            <a:off x="960120" y="2615184"/>
            <a:ext cx="1234440" cy="347472"/>
          </a:xfrm>
          <a:prstGeom prst="rect">
            <a:avLst/>
          </a:prstGeom>
          <a:noFill/>
          <a:ln/>
        </p:spPr>
        <p:txBody>
          <a:bodyPr wrap="square" rtlCol="0" anchor="ctr"/>
          <a:lstStyle/>
          <a:p>
            <a:pPr marL="0" indent="0">
              <a:buNone/>
            </a:pPr>
            <a:r>
              <a:rPr lang="en-US" sz="1350" b="1" dirty="0">
                <a:solidFill>
                  <a:srgbClr val="D93025"/>
                </a:solidFill>
                <a:latin typeface="Calibri" pitchFamily="34" charset="0"/>
                <a:ea typeface="Calibri" pitchFamily="34" charset="-122"/>
                <a:cs typeface="Calibri" pitchFamily="34" charset="-120"/>
              </a:rPr>
              <a:t>was excited</a:t>
            </a:r>
            <a:endParaRPr lang="en-US" sz="1350" dirty="0"/>
          </a:p>
        </p:txBody>
      </p:sp>
      <p:sp>
        <p:nvSpPr>
          <p:cNvPr id="34" name="Shape 32"/>
          <p:cNvSpPr/>
          <p:nvPr/>
        </p:nvSpPr>
        <p:spPr>
          <a:xfrm>
            <a:off x="960120" y="2944368"/>
            <a:ext cx="1188720" cy="0"/>
          </a:xfrm>
          <a:prstGeom prst="line">
            <a:avLst/>
          </a:prstGeom>
          <a:noFill/>
          <a:ln w="19050">
            <a:solidFill>
              <a:srgbClr val="D93025"/>
            </a:solidFill>
            <a:prstDash val="dash"/>
          </a:ln>
        </p:spPr>
        <p:txBody>
          <a:bodyPr/>
          <a:lstStyle/>
          <a:p>
            <a:endParaRPr lang="en-US"/>
          </a:p>
        </p:txBody>
      </p:sp>
      <p:sp>
        <p:nvSpPr>
          <p:cNvPr id="35" name="Shape 33"/>
          <p:cNvSpPr/>
          <p:nvPr/>
        </p:nvSpPr>
        <p:spPr>
          <a:xfrm>
            <a:off x="2267712" y="2779776"/>
            <a:ext cx="320040" cy="0"/>
          </a:xfrm>
          <a:prstGeom prst="line">
            <a:avLst/>
          </a:prstGeom>
          <a:noFill/>
          <a:ln w="25400">
            <a:solidFill>
              <a:srgbClr val="CC5500"/>
            </a:solidFill>
            <a:prstDash val="solid"/>
            <a:tailEnd type="triangle"/>
          </a:ln>
        </p:spPr>
        <p:txBody>
          <a:bodyPr/>
          <a:lstStyle/>
          <a:p>
            <a:endParaRPr lang="en-US"/>
          </a:p>
        </p:txBody>
      </p:sp>
      <p:sp>
        <p:nvSpPr>
          <p:cNvPr id="36" name="Text 34"/>
          <p:cNvSpPr/>
          <p:nvPr/>
        </p:nvSpPr>
        <p:spPr>
          <a:xfrm>
            <a:off x="2651760" y="2615184"/>
            <a:ext cx="1463040" cy="347472"/>
          </a:xfrm>
          <a:prstGeom prst="rect">
            <a:avLst/>
          </a:prstGeom>
          <a:noFill/>
          <a:ln/>
        </p:spPr>
        <p:txBody>
          <a:bodyPr wrap="square" rtlCol="0" anchor="ctr"/>
          <a:lstStyle/>
          <a:p>
            <a:pPr marL="0" indent="0">
              <a:buNone/>
            </a:pPr>
            <a:r>
              <a:rPr lang="en-US" sz="1350" b="1" dirty="0">
                <a:solidFill>
                  <a:srgbClr val="1A5EA8"/>
                </a:solidFill>
                <a:latin typeface="Calibri" pitchFamily="34" charset="0"/>
                <a:ea typeface="Calibri" pitchFamily="34" charset="-122"/>
                <a:cs typeface="Calibri" pitchFamily="34" charset="-120"/>
              </a:rPr>
              <a:t>were excited</a:t>
            </a:r>
            <a:endParaRPr lang="en-US" sz="1350" dirty="0"/>
          </a:p>
        </p:txBody>
      </p:sp>
      <p:sp>
        <p:nvSpPr>
          <p:cNvPr id="37" name="Shape 35"/>
          <p:cNvSpPr/>
          <p:nvPr/>
        </p:nvSpPr>
        <p:spPr>
          <a:xfrm>
            <a:off x="4206240" y="2651760"/>
            <a:ext cx="658368" cy="329184"/>
          </a:xfrm>
          <a:prstGeom prst="roundRect">
            <a:avLst>
              <a:gd name="adj" fmla="val 33333"/>
            </a:avLst>
          </a:prstGeom>
          <a:solidFill>
            <a:srgbClr val="1A5EA8"/>
          </a:solidFill>
          <a:ln w="12700">
            <a:solidFill>
              <a:srgbClr val="1A5EA8"/>
            </a:solidFill>
            <a:prstDash val="solid"/>
          </a:ln>
        </p:spPr>
        <p:txBody>
          <a:bodyPr/>
          <a:lstStyle/>
          <a:p>
            <a:endParaRPr lang="en-US"/>
          </a:p>
        </p:txBody>
      </p:sp>
      <p:sp>
        <p:nvSpPr>
          <p:cNvPr id="38" name="Text 36"/>
          <p:cNvSpPr/>
          <p:nvPr/>
        </p:nvSpPr>
        <p:spPr>
          <a:xfrm>
            <a:off x="4206240" y="2651760"/>
            <a:ext cx="658368"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Pass 3</a:t>
            </a:r>
            <a:endParaRPr lang="en-US" sz="1100" dirty="0"/>
          </a:p>
        </p:txBody>
      </p:sp>
      <p:sp>
        <p:nvSpPr>
          <p:cNvPr id="39" name="Shape 37"/>
          <p:cNvSpPr/>
          <p:nvPr/>
        </p:nvSpPr>
        <p:spPr>
          <a:xfrm>
            <a:off x="4983480" y="2569464"/>
            <a:ext cx="594360" cy="274320"/>
          </a:xfrm>
          <a:prstGeom prst="roundRect">
            <a:avLst>
              <a:gd name="adj" fmla="val 16667"/>
            </a:avLst>
          </a:prstGeom>
          <a:solidFill>
            <a:srgbClr val="D93025"/>
          </a:solidFill>
          <a:ln w="12700">
            <a:solidFill>
              <a:srgbClr val="D93025"/>
            </a:solidFill>
            <a:prstDash val="solid"/>
          </a:ln>
        </p:spPr>
        <p:txBody>
          <a:bodyPr/>
          <a:lstStyle/>
          <a:p>
            <a:endParaRPr lang="en-US"/>
          </a:p>
        </p:txBody>
      </p:sp>
      <p:sp>
        <p:nvSpPr>
          <p:cNvPr id="40" name="Text 38"/>
          <p:cNvSpPr/>
          <p:nvPr/>
        </p:nvSpPr>
        <p:spPr>
          <a:xfrm>
            <a:off x="4983480" y="2569464"/>
            <a:ext cx="59436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FORM</a:t>
            </a:r>
            <a:endParaRPr lang="en-US" sz="900" dirty="0"/>
          </a:p>
        </p:txBody>
      </p:sp>
      <p:sp>
        <p:nvSpPr>
          <p:cNvPr id="41" name="Text 39"/>
          <p:cNvSpPr/>
          <p:nvPr/>
        </p:nvSpPr>
        <p:spPr>
          <a:xfrm>
            <a:off x="5623560" y="2551176"/>
            <a:ext cx="3200400" cy="347472"/>
          </a:xfrm>
          <a:prstGeom prst="rect">
            <a:avLst/>
          </a:prstGeom>
          <a:noFill/>
          <a:ln/>
        </p:spPr>
        <p:txBody>
          <a:bodyPr wrap="square" rtlCol="0" anchor="ctr"/>
          <a:lstStyle/>
          <a:p>
            <a:pPr marL="0" indent="0">
              <a:buNone/>
            </a:pPr>
            <a:r>
              <a:rPr lang="en-US" sz="1150" i="1" dirty="0">
                <a:solidFill>
                  <a:srgbClr val="1A1A1A"/>
                </a:solidFill>
                <a:latin typeface="Calibri" pitchFamily="34" charset="0"/>
                <a:ea typeface="Calibri" pitchFamily="34" charset="-122"/>
                <a:cs typeface="Calibri" pitchFamily="34" charset="-120"/>
              </a:rPr>
              <a:t>Plural subject 'the whole class' requires plural verb</a:t>
            </a:r>
            <a:endParaRPr lang="en-US" sz="1150" dirty="0"/>
          </a:p>
        </p:txBody>
      </p:sp>
      <p:sp>
        <p:nvSpPr>
          <p:cNvPr id="42" name="Shape 40"/>
          <p:cNvSpPr/>
          <p:nvPr/>
        </p:nvSpPr>
        <p:spPr>
          <a:xfrm>
            <a:off x="4983480" y="2926080"/>
            <a:ext cx="804672" cy="274320"/>
          </a:xfrm>
          <a:prstGeom prst="roundRect">
            <a:avLst>
              <a:gd name="adj" fmla="val 16667"/>
            </a:avLst>
          </a:prstGeom>
          <a:solidFill>
            <a:srgbClr val="1A5EA8"/>
          </a:solidFill>
          <a:ln w="12700">
            <a:solidFill>
              <a:srgbClr val="1A5EA8"/>
            </a:solidFill>
            <a:prstDash val="solid"/>
          </a:ln>
        </p:spPr>
        <p:txBody>
          <a:bodyPr/>
          <a:lstStyle/>
          <a:p>
            <a:endParaRPr lang="en-US"/>
          </a:p>
        </p:txBody>
      </p:sp>
      <p:sp>
        <p:nvSpPr>
          <p:cNvPr id="43" name="Text 41"/>
          <p:cNvSpPr/>
          <p:nvPr/>
        </p:nvSpPr>
        <p:spPr>
          <a:xfrm>
            <a:off x="4983480" y="2926080"/>
            <a:ext cx="804672"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MEANING</a:t>
            </a:r>
            <a:endParaRPr lang="en-US" sz="900" dirty="0"/>
          </a:p>
        </p:txBody>
      </p:sp>
      <p:sp>
        <p:nvSpPr>
          <p:cNvPr id="44" name="Text 42"/>
          <p:cNvSpPr/>
          <p:nvPr/>
        </p:nvSpPr>
        <p:spPr>
          <a:xfrm>
            <a:off x="5833872" y="2907792"/>
            <a:ext cx="2999232" cy="365760"/>
          </a:xfrm>
          <a:prstGeom prst="rect">
            <a:avLst/>
          </a:prstGeom>
          <a:noFill/>
          <a:ln/>
        </p:spPr>
        <p:txBody>
          <a:bodyPr wrap="square" rtlCol="0" anchor="ctr"/>
          <a:lstStyle/>
          <a:p>
            <a:pPr marL="0" indent="0">
              <a:buNone/>
            </a:pPr>
            <a:r>
              <a:rPr lang="en-US" sz="1100" i="1" dirty="0">
                <a:solidFill>
                  <a:srgbClr val="1A1A1A"/>
                </a:solidFill>
                <a:latin typeface="Calibri" pitchFamily="34" charset="0"/>
                <a:ea typeface="Calibri" pitchFamily="34" charset="-122"/>
                <a:cs typeface="Calibri" pitchFamily="34" charset="-120"/>
              </a:rPr>
              <a:t>'Was' says one person felt this. 'Were' says ALL of them felt it — changes the scale of the emotion</a:t>
            </a:r>
            <a:endParaRPr lang="en-US" sz="1100" dirty="0"/>
          </a:p>
        </p:txBody>
      </p:sp>
      <p:sp>
        <p:nvSpPr>
          <p:cNvPr id="45" name="Shape 43"/>
          <p:cNvSpPr/>
          <p:nvPr/>
        </p:nvSpPr>
        <p:spPr>
          <a:xfrm>
            <a:off x="365760" y="3520440"/>
            <a:ext cx="457200" cy="457200"/>
          </a:xfrm>
          <a:prstGeom prst="ellipse">
            <a:avLst/>
          </a:prstGeom>
          <a:solidFill>
            <a:srgbClr val="1A5EA8"/>
          </a:solidFill>
          <a:ln w="12700">
            <a:solidFill>
              <a:srgbClr val="1A5EA8"/>
            </a:solidFill>
            <a:prstDash val="solid"/>
          </a:ln>
        </p:spPr>
        <p:txBody>
          <a:bodyPr/>
          <a:lstStyle/>
          <a:p>
            <a:endParaRPr lang="en-US"/>
          </a:p>
        </p:txBody>
      </p:sp>
      <p:sp>
        <p:nvSpPr>
          <p:cNvPr id="46" name="Text 44"/>
          <p:cNvSpPr/>
          <p:nvPr/>
        </p:nvSpPr>
        <p:spPr>
          <a:xfrm>
            <a:off x="365760" y="352044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7" name="Text 45"/>
          <p:cNvSpPr/>
          <p:nvPr/>
        </p:nvSpPr>
        <p:spPr>
          <a:xfrm>
            <a:off x="960120" y="3456432"/>
            <a:ext cx="1234440" cy="347472"/>
          </a:xfrm>
          <a:prstGeom prst="rect">
            <a:avLst/>
          </a:prstGeom>
          <a:noFill/>
          <a:ln/>
        </p:spPr>
        <p:txBody>
          <a:bodyPr wrap="square" rtlCol="0" anchor="ctr"/>
          <a:lstStyle/>
          <a:p>
            <a:pPr marL="0" indent="0">
              <a:buNone/>
            </a:pPr>
            <a:r>
              <a:rPr lang="en-US" sz="1350" b="1" dirty="0">
                <a:solidFill>
                  <a:srgbClr val="D93025"/>
                </a:solidFill>
                <a:latin typeface="Calibri" pitchFamily="34" charset="0"/>
                <a:ea typeface="Calibri" pitchFamily="34" charset="-122"/>
                <a:cs typeface="Calibri" pitchFamily="34" charset="-120"/>
              </a:rPr>
              <a:t>go</a:t>
            </a:r>
            <a:endParaRPr lang="en-US" sz="1350" dirty="0"/>
          </a:p>
        </p:txBody>
      </p:sp>
      <p:sp>
        <p:nvSpPr>
          <p:cNvPr id="48" name="Shape 46"/>
          <p:cNvSpPr/>
          <p:nvPr/>
        </p:nvSpPr>
        <p:spPr>
          <a:xfrm>
            <a:off x="960120" y="3785616"/>
            <a:ext cx="1188720" cy="0"/>
          </a:xfrm>
          <a:prstGeom prst="line">
            <a:avLst/>
          </a:prstGeom>
          <a:noFill/>
          <a:ln w="19050">
            <a:solidFill>
              <a:srgbClr val="D93025"/>
            </a:solidFill>
            <a:prstDash val="dash"/>
          </a:ln>
        </p:spPr>
        <p:txBody>
          <a:bodyPr/>
          <a:lstStyle/>
          <a:p>
            <a:endParaRPr lang="en-US"/>
          </a:p>
        </p:txBody>
      </p:sp>
      <p:sp>
        <p:nvSpPr>
          <p:cNvPr id="49" name="Shape 47"/>
          <p:cNvSpPr/>
          <p:nvPr/>
        </p:nvSpPr>
        <p:spPr>
          <a:xfrm>
            <a:off x="2267712" y="3621024"/>
            <a:ext cx="320040" cy="0"/>
          </a:xfrm>
          <a:prstGeom prst="line">
            <a:avLst/>
          </a:prstGeom>
          <a:noFill/>
          <a:ln w="25400">
            <a:solidFill>
              <a:srgbClr val="CC5500"/>
            </a:solidFill>
            <a:prstDash val="solid"/>
            <a:tailEnd type="triangle"/>
          </a:ln>
        </p:spPr>
        <p:txBody>
          <a:bodyPr/>
          <a:lstStyle/>
          <a:p>
            <a:endParaRPr lang="en-US"/>
          </a:p>
        </p:txBody>
      </p:sp>
      <p:sp>
        <p:nvSpPr>
          <p:cNvPr id="50" name="Text 48"/>
          <p:cNvSpPr/>
          <p:nvPr/>
        </p:nvSpPr>
        <p:spPr>
          <a:xfrm>
            <a:off x="2651760" y="3456432"/>
            <a:ext cx="1463040" cy="347472"/>
          </a:xfrm>
          <a:prstGeom prst="rect">
            <a:avLst/>
          </a:prstGeom>
          <a:noFill/>
          <a:ln/>
        </p:spPr>
        <p:txBody>
          <a:bodyPr wrap="square" rtlCol="0" anchor="ctr"/>
          <a:lstStyle/>
          <a:p>
            <a:pPr marL="0" indent="0">
              <a:buNone/>
            </a:pPr>
            <a:r>
              <a:rPr lang="en-US" sz="1350" b="1" dirty="0">
                <a:solidFill>
                  <a:srgbClr val="1A5EA8"/>
                </a:solidFill>
                <a:latin typeface="Calibri" pitchFamily="34" charset="0"/>
                <a:ea typeface="Calibri" pitchFamily="34" charset="-122"/>
                <a:cs typeface="Calibri" pitchFamily="34" charset="-120"/>
              </a:rPr>
              <a:t>went</a:t>
            </a:r>
            <a:endParaRPr lang="en-US" sz="1350" dirty="0"/>
          </a:p>
        </p:txBody>
      </p:sp>
      <p:sp>
        <p:nvSpPr>
          <p:cNvPr id="51" name="Shape 49"/>
          <p:cNvSpPr/>
          <p:nvPr/>
        </p:nvSpPr>
        <p:spPr>
          <a:xfrm>
            <a:off x="4206240" y="3493008"/>
            <a:ext cx="658368" cy="329184"/>
          </a:xfrm>
          <a:prstGeom prst="roundRect">
            <a:avLst>
              <a:gd name="adj" fmla="val 33333"/>
            </a:avLst>
          </a:prstGeom>
          <a:solidFill>
            <a:srgbClr val="1A5EA8"/>
          </a:solidFill>
          <a:ln w="12700">
            <a:solidFill>
              <a:srgbClr val="1A5EA8"/>
            </a:solidFill>
            <a:prstDash val="solid"/>
          </a:ln>
        </p:spPr>
        <p:txBody>
          <a:bodyPr/>
          <a:lstStyle/>
          <a:p>
            <a:endParaRPr lang="en-US"/>
          </a:p>
        </p:txBody>
      </p:sp>
      <p:sp>
        <p:nvSpPr>
          <p:cNvPr id="52" name="Text 50"/>
          <p:cNvSpPr/>
          <p:nvPr/>
        </p:nvSpPr>
        <p:spPr>
          <a:xfrm>
            <a:off x="4206240" y="3493008"/>
            <a:ext cx="658368"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Pass 3</a:t>
            </a:r>
            <a:endParaRPr lang="en-US" sz="1100" dirty="0"/>
          </a:p>
        </p:txBody>
      </p:sp>
      <p:sp>
        <p:nvSpPr>
          <p:cNvPr id="53" name="Shape 51"/>
          <p:cNvSpPr/>
          <p:nvPr/>
        </p:nvSpPr>
        <p:spPr>
          <a:xfrm>
            <a:off x="4983480" y="3410712"/>
            <a:ext cx="594360" cy="274320"/>
          </a:xfrm>
          <a:prstGeom prst="roundRect">
            <a:avLst>
              <a:gd name="adj" fmla="val 16667"/>
            </a:avLst>
          </a:prstGeom>
          <a:solidFill>
            <a:srgbClr val="D93025"/>
          </a:solidFill>
          <a:ln w="12700">
            <a:solidFill>
              <a:srgbClr val="D93025"/>
            </a:solidFill>
            <a:prstDash val="solid"/>
          </a:ln>
        </p:spPr>
        <p:txBody>
          <a:bodyPr/>
          <a:lstStyle/>
          <a:p>
            <a:endParaRPr lang="en-US"/>
          </a:p>
        </p:txBody>
      </p:sp>
      <p:sp>
        <p:nvSpPr>
          <p:cNvPr id="54" name="Text 52"/>
          <p:cNvSpPr/>
          <p:nvPr/>
        </p:nvSpPr>
        <p:spPr>
          <a:xfrm>
            <a:off x="4983480" y="3410712"/>
            <a:ext cx="59436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FORM</a:t>
            </a:r>
            <a:endParaRPr lang="en-US" sz="900" dirty="0"/>
          </a:p>
        </p:txBody>
      </p:sp>
      <p:sp>
        <p:nvSpPr>
          <p:cNvPr id="55" name="Text 53"/>
          <p:cNvSpPr/>
          <p:nvPr/>
        </p:nvSpPr>
        <p:spPr>
          <a:xfrm>
            <a:off x="5623560" y="3392424"/>
            <a:ext cx="3200400" cy="347472"/>
          </a:xfrm>
          <a:prstGeom prst="rect">
            <a:avLst/>
          </a:prstGeom>
          <a:noFill/>
          <a:ln/>
        </p:spPr>
        <p:txBody>
          <a:bodyPr wrap="square" rtlCol="0" anchor="ctr"/>
          <a:lstStyle/>
          <a:p>
            <a:pPr marL="0" indent="0">
              <a:buNone/>
            </a:pPr>
            <a:r>
              <a:rPr lang="en-US" sz="1150" i="1" dirty="0">
                <a:solidFill>
                  <a:srgbClr val="1A1A1A"/>
                </a:solidFill>
                <a:latin typeface="Calibri" pitchFamily="34" charset="0"/>
                <a:ea typeface="Calibri" pitchFamily="34" charset="-122"/>
                <a:cs typeface="Calibri" pitchFamily="34" charset="-120"/>
              </a:rPr>
              <a:t>Past tense verb required after 'yesterday evening'</a:t>
            </a:r>
            <a:endParaRPr lang="en-US" sz="1150" dirty="0"/>
          </a:p>
        </p:txBody>
      </p:sp>
      <p:sp>
        <p:nvSpPr>
          <p:cNvPr id="56" name="Shape 54"/>
          <p:cNvSpPr/>
          <p:nvPr/>
        </p:nvSpPr>
        <p:spPr>
          <a:xfrm>
            <a:off x="4983480" y="3767328"/>
            <a:ext cx="804672" cy="274320"/>
          </a:xfrm>
          <a:prstGeom prst="roundRect">
            <a:avLst>
              <a:gd name="adj" fmla="val 16667"/>
            </a:avLst>
          </a:prstGeom>
          <a:solidFill>
            <a:srgbClr val="1A5EA8"/>
          </a:solidFill>
          <a:ln w="12700">
            <a:solidFill>
              <a:srgbClr val="1A5EA8"/>
            </a:solidFill>
            <a:prstDash val="solid"/>
          </a:ln>
        </p:spPr>
        <p:txBody>
          <a:bodyPr/>
          <a:lstStyle/>
          <a:p>
            <a:endParaRPr lang="en-US"/>
          </a:p>
        </p:txBody>
      </p:sp>
      <p:sp>
        <p:nvSpPr>
          <p:cNvPr id="57" name="Text 55"/>
          <p:cNvSpPr/>
          <p:nvPr/>
        </p:nvSpPr>
        <p:spPr>
          <a:xfrm>
            <a:off x="4983480" y="3767328"/>
            <a:ext cx="804672"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MEANING</a:t>
            </a:r>
            <a:endParaRPr lang="en-US" sz="900" dirty="0"/>
          </a:p>
        </p:txBody>
      </p:sp>
      <p:sp>
        <p:nvSpPr>
          <p:cNvPr id="58" name="Text 56"/>
          <p:cNvSpPr/>
          <p:nvPr/>
        </p:nvSpPr>
        <p:spPr>
          <a:xfrm>
            <a:off x="5833872" y="3749040"/>
            <a:ext cx="2999232" cy="365760"/>
          </a:xfrm>
          <a:prstGeom prst="rect">
            <a:avLst/>
          </a:prstGeom>
          <a:noFill/>
          <a:ln/>
        </p:spPr>
        <p:txBody>
          <a:bodyPr wrap="square" rtlCol="0" anchor="ctr"/>
          <a:lstStyle/>
          <a:p>
            <a:pPr marL="0" indent="0">
              <a:buNone/>
            </a:pPr>
            <a:r>
              <a:rPr lang="en-US" sz="1100" i="1" dirty="0">
                <a:solidFill>
                  <a:srgbClr val="1A1A1A"/>
                </a:solidFill>
                <a:latin typeface="Calibri" pitchFamily="34" charset="0"/>
                <a:ea typeface="Calibri" pitchFamily="34" charset="-122"/>
                <a:cs typeface="Calibri" pitchFamily="34" charset="-120"/>
              </a:rPr>
              <a:t>'Go' leaves the time ambiguous — 'went' anchors the action firmly in the past</a:t>
            </a:r>
            <a:endParaRPr lang="en-US" sz="1100" dirty="0"/>
          </a:p>
        </p:txBody>
      </p:sp>
      <p:sp>
        <p:nvSpPr>
          <p:cNvPr id="59" name="Shape 57"/>
          <p:cNvSpPr/>
          <p:nvPr/>
        </p:nvSpPr>
        <p:spPr>
          <a:xfrm>
            <a:off x="365760" y="4361688"/>
            <a:ext cx="457200" cy="457200"/>
          </a:xfrm>
          <a:prstGeom prst="ellipse">
            <a:avLst/>
          </a:prstGeom>
          <a:solidFill>
            <a:srgbClr val="1A5EA8"/>
          </a:solidFill>
          <a:ln w="12700">
            <a:solidFill>
              <a:srgbClr val="1A5EA8"/>
            </a:solidFill>
            <a:prstDash val="solid"/>
          </a:ln>
        </p:spPr>
        <p:txBody>
          <a:bodyPr/>
          <a:lstStyle/>
          <a:p>
            <a:endParaRPr lang="en-US"/>
          </a:p>
        </p:txBody>
      </p:sp>
      <p:sp>
        <p:nvSpPr>
          <p:cNvPr id="60" name="Text 58"/>
          <p:cNvSpPr/>
          <p:nvPr/>
        </p:nvSpPr>
        <p:spPr>
          <a:xfrm>
            <a:off x="365760" y="4361688"/>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61" name="Text 59"/>
          <p:cNvSpPr/>
          <p:nvPr/>
        </p:nvSpPr>
        <p:spPr>
          <a:xfrm>
            <a:off x="960120" y="4297680"/>
            <a:ext cx="1234440" cy="347472"/>
          </a:xfrm>
          <a:prstGeom prst="rect">
            <a:avLst/>
          </a:prstGeom>
          <a:noFill/>
          <a:ln/>
        </p:spPr>
        <p:txBody>
          <a:bodyPr wrap="square" rtlCol="0" anchor="ctr"/>
          <a:lstStyle/>
          <a:p>
            <a:pPr marL="0" indent="0">
              <a:buNone/>
            </a:pPr>
            <a:r>
              <a:rPr lang="en-US" sz="1350" b="1" dirty="0">
                <a:solidFill>
                  <a:srgbClr val="D93025"/>
                </a:solidFill>
                <a:latin typeface="Calibri" pitchFamily="34" charset="0"/>
                <a:ea typeface="Calibri" pitchFamily="34" charset="-122"/>
                <a:cs typeface="Calibri" pitchFamily="34" charset="-120"/>
              </a:rPr>
              <a:t>his notebook</a:t>
            </a:r>
            <a:endParaRPr lang="en-US" sz="1350" dirty="0"/>
          </a:p>
        </p:txBody>
      </p:sp>
      <p:sp>
        <p:nvSpPr>
          <p:cNvPr id="62" name="Shape 60"/>
          <p:cNvSpPr/>
          <p:nvPr/>
        </p:nvSpPr>
        <p:spPr>
          <a:xfrm>
            <a:off x="960120" y="4626864"/>
            <a:ext cx="1188720" cy="0"/>
          </a:xfrm>
          <a:prstGeom prst="line">
            <a:avLst/>
          </a:prstGeom>
          <a:noFill/>
          <a:ln w="19050">
            <a:solidFill>
              <a:srgbClr val="D93025"/>
            </a:solidFill>
            <a:prstDash val="dash"/>
          </a:ln>
        </p:spPr>
        <p:txBody>
          <a:bodyPr/>
          <a:lstStyle/>
          <a:p>
            <a:endParaRPr lang="en-US"/>
          </a:p>
        </p:txBody>
      </p:sp>
      <p:sp>
        <p:nvSpPr>
          <p:cNvPr id="63" name="Shape 61"/>
          <p:cNvSpPr/>
          <p:nvPr/>
        </p:nvSpPr>
        <p:spPr>
          <a:xfrm>
            <a:off x="2267712" y="4462272"/>
            <a:ext cx="320040" cy="0"/>
          </a:xfrm>
          <a:prstGeom prst="line">
            <a:avLst/>
          </a:prstGeom>
          <a:noFill/>
          <a:ln w="25400">
            <a:solidFill>
              <a:srgbClr val="CC5500"/>
            </a:solidFill>
            <a:prstDash val="solid"/>
            <a:tailEnd type="triangle"/>
          </a:ln>
        </p:spPr>
        <p:txBody>
          <a:bodyPr/>
          <a:lstStyle/>
          <a:p>
            <a:endParaRPr lang="en-US"/>
          </a:p>
        </p:txBody>
      </p:sp>
      <p:sp>
        <p:nvSpPr>
          <p:cNvPr id="64" name="Text 62"/>
          <p:cNvSpPr/>
          <p:nvPr/>
        </p:nvSpPr>
        <p:spPr>
          <a:xfrm>
            <a:off x="2651760" y="4297680"/>
            <a:ext cx="1463040" cy="347472"/>
          </a:xfrm>
          <a:prstGeom prst="rect">
            <a:avLst/>
          </a:prstGeom>
          <a:noFill/>
          <a:ln/>
        </p:spPr>
        <p:txBody>
          <a:bodyPr wrap="square" rtlCol="0" anchor="ctr"/>
          <a:lstStyle/>
          <a:p>
            <a:pPr marL="0" indent="0">
              <a:buNone/>
            </a:pPr>
            <a:r>
              <a:rPr lang="en-US" sz="1350" b="1" dirty="0">
                <a:solidFill>
                  <a:srgbClr val="1A5EA8"/>
                </a:solidFill>
                <a:latin typeface="Calibri" pitchFamily="34" charset="0"/>
                <a:ea typeface="Calibri" pitchFamily="34" charset="-122"/>
                <a:cs typeface="Calibri" pitchFamily="34" charset="-120"/>
              </a:rPr>
              <a:t>her notebook</a:t>
            </a:r>
            <a:endParaRPr lang="en-US" sz="1350" dirty="0"/>
          </a:p>
        </p:txBody>
      </p:sp>
      <p:sp>
        <p:nvSpPr>
          <p:cNvPr id="65" name="Shape 63"/>
          <p:cNvSpPr/>
          <p:nvPr/>
        </p:nvSpPr>
        <p:spPr>
          <a:xfrm>
            <a:off x="4206240" y="4334256"/>
            <a:ext cx="658368" cy="329184"/>
          </a:xfrm>
          <a:prstGeom prst="roundRect">
            <a:avLst>
              <a:gd name="adj" fmla="val 33333"/>
            </a:avLst>
          </a:prstGeom>
          <a:solidFill>
            <a:srgbClr val="1A5EA8"/>
          </a:solidFill>
          <a:ln w="12700">
            <a:solidFill>
              <a:srgbClr val="1A5EA8"/>
            </a:solidFill>
            <a:prstDash val="solid"/>
          </a:ln>
        </p:spPr>
        <p:txBody>
          <a:bodyPr/>
          <a:lstStyle/>
          <a:p>
            <a:endParaRPr lang="en-US"/>
          </a:p>
        </p:txBody>
      </p:sp>
      <p:sp>
        <p:nvSpPr>
          <p:cNvPr id="66" name="Text 64"/>
          <p:cNvSpPr/>
          <p:nvPr/>
        </p:nvSpPr>
        <p:spPr>
          <a:xfrm>
            <a:off x="4206240" y="4334256"/>
            <a:ext cx="658368"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Pass 3</a:t>
            </a:r>
            <a:endParaRPr lang="en-US" sz="1100" dirty="0"/>
          </a:p>
        </p:txBody>
      </p:sp>
      <p:sp>
        <p:nvSpPr>
          <p:cNvPr id="67" name="Shape 65"/>
          <p:cNvSpPr/>
          <p:nvPr/>
        </p:nvSpPr>
        <p:spPr>
          <a:xfrm>
            <a:off x="4983480" y="4251960"/>
            <a:ext cx="594360" cy="274320"/>
          </a:xfrm>
          <a:prstGeom prst="roundRect">
            <a:avLst>
              <a:gd name="adj" fmla="val 16667"/>
            </a:avLst>
          </a:prstGeom>
          <a:solidFill>
            <a:srgbClr val="D93025"/>
          </a:solidFill>
          <a:ln w="12700">
            <a:solidFill>
              <a:srgbClr val="D93025"/>
            </a:solidFill>
            <a:prstDash val="solid"/>
          </a:ln>
        </p:spPr>
        <p:txBody>
          <a:bodyPr/>
          <a:lstStyle/>
          <a:p>
            <a:endParaRPr lang="en-US"/>
          </a:p>
        </p:txBody>
      </p:sp>
      <p:sp>
        <p:nvSpPr>
          <p:cNvPr id="68" name="Text 66"/>
          <p:cNvSpPr/>
          <p:nvPr/>
        </p:nvSpPr>
        <p:spPr>
          <a:xfrm>
            <a:off x="4983480" y="4251960"/>
            <a:ext cx="59436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FORM</a:t>
            </a:r>
            <a:endParaRPr lang="en-US" sz="900" dirty="0"/>
          </a:p>
        </p:txBody>
      </p:sp>
      <p:sp>
        <p:nvSpPr>
          <p:cNvPr id="69" name="Text 67"/>
          <p:cNvSpPr/>
          <p:nvPr/>
        </p:nvSpPr>
        <p:spPr>
          <a:xfrm>
            <a:off x="5623560" y="4233672"/>
            <a:ext cx="3200400" cy="347472"/>
          </a:xfrm>
          <a:prstGeom prst="rect">
            <a:avLst/>
          </a:prstGeom>
          <a:noFill/>
          <a:ln/>
        </p:spPr>
        <p:txBody>
          <a:bodyPr wrap="square" rtlCol="0" anchor="ctr"/>
          <a:lstStyle/>
          <a:p>
            <a:pPr marL="0" indent="0">
              <a:buNone/>
            </a:pPr>
            <a:r>
              <a:rPr lang="en-US" sz="1150" i="1" dirty="0">
                <a:solidFill>
                  <a:srgbClr val="1A1A1A"/>
                </a:solidFill>
                <a:latin typeface="Calibri" pitchFamily="34" charset="0"/>
                <a:ea typeface="Calibri" pitchFamily="34" charset="-122"/>
                <a:cs typeface="Calibri" pitchFamily="34" charset="-120"/>
              </a:rPr>
              <a:t>Pronoun must match the gender/identity of the antecedent (Ms. Chen)</a:t>
            </a:r>
            <a:endParaRPr lang="en-US" sz="1150" dirty="0"/>
          </a:p>
        </p:txBody>
      </p:sp>
      <p:sp>
        <p:nvSpPr>
          <p:cNvPr id="70" name="Shape 68"/>
          <p:cNvSpPr/>
          <p:nvPr/>
        </p:nvSpPr>
        <p:spPr>
          <a:xfrm>
            <a:off x="4983480" y="4608576"/>
            <a:ext cx="804672" cy="274320"/>
          </a:xfrm>
          <a:prstGeom prst="roundRect">
            <a:avLst>
              <a:gd name="adj" fmla="val 16667"/>
            </a:avLst>
          </a:prstGeom>
          <a:solidFill>
            <a:srgbClr val="1A5EA8"/>
          </a:solidFill>
          <a:ln w="12700">
            <a:solidFill>
              <a:srgbClr val="1A5EA8"/>
            </a:solidFill>
            <a:prstDash val="solid"/>
          </a:ln>
        </p:spPr>
        <p:txBody>
          <a:bodyPr/>
          <a:lstStyle/>
          <a:p>
            <a:endParaRPr lang="en-US"/>
          </a:p>
        </p:txBody>
      </p:sp>
      <p:sp>
        <p:nvSpPr>
          <p:cNvPr id="71" name="Text 69"/>
          <p:cNvSpPr/>
          <p:nvPr/>
        </p:nvSpPr>
        <p:spPr>
          <a:xfrm>
            <a:off x="4983480" y="4608576"/>
            <a:ext cx="804672"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MEANING</a:t>
            </a:r>
            <a:endParaRPr lang="en-US" sz="900" dirty="0"/>
          </a:p>
        </p:txBody>
      </p:sp>
      <p:sp>
        <p:nvSpPr>
          <p:cNvPr id="72" name="Text 70"/>
          <p:cNvSpPr/>
          <p:nvPr/>
        </p:nvSpPr>
        <p:spPr>
          <a:xfrm>
            <a:off x="5833872" y="4590288"/>
            <a:ext cx="2999232" cy="365760"/>
          </a:xfrm>
          <a:prstGeom prst="rect">
            <a:avLst/>
          </a:prstGeom>
          <a:noFill/>
          <a:ln/>
        </p:spPr>
        <p:txBody>
          <a:bodyPr wrap="square" rtlCol="0" anchor="ctr"/>
          <a:lstStyle/>
          <a:p>
            <a:pPr marL="0" indent="0">
              <a:buNone/>
            </a:pPr>
            <a:r>
              <a:rPr lang="en-US" sz="1100" i="1" dirty="0">
                <a:solidFill>
                  <a:srgbClr val="1A1A1A"/>
                </a:solidFill>
                <a:latin typeface="Calibri" pitchFamily="34" charset="0"/>
                <a:ea typeface="Calibri" pitchFamily="34" charset="-122"/>
                <a:cs typeface="Calibri" pitchFamily="34" charset="-120"/>
              </a:rPr>
              <a:t>'His' tells the reader the owner is male — contradicting Ms. Chen's identity</a:t>
            </a:r>
            <a:endParaRPr lang="en-US" sz="1100" dirty="0"/>
          </a:p>
        </p:txBody>
      </p:sp>
      <p:sp>
        <p:nvSpPr>
          <p:cNvPr id="73" name="Shape 71"/>
          <p:cNvSpPr/>
          <p:nvPr/>
        </p:nvSpPr>
        <p:spPr>
          <a:xfrm>
            <a:off x="450342" y="4505249"/>
            <a:ext cx="416052" cy="416052"/>
          </a:xfrm>
          <a:prstGeom prst="roundRect">
            <a:avLst>
              <a:gd name="adj" fmla="val 76923"/>
            </a:avLst>
          </a:prstGeom>
          <a:solidFill>
            <a:srgbClr val="1A1A1A"/>
          </a:solidFill>
          <a:ln w="12700">
            <a:solidFill>
              <a:srgbClr val="1A1A1A"/>
            </a:solidFill>
            <a:prstDash val="solid"/>
          </a:ln>
        </p:spPr>
        <p:txBody>
          <a:bodyPr/>
          <a:lstStyle/>
          <a:p>
            <a:endParaRPr lang="en-US"/>
          </a:p>
        </p:txBody>
      </p:sp>
      <p:sp>
        <p:nvSpPr>
          <p:cNvPr id="74" name="Shape 72"/>
          <p:cNvSpPr/>
          <p:nvPr/>
        </p:nvSpPr>
        <p:spPr>
          <a:xfrm>
            <a:off x="545440" y="4576572"/>
            <a:ext cx="59436" cy="59436"/>
          </a:xfrm>
          <a:prstGeom prst="ellipse">
            <a:avLst/>
          </a:prstGeom>
          <a:solidFill>
            <a:srgbClr val="FFFFFF"/>
          </a:solidFill>
          <a:ln w="12700">
            <a:solidFill>
              <a:srgbClr val="FFFFFF"/>
            </a:solidFill>
            <a:prstDash val="solid"/>
          </a:ln>
        </p:spPr>
        <p:txBody>
          <a:bodyPr/>
          <a:lstStyle/>
          <a:p>
            <a:endParaRPr lang="en-US"/>
          </a:p>
        </p:txBody>
      </p:sp>
      <p:sp>
        <p:nvSpPr>
          <p:cNvPr id="75" name="Shape 73"/>
          <p:cNvSpPr/>
          <p:nvPr/>
        </p:nvSpPr>
        <p:spPr>
          <a:xfrm>
            <a:off x="705917" y="4576572"/>
            <a:ext cx="59436" cy="59436"/>
          </a:xfrm>
          <a:prstGeom prst="ellipse">
            <a:avLst/>
          </a:prstGeom>
          <a:solidFill>
            <a:srgbClr val="FFFFFF"/>
          </a:solidFill>
          <a:ln w="12700">
            <a:solidFill>
              <a:srgbClr val="FFFFFF"/>
            </a:solidFill>
            <a:prstDash val="solid"/>
          </a:ln>
        </p:spPr>
        <p:txBody>
          <a:bodyPr/>
          <a:lstStyle/>
          <a:p>
            <a:endParaRPr lang="en-US"/>
          </a:p>
        </p:txBody>
      </p:sp>
      <p:sp>
        <p:nvSpPr>
          <p:cNvPr id="76" name="Shape 74"/>
          <p:cNvSpPr/>
          <p:nvPr/>
        </p:nvSpPr>
        <p:spPr>
          <a:xfrm>
            <a:off x="551383" y="4921301"/>
            <a:ext cx="35662" cy="178308"/>
          </a:xfrm>
          <a:prstGeom prst="line">
            <a:avLst/>
          </a:prstGeom>
          <a:noFill/>
          <a:ln w="31750">
            <a:solidFill>
              <a:srgbClr val="1A1A1A"/>
            </a:solidFill>
            <a:prstDash val="solid"/>
          </a:ln>
        </p:spPr>
        <p:txBody>
          <a:bodyPr/>
          <a:lstStyle/>
          <a:p>
            <a:endParaRPr lang="en-US"/>
          </a:p>
        </p:txBody>
      </p:sp>
      <p:sp>
        <p:nvSpPr>
          <p:cNvPr id="77" name="Shape 75"/>
          <p:cNvSpPr/>
          <p:nvPr/>
        </p:nvSpPr>
        <p:spPr>
          <a:xfrm>
            <a:off x="729691" y="4921301"/>
            <a:ext cx="35662" cy="178308"/>
          </a:xfrm>
          <a:prstGeom prst="line">
            <a:avLst/>
          </a:prstGeom>
          <a:noFill/>
          <a:ln w="31750">
            <a:solidFill>
              <a:srgbClr val="1A1A1A"/>
            </a:solidFill>
            <a:prstDash val="solid"/>
          </a:ln>
        </p:spPr>
        <p:txBody>
          <a:bodyPr/>
          <a:lstStyle/>
          <a:p>
            <a:endParaRPr lang="en-US"/>
          </a:p>
        </p:txBody>
      </p:sp>
      <p:sp>
        <p:nvSpPr>
          <p:cNvPr id="78" name="Text 76"/>
          <p:cNvSpPr/>
          <p:nvPr/>
        </p:nvSpPr>
        <p:spPr>
          <a:xfrm>
            <a:off x="1097280" y="4663440"/>
            <a:ext cx="7772400" cy="365760"/>
          </a:xfrm>
          <a:prstGeom prst="rect">
            <a:avLst/>
          </a:prstGeom>
          <a:noFill/>
          <a:ln/>
        </p:spPr>
        <p:txBody>
          <a:bodyPr wrap="square" rtlCol="0" anchor="ctr"/>
          <a:lstStyle/>
          <a:p>
            <a:pPr marL="0" indent="0">
              <a:buNone/>
            </a:pPr>
            <a:r>
              <a:rPr lang="en-US" sz="1400" i="1" dirty="0">
                <a:solidFill>
                  <a:srgbClr val="CC5500"/>
                </a:solidFill>
                <a:latin typeface="Cambria" pitchFamily="34" charset="0"/>
                <a:ea typeface="Cambria" pitchFamily="34" charset="-122"/>
                <a:cs typeface="Cambria" pitchFamily="34" charset="-120"/>
              </a:rPr>
              <a:t>4 / 5 = Good detective!     5 / 5 = Elite detective! ⭐</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37160"/>
            <a:ext cx="8046720" cy="594360"/>
          </a:xfrm>
          <a:prstGeom prst="rect">
            <a:avLst/>
          </a:prstGeom>
          <a:noFill/>
          <a:ln/>
        </p:spPr>
        <p:txBody>
          <a:bodyPr wrap="square" rtlCol="0" anchor="ctr"/>
          <a:lstStyle/>
          <a:p>
            <a:pPr marL="0" indent="0">
              <a:buNone/>
            </a:pPr>
            <a:r>
              <a:rPr lang="en-US" sz="3000" b="1" dirty="0">
                <a:solidFill>
                  <a:srgbClr val="CC5500"/>
                </a:solidFill>
                <a:latin typeface="Cambria" pitchFamily="34" charset="0"/>
                <a:ea typeface="Cambria" pitchFamily="34" charset="-122"/>
                <a:cs typeface="Cambria" pitchFamily="34" charset="-120"/>
              </a:rPr>
              <a:t>Solo Mission: Form &amp; Meaning Check</a:t>
            </a:r>
            <a:endParaRPr lang="en-US" sz="3000" dirty="0"/>
          </a:p>
        </p:txBody>
      </p:sp>
      <p:sp>
        <p:nvSpPr>
          <p:cNvPr id="3" name="Shape 1"/>
          <p:cNvSpPr/>
          <p:nvPr/>
        </p:nvSpPr>
        <p:spPr>
          <a:xfrm>
            <a:off x="457200" y="804672"/>
            <a:ext cx="8229600" cy="502920"/>
          </a:xfrm>
          <a:prstGeom prst="roundRect">
            <a:avLst>
              <a:gd name="adj" fmla="val 14545"/>
            </a:avLst>
          </a:prstGeom>
          <a:solidFill>
            <a:srgbClr val="FFFAF0"/>
          </a:solidFill>
          <a:ln w="19050">
            <a:solidFill>
              <a:srgbClr val="CC5500"/>
            </a:solidFill>
            <a:prstDash val="solid"/>
          </a:ln>
        </p:spPr>
        <p:txBody>
          <a:bodyPr/>
          <a:lstStyle/>
          <a:p>
            <a:endParaRPr lang="en-US"/>
          </a:p>
        </p:txBody>
      </p:sp>
      <p:sp>
        <p:nvSpPr>
          <p:cNvPr id="4" name="Text 2"/>
          <p:cNvSpPr/>
          <p:nvPr/>
        </p:nvSpPr>
        <p:spPr>
          <a:xfrm>
            <a:off x="594360" y="804672"/>
            <a:ext cx="7955280" cy="502920"/>
          </a:xfrm>
          <a:prstGeom prst="rect">
            <a:avLst/>
          </a:prstGeom>
          <a:noFill/>
          <a:ln/>
        </p:spPr>
        <p:txBody>
          <a:bodyPr wrap="square" rtlCol="0" anchor="ctr"/>
          <a:lstStyle/>
          <a:p>
            <a:pPr marL="0" indent="0">
              <a:buNone/>
            </a:pPr>
            <a:r>
              <a:rPr lang="en-US" sz="1300" i="1" dirty="0">
                <a:solidFill>
                  <a:srgbClr val="1A1A1A"/>
                </a:solidFill>
                <a:latin typeface="Calibri" pitchFamily="34" charset="0"/>
                <a:ea typeface="Calibri" pitchFamily="34" charset="-122"/>
                <a:cs typeface="Calibri" pitchFamily="34" charset="-120"/>
              </a:rPr>
              <a:t>Read the paragraph. Find 4 errors. For each one: write the FORM fix and explain the MEANING change.</a:t>
            </a:r>
            <a:endParaRPr lang="en-US" sz="1300" dirty="0"/>
          </a:p>
        </p:txBody>
      </p:sp>
      <p:sp>
        <p:nvSpPr>
          <p:cNvPr id="5" name="Shape 3"/>
          <p:cNvSpPr/>
          <p:nvPr/>
        </p:nvSpPr>
        <p:spPr>
          <a:xfrm>
            <a:off x="457200" y="1399032"/>
            <a:ext cx="8229600" cy="2103120"/>
          </a:xfrm>
          <a:prstGeom prst="roundRect">
            <a:avLst>
              <a:gd name="adj" fmla="val 3478"/>
            </a:avLst>
          </a:prstGeom>
          <a:solidFill>
            <a:srgbClr val="FFFFFF"/>
          </a:solidFill>
          <a:ln w="19050">
            <a:solidFill>
              <a:srgbClr val="1A1A1A"/>
            </a:solidFill>
            <a:prstDash val="solid"/>
          </a:ln>
        </p:spPr>
        <p:txBody>
          <a:bodyPr/>
          <a:lstStyle/>
          <a:p>
            <a:endParaRPr lang="en-US"/>
          </a:p>
        </p:txBody>
      </p:sp>
      <p:sp>
        <p:nvSpPr>
          <p:cNvPr id="6" name="Text 4"/>
          <p:cNvSpPr/>
          <p:nvPr/>
        </p:nvSpPr>
        <p:spPr>
          <a:xfrm>
            <a:off x="640080" y="1463040"/>
            <a:ext cx="7863840" cy="1965960"/>
          </a:xfrm>
          <a:prstGeom prst="rect">
            <a:avLst/>
          </a:prstGeom>
          <a:noFill/>
          <a:ln/>
        </p:spPr>
        <p:txBody>
          <a:bodyPr wrap="square" rtlCol="0" anchor="ctr"/>
          <a:lstStyle/>
          <a:p>
            <a:pPr marL="0" indent="0">
              <a:lnSpc>
                <a:spcPct val="160000"/>
              </a:lnSpc>
              <a:buNone/>
            </a:pPr>
            <a:r>
              <a:rPr lang="en-US" sz="1500" dirty="0">
                <a:solidFill>
                  <a:srgbClr val="1A1A1A"/>
                </a:solidFill>
                <a:latin typeface="Calibri" pitchFamily="34" charset="0"/>
                <a:ea typeface="Calibri" pitchFamily="34" charset="-122"/>
                <a:cs typeface="Calibri" pitchFamily="34" charset="-120"/>
              </a:rPr>
              <a:t>Marcus is a student who love reading. Last tuesday, he borrow a book from</a:t>
            </a:r>
            <a:endParaRPr lang="en-US" sz="1500" dirty="0"/>
          </a:p>
          <a:p>
            <a:pPr marL="0" indent="0">
              <a:lnSpc>
                <a:spcPct val="160000"/>
              </a:lnSpc>
              <a:buNone/>
            </a:pPr>
            <a:r>
              <a:rPr lang="en-US" sz="1500" dirty="0">
                <a:solidFill>
                  <a:srgbClr val="1A1A1A"/>
                </a:solidFill>
                <a:latin typeface="Calibri" pitchFamily="34" charset="0"/>
                <a:ea typeface="Calibri" pitchFamily="34" charset="-122"/>
                <a:cs typeface="Calibri" pitchFamily="34" charset="-120"/>
              </a:rPr>
              <a:t>the library and read it very quick. He told his friend about the story,</a:t>
            </a:r>
            <a:endParaRPr lang="en-US" sz="1500" dirty="0"/>
          </a:p>
          <a:p>
            <a:pPr marL="0" indent="0">
              <a:lnSpc>
                <a:spcPct val="160000"/>
              </a:lnSpc>
              <a:buNone/>
            </a:pPr>
            <a:r>
              <a:rPr lang="en-US" sz="1500" dirty="0">
                <a:solidFill>
                  <a:srgbClr val="1A1A1A"/>
                </a:solidFill>
                <a:latin typeface="Calibri" pitchFamily="34" charset="0"/>
                <a:ea typeface="Calibri" pitchFamily="34" charset="-122"/>
                <a:cs typeface="Calibri" pitchFamily="34" charset="-120"/>
              </a:rPr>
              <a:t>but she already knew it because she readed it last year.</a:t>
            </a:r>
            <a:endParaRPr lang="en-US" sz="1500" dirty="0"/>
          </a:p>
        </p:txBody>
      </p:sp>
      <p:sp>
        <p:nvSpPr>
          <p:cNvPr id="7" name="Text 5"/>
          <p:cNvSpPr/>
          <p:nvPr/>
        </p:nvSpPr>
        <p:spPr>
          <a:xfrm>
            <a:off x="457200" y="3584448"/>
            <a:ext cx="2743200" cy="365760"/>
          </a:xfrm>
          <a:prstGeom prst="rect">
            <a:avLst/>
          </a:prstGeom>
          <a:noFill/>
          <a:ln/>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Your Corrections:</a:t>
            </a:r>
            <a:endParaRPr lang="en-US" sz="1300" dirty="0"/>
          </a:p>
        </p:txBody>
      </p:sp>
      <p:sp>
        <p:nvSpPr>
          <p:cNvPr id="8" name="Shape 6"/>
          <p:cNvSpPr/>
          <p:nvPr/>
        </p:nvSpPr>
        <p:spPr>
          <a:xfrm>
            <a:off x="457200" y="3977640"/>
            <a:ext cx="1783080" cy="347472"/>
          </a:xfrm>
          <a:prstGeom prst="roundRect">
            <a:avLst>
              <a:gd name="adj" fmla="val 21053"/>
            </a:avLst>
          </a:prstGeom>
          <a:solidFill>
            <a:srgbClr val="1A1A1A"/>
          </a:solidFill>
          <a:ln w="19050">
            <a:solidFill>
              <a:srgbClr val="1A1A1A"/>
            </a:solidFill>
            <a:prstDash val="solid"/>
          </a:ln>
        </p:spPr>
        <p:txBody>
          <a:bodyPr/>
          <a:lstStyle/>
          <a:p>
            <a:endParaRPr lang="en-US"/>
          </a:p>
        </p:txBody>
      </p:sp>
      <p:sp>
        <p:nvSpPr>
          <p:cNvPr id="9" name="Text 7"/>
          <p:cNvSpPr/>
          <p:nvPr/>
        </p:nvSpPr>
        <p:spPr>
          <a:xfrm>
            <a:off x="502920" y="3977640"/>
            <a:ext cx="1709928" cy="347472"/>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Error word</a:t>
            </a:r>
            <a:endParaRPr lang="en-US" sz="1150" dirty="0"/>
          </a:p>
        </p:txBody>
      </p:sp>
      <p:sp>
        <p:nvSpPr>
          <p:cNvPr id="10" name="Shape 8"/>
          <p:cNvSpPr/>
          <p:nvPr/>
        </p:nvSpPr>
        <p:spPr>
          <a:xfrm>
            <a:off x="2331720" y="3977640"/>
            <a:ext cx="1783080" cy="347472"/>
          </a:xfrm>
          <a:prstGeom prst="roundRect">
            <a:avLst>
              <a:gd name="adj" fmla="val 21053"/>
            </a:avLst>
          </a:prstGeom>
          <a:solidFill>
            <a:srgbClr val="1A1A1A"/>
          </a:solidFill>
          <a:ln w="19050">
            <a:solidFill>
              <a:srgbClr val="1A1A1A"/>
            </a:solidFill>
            <a:prstDash val="solid"/>
          </a:ln>
        </p:spPr>
        <p:txBody>
          <a:bodyPr/>
          <a:lstStyle/>
          <a:p>
            <a:endParaRPr lang="en-US"/>
          </a:p>
        </p:txBody>
      </p:sp>
      <p:sp>
        <p:nvSpPr>
          <p:cNvPr id="11" name="Text 9"/>
          <p:cNvSpPr/>
          <p:nvPr/>
        </p:nvSpPr>
        <p:spPr>
          <a:xfrm>
            <a:off x="2377440" y="3977640"/>
            <a:ext cx="1709928" cy="347472"/>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Correct form</a:t>
            </a:r>
            <a:endParaRPr lang="en-US" sz="1150" dirty="0"/>
          </a:p>
        </p:txBody>
      </p:sp>
      <p:sp>
        <p:nvSpPr>
          <p:cNvPr id="12" name="Shape 10"/>
          <p:cNvSpPr/>
          <p:nvPr/>
        </p:nvSpPr>
        <p:spPr>
          <a:xfrm>
            <a:off x="4206240" y="3977640"/>
            <a:ext cx="4663440" cy="347472"/>
          </a:xfrm>
          <a:prstGeom prst="roundRect">
            <a:avLst>
              <a:gd name="adj" fmla="val 21053"/>
            </a:avLst>
          </a:prstGeom>
          <a:solidFill>
            <a:srgbClr val="1A1A1A"/>
          </a:solidFill>
          <a:ln w="19050">
            <a:solidFill>
              <a:srgbClr val="1A1A1A"/>
            </a:solidFill>
            <a:prstDash val="solid"/>
          </a:ln>
        </p:spPr>
        <p:txBody>
          <a:bodyPr/>
          <a:lstStyle/>
          <a:p>
            <a:endParaRPr lang="en-US"/>
          </a:p>
        </p:txBody>
      </p:sp>
      <p:sp>
        <p:nvSpPr>
          <p:cNvPr id="13" name="Text 11"/>
          <p:cNvSpPr/>
          <p:nvPr/>
        </p:nvSpPr>
        <p:spPr>
          <a:xfrm>
            <a:off x="4251960" y="3977640"/>
            <a:ext cx="4590288" cy="347472"/>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MEANING — what changed?</a:t>
            </a:r>
            <a:endParaRPr lang="en-US" sz="1150" dirty="0"/>
          </a:p>
        </p:txBody>
      </p:sp>
      <p:sp>
        <p:nvSpPr>
          <p:cNvPr id="14" name="Shape 12"/>
          <p:cNvSpPr/>
          <p:nvPr/>
        </p:nvSpPr>
        <p:spPr>
          <a:xfrm>
            <a:off x="457200" y="4343400"/>
            <a:ext cx="1783080" cy="173736"/>
          </a:xfrm>
          <a:prstGeom prst="roundRect">
            <a:avLst>
              <a:gd name="adj" fmla="val 42105"/>
            </a:avLst>
          </a:prstGeom>
          <a:solidFill>
            <a:srgbClr val="FAFAFA"/>
          </a:solidFill>
          <a:ln w="10160">
            <a:solidFill>
              <a:srgbClr val="AAAAAA"/>
            </a:solidFill>
            <a:prstDash val="solid"/>
          </a:ln>
        </p:spPr>
        <p:txBody>
          <a:bodyPr/>
          <a:lstStyle/>
          <a:p>
            <a:endParaRPr lang="en-US"/>
          </a:p>
        </p:txBody>
      </p:sp>
      <p:sp>
        <p:nvSpPr>
          <p:cNvPr id="15" name="Shape 13"/>
          <p:cNvSpPr/>
          <p:nvPr/>
        </p:nvSpPr>
        <p:spPr>
          <a:xfrm>
            <a:off x="2331720" y="4343400"/>
            <a:ext cx="1783080" cy="173736"/>
          </a:xfrm>
          <a:prstGeom prst="roundRect">
            <a:avLst>
              <a:gd name="adj" fmla="val 42105"/>
            </a:avLst>
          </a:prstGeom>
          <a:solidFill>
            <a:srgbClr val="FAFAFA"/>
          </a:solidFill>
          <a:ln w="10160">
            <a:solidFill>
              <a:srgbClr val="AAAAAA"/>
            </a:solidFill>
            <a:prstDash val="solid"/>
          </a:ln>
        </p:spPr>
        <p:txBody>
          <a:bodyPr/>
          <a:lstStyle/>
          <a:p>
            <a:endParaRPr lang="en-US"/>
          </a:p>
        </p:txBody>
      </p:sp>
      <p:sp>
        <p:nvSpPr>
          <p:cNvPr id="16" name="Shape 14"/>
          <p:cNvSpPr/>
          <p:nvPr/>
        </p:nvSpPr>
        <p:spPr>
          <a:xfrm>
            <a:off x="4206240" y="4343400"/>
            <a:ext cx="4663440" cy="173736"/>
          </a:xfrm>
          <a:prstGeom prst="roundRect">
            <a:avLst>
              <a:gd name="adj" fmla="val 42105"/>
            </a:avLst>
          </a:prstGeom>
          <a:solidFill>
            <a:srgbClr val="FAFAFA"/>
          </a:solidFill>
          <a:ln w="10160">
            <a:solidFill>
              <a:srgbClr val="AAAAAA"/>
            </a:solidFill>
            <a:prstDash val="solid"/>
          </a:ln>
        </p:spPr>
        <p:txBody>
          <a:bodyPr/>
          <a:lstStyle/>
          <a:p>
            <a:endParaRPr lang="en-US"/>
          </a:p>
        </p:txBody>
      </p:sp>
      <p:sp>
        <p:nvSpPr>
          <p:cNvPr id="17" name="Shape 15"/>
          <p:cNvSpPr/>
          <p:nvPr/>
        </p:nvSpPr>
        <p:spPr>
          <a:xfrm>
            <a:off x="457200" y="4526280"/>
            <a:ext cx="1783080" cy="173736"/>
          </a:xfrm>
          <a:prstGeom prst="roundRect">
            <a:avLst>
              <a:gd name="adj" fmla="val 42105"/>
            </a:avLst>
          </a:prstGeom>
          <a:solidFill>
            <a:srgbClr val="FFFFFF"/>
          </a:solidFill>
          <a:ln w="10160">
            <a:solidFill>
              <a:srgbClr val="AAAAAA"/>
            </a:solidFill>
            <a:prstDash val="solid"/>
          </a:ln>
        </p:spPr>
        <p:txBody>
          <a:bodyPr/>
          <a:lstStyle/>
          <a:p>
            <a:endParaRPr lang="en-US"/>
          </a:p>
        </p:txBody>
      </p:sp>
      <p:sp>
        <p:nvSpPr>
          <p:cNvPr id="18" name="Shape 16"/>
          <p:cNvSpPr/>
          <p:nvPr/>
        </p:nvSpPr>
        <p:spPr>
          <a:xfrm>
            <a:off x="2331720" y="4526280"/>
            <a:ext cx="1783080" cy="173736"/>
          </a:xfrm>
          <a:prstGeom prst="roundRect">
            <a:avLst>
              <a:gd name="adj" fmla="val 42105"/>
            </a:avLst>
          </a:prstGeom>
          <a:solidFill>
            <a:srgbClr val="FFFFFF"/>
          </a:solidFill>
          <a:ln w="10160">
            <a:solidFill>
              <a:srgbClr val="AAAAAA"/>
            </a:solidFill>
            <a:prstDash val="solid"/>
          </a:ln>
        </p:spPr>
        <p:txBody>
          <a:bodyPr/>
          <a:lstStyle/>
          <a:p>
            <a:endParaRPr lang="en-US"/>
          </a:p>
        </p:txBody>
      </p:sp>
      <p:sp>
        <p:nvSpPr>
          <p:cNvPr id="19" name="Shape 17"/>
          <p:cNvSpPr/>
          <p:nvPr/>
        </p:nvSpPr>
        <p:spPr>
          <a:xfrm>
            <a:off x="4206240" y="4526280"/>
            <a:ext cx="4663440" cy="173736"/>
          </a:xfrm>
          <a:prstGeom prst="roundRect">
            <a:avLst>
              <a:gd name="adj" fmla="val 42105"/>
            </a:avLst>
          </a:prstGeom>
          <a:solidFill>
            <a:srgbClr val="FFFFFF"/>
          </a:solidFill>
          <a:ln w="10160">
            <a:solidFill>
              <a:srgbClr val="AAAAAA"/>
            </a:solidFill>
            <a:prstDash val="solid"/>
          </a:ln>
        </p:spPr>
        <p:txBody>
          <a:bodyPr/>
          <a:lstStyle/>
          <a:p>
            <a:endParaRPr lang="en-US"/>
          </a:p>
        </p:txBody>
      </p:sp>
      <p:sp>
        <p:nvSpPr>
          <p:cNvPr id="20" name="Shape 18"/>
          <p:cNvSpPr/>
          <p:nvPr/>
        </p:nvSpPr>
        <p:spPr>
          <a:xfrm>
            <a:off x="457200" y="4709160"/>
            <a:ext cx="1783080" cy="173736"/>
          </a:xfrm>
          <a:prstGeom prst="roundRect">
            <a:avLst>
              <a:gd name="adj" fmla="val 42105"/>
            </a:avLst>
          </a:prstGeom>
          <a:solidFill>
            <a:srgbClr val="FAFAFA"/>
          </a:solidFill>
          <a:ln w="10160">
            <a:solidFill>
              <a:srgbClr val="AAAAAA"/>
            </a:solidFill>
            <a:prstDash val="solid"/>
          </a:ln>
        </p:spPr>
        <p:txBody>
          <a:bodyPr/>
          <a:lstStyle/>
          <a:p>
            <a:endParaRPr lang="en-US"/>
          </a:p>
        </p:txBody>
      </p:sp>
      <p:sp>
        <p:nvSpPr>
          <p:cNvPr id="21" name="Shape 19"/>
          <p:cNvSpPr/>
          <p:nvPr/>
        </p:nvSpPr>
        <p:spPr>
          <a:xfrm>
            <a:off x="2331720" y="4709160"/>
            <a:ext cx="1783080" cy="173736"/>
          </a:xfrm>
          <a:prstGeom prst="roundRect">
            <a:avLst>
              <a:gd name="adj" fmla="val 42105"/>
            </a:avLst>
          </a:prstGeom>
          <a:solidFill>
            <a:srgbClr val="FAFAFA"/>
          </a:solidFill>
          <a:ln w="10160">
            <a:solidFill>
              <a:srgbClr val="AAAAAA"/>
            </a:solidFill>
            <a:prstDash val="solid"/>
          </a:ln>
        </p:spPr>
        <p:txBody>
          <a:bodyPr/>
          <a:lstStyle/>
          <a:p>
            <a:endParaRPr lang="en-US"/>
          </a:p>
        </p:txBody>
      </p:sp>
      <p:sp>
        <p:nvSpPr>
          <p:cNvPr id="22" name="Shape 20"/>
          <p:cNvSpPr/>
          <p:nvPr/>
        </p:nvSpPr>
        <p:spPr>
          <a:xfrm>
            <a:off x="4206240" y="4709160"/>
            <a:ext cx="4663440" cy="173736"/>
          </a:xfrm>
          <a:prstGeom prst="roundRect">
            <a:avLst>
              <a:gd name="adj" fmla="val 42105"/>
            </a:avLst>
          </a:prstGeom>
          <a:solidFill>
            <a:srgbClr val="FAFAFA"/>
          </a:solidFill>
          <a:ln w="10160">
            <a:solidFill>
              <a:srgbClr val="AAAAAA"/>
            </a:solidFill>
            <a:prstDash val="solid"/>
          </a:ln>
        </p:spPr>
        <p:txBody>
          <a:bodyPr/>
          <a:lstStyle/>
          <a:p>
            <a:endParaRPr lang="en-US"/>
          </a:p>
        </p:txBody>
      </p:sp>
      <p:sp>
        <p:nvSpPr>
          <p:cNvPr id="23" name="Shape 21"/>
          <p:cNvSpPr/>
          <p:nvPr/>
        </p:nvSpPr>
        <p:spPr>
          <a:xfrm>
            <a:off x="457200" y="4892040"/>
            <a:ext cx="1783080" cy="173736"/>
          </a:xfrm>
          <a:prstGeom prst="roundRect">
            <a:avLst>
              <a:gd name="adj" fmla="val 42105"/>
            </a:avLst>
          </a:prstGeom>
          <a:solidFill>
            <a:srgbClr val="FFFFFF"/>
          </a:solidFill>
          <a:ln w="10160">
            <a:solidFill>
              <a:srgbClr val="AAAAAA"/>
            </a:solidFill>
            <a:prstDash val="solid"/>
          </a:ln>
        </p:spPr>
        <p:txBody>
          <a:bodyPr/>
          <a:lstStyle/>
          <a:p>
            <a:endParaRPr lang="en-US"/>
          </a:p>
        </p:txBody>
      </p:sp>
      <p:sp>
        <p:nvSpPr>
          <p:cNvPr id="24" name="Shape 22"/>
          <p:cNvSpPr/>
          <p:nvPr/>
        </p:nvSpPr>
        <p:spPr>
          <a:xfrm>
            <a:off x="2331720" y="4892040"/>
            <a:ext cx="1783080" cy="173736"/>
          </a:xfrm>
          <a:prstGeom prst="roundRect">
            <a:avLst>
              <a:gd name="adj" fmla="val 42105"/>
            </a:avLst>
          </a:prstGeom>
          <a:solidFill>
            <a:srgbClr val="FFFFFF"/>
          </a:solidFill>
          <a:ln w="10160">
            <a:solidFill>
              <a:srgbClr val="AAAAAA"/>
            </a:solidFill>
            <a:prstDash val="solid"/>
          </a:ln>
        </p:spPr>
        <p:txBody>
          <a:bodyPr/>
          <a:lstStyle/>
          <a:p>
            <a:endParaRPr lang="en-US"/>
          </a:p>
        </p:txBody>
      </p:sp>
      <p:sp>
        <p:nvSpPr>
          <p:cNvPr id="25" name="Shape 23"/>
          <p:cNvSpPr/>
          <p:nvPr/>
        </p:nvSpPr>
        <p:spPr>
          <a:xfrm>
            <a:off x="4206240" y="4892040"/>
            <a:ext cx="4663440" cy="173736"/>
          </a:xfrm>
          <a:prstGeom prst="roundRect">
            <a:avLst>
              <a:gd name="adj" fmla="val 42105"/>
            </a:avLst>
          </a:prstGeom>
          <a:solidFill>
            <a:srgbClr val="FFFFFF"/>
          </a:solidFill>
          <a:ln w="10160">
            <a:solidFill>
              <a:srgbClr val="AAAAAA"/>
            </a:solidFill>
            <a:prstDash val="solid"/>
          </a:ln>
        </p:spPr>
        <p:txBody>
          <a:bodyPr/>
          <a:lstStyle/>
          <a:p>
            <a:endParaRPr lang="en-US"/>
          </a:p>
        </p:txBody>
      </p:sp>
      <p:sp>
        <p:nvSpPr>
          <p:cNvPr id="26" name="Shape 24"/>
          <p:cNvSpPr/>
          <p:nvPr/>
        </p:nvSpPr>
        <p:spPr>
          <a:xfrm>
            <a:off x="8593531" y="957925"/>
            <a:ext cx="460858" cy="460858"/>
          </a:xfrm>
          <a:prstGeom prst="roundRect">
            <a:avLst>
              <a:gd name="adj" fmla="val 69444"/>
            </a:avLst>
          </a:prstGeom>
          <a:solidFill>
            <a:srgbClr val="1A1A1A"/>
          </a:solidFill>
          <a:ln w="12700">
            <a:solidFill>
              <a:srgbClr val="1A1A1A"/>
            </a:solidFill>
            <a:prstDash val="solid"/>
          </a:ln>
        </p:spPr>
        <p:txBody>
          <a:bodyPr/>
          <a:lstStyle/>
          <a:p>
            <a:endParaRPr lang="en-US"/>
          </a:p>
        </p:txBody>
      </p:sp>
      <p:sp>
        <p:nvSpPr>
          <p:cNvPr id="27" name="Shape 25"/>
          <p:cNvSpPr/>
          <p:nvPr/>
        </p:nvSpPr>
        <p:spPr>
          <a:xfrm>
            <a:off x="8698870" y="1036930"/>
            <a:ext cx="65837" cy="65837"/>
          </a:xfrm>
          <a:prstGeom prst="ellipse">
            <a:avLst/>
          </a:prstGeom>
          <a:solidFill>
            <a:srgbClr val="FFFFFF"/>
          </a:solidFill>
          <a:ln w="12700">
            <a:solidFill>
              <a:srgbClr val="FFFFFF"/>
            </a:solidFill>
            <a:prstDash val="solid"/>
          </a:ln>
        </p:spPr>
        <p:txBody>
          <a:bodyPr/>
          <a:lstStyle/>
          <a:p>
            <a:endParaRPr lang="en-US"/>
          </a:p>
        </p:txBody>
      </p:sp>
      <p:sp>
        <p:nvSpPr>
          <p:cNvPr id="28" name="Shape 26"/>
          <p:cNvSpPr/>
          <p:nvPr/>
        </p:nvSpPr>
        <p:spPr>
          <a:xfrm>
            <a:off x="8876629" y="1036930"/>
            <a:ext cx="65837" cy="65837"/>
          </a:xfrm>
          <a:prstGeom prst="ellipse">
            <a:avLst/>
          </a:prstGeom>
          <a:solidFill>
            <a:srgbClr val="FFFFFF"/>
          </a:solidFill>
          <a:ln w="12700">
            <a:solidFill>
              <a:srgbClr val="FFFFFF"/>
            </a:solidFill>
            <a:prstDash val="solid"/>
          </a:ln>
        </p:spPr>
        <p:txBody>
          <a:bodyPr/>
          <a:lstStyle/>
          <a:p>
            <a:endParaRPr lang="en-US"/>
          </a:p>
        </p:txBody>
      </p:sp>
      <p:sp>
        <p:nvSpPr>
          <p:cNvPr id="29" name="Shape 27"/>
          <p:cNvSpPr/>
          <p:nvPr/>
        </p:nvSpPr>
        <p:spPr>
          <a:xfrm>
            <a:off x="8705454" y="1418783"/>
            <a:ext cx="39502" cy="197510"/>
          </a:xfrm>
          <a:prstGeom prst="line">
            <a:avLst/>
          </a:prstGeom>
          <a:noFill/>
          <a:ln w="31750">
            <a:solidFill>
              <a:srgbClr val="1A1A1A"/>
            </a:solidFill>
            <a:prstDash val="solid"/>
          </a:ln>
        </p:spPr>
        <p:txBody>
          <a:bodyPr/>
          <a:lstStyle/>
          <a:p>
            <a:endParaRPr lang="en-US"/>
          </a:p>
        </p:txBody>
      </p:sp>
      <p:sp>
        <p:nvSpPr>
          <p:cNvPr id="30" name="Shape 28"/>
          <p:cNvSpPr/>
          <p:nvPr/>
        </p:nvSpPr>
        <p:spPr>
          <a:xfrm>
            <a:off x="8902964" y="1418783"/>
            <a:ext cx="39502" cy="197510"/>
          </a:xfrm>
          <a:prstGeom prst="line">
            <a:avLst/>
          </a:prstGeom>
          <a:noFill/>
          <a:ln w="31750">
            <a:solidFill>
              <a:srgbClr val="1A1A1A"/>
            </a:solidFill>
            <a:prstDash val="solid"/>
          </a:ln>
        </p:spPr>
        <p:txBody>
          <a:bodyPr/>
          <a:lstStyle/>
          <a:p>
            <a:endParaRPr lang="en-US"/>
          </a:p>
        </p:txBody>
      </p:sp>
      <p:sp>
        <p:nvSpPr>
          <p:cNvPr id="31" name="Text 29"/>
          <p:cNvSpPr/>
          <p:nvPr/>
        </p:nvSpPr>
        <p:spPr>
          <a:xfrm>
            <a:off x="8138160" y="804672"/>
            <a:ext cx="1371600" cy="502920"/>
          </a:xfrm>
          <a:prstGeom prst="rect">
            <a:avLst/>
          </a:prstGeom>
          <a:noFill/>
          <a:ln/>
        </p:spPr>
        <p:txBody>
          <a:bodyPr wrap="square" rtlCol="0" anchor="ctr"/>
          <a:lstStyle/>
          <a:p>
            <a:pPr marL="0" indent="0" algn="l">
              <a:buNone/>
            </a:pPr>
            <a:r>
              <a:rPr lang="en-US" sz="1100" b="1" i="1" dirty="0">
                <a:solidFill>
                  <a:srgbClr val="CC5500"/>
                </a:solidFill>
                <a:latin typeface="Cambria" pitchFamily="34" charset="0"/>
                <a:ea typeface="Cambria" pitchFamily="34" charset="-122"/>
                <a:cs typeface="Cambria" pitchFamily="34" charset="-120"/>
              </a:rPr>
              <a:t>No peeking</a:t>
            </a:r>
            <a:endParaRPr lang="en-US" sz="1100" dirty="0"/>
          </a:p>
          <a:p>
            <a:pPr marL="0" indent="0" algn="l">
              <a:buNone/>
            </a:pPr>
            <a:r>
              <a:rPr lang="en-US" sz="1100" b="1" i="1" dirty="0">
                <a:solidFill>
                  <a:srgbClr val="CC5500"/>
                </a:solidFill>
                <a:latin typeface="Cambria" pitchFamily="34" charset="0"/>
                <a:ea typeface="Cambria" pitchFamily="34" charset="-122"/>
                <a:cs typeface="Cambria" pitchFamily="34" charset="-120"/>
              </a:rPr>
              <a:t>at Slide 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640080"/>
          </a:xfrm>
          <a:prstGeom prst="rect">
            <a:avLst/>
          </a:prstGeom>
          <a:noFill/>
          <a:ln/>
        </p:spPr>
        <p:txBody>
          <a:bodyPr wrap="square" rtlCol="0" anchor="ctr"/>
          <a:lstStyle/>
          <a:p>
            <a:pPr marL="0" indent="0">
              <a:buNone/>
            </a:pPr>
            <a:r>
              <a:rPr lang="en-US" sz="3600" b="1" dirty="0">
                <a:solidFill>
                  <a:srgbClr val="1A1A1A"/>
                </a:solidFill>
                <a:latin typeface="Cambria" pitchFamily="34" charset="0"/>
                <a:ea typeface="Cambria" pitchFamily="34" charset="-122"/>
                <a:cs typeface="Cambria" pitchFamily="34" charset="-120"/>
              </a:rPr>
              <a:t>Your Detective Checklist</a:t>
            </a:r>
            <a:endParaRPr lang="en-US" sz="3600" dirty="0"/>
          </a:p>
        </p:txBody>
      </p:sp>
      <p:sp>
        <p:nvSpPr>
          <p:cNvPr id="3" name="Shape 1"/>
          <p:cNvSpPr/>
          <p:nvPr/>
        </p:nvSpPr>
        <p:spPr>
          <a:xfrm>
            <a:off x="411480" y="960120"/>
            <a:ext cx="2697480" cy="3291840"/>
          </a:xfrm>
          <a:prstGeom prst="roundRect">
            <a:avLst>
              <a:gd name="adj" fmla="val 2712"/>
            </a:avLst>
          </a:prstGeom>
          <a:solidFill>
            <a:srgbClr val="FFFFFF"/>
          </a:solidFill>
          <a:ln w="25400">
            <a:solidFill>
              <a:srgbClr val="D93025"/>
            </a:solidFill>
            <a:prstDash val="solid"/>
          </a:ln>
        </p:spPr>
        <p:txBody>
          <a:bodyPr/>
          <a:lstStyle/>
          <a:p>
            <a:endParaRPr lang="en-US"/>
          </a:p>
        </p:txBody>
      </p:sp>
      <p:sp>
        <p:nvSpPr>
          <p:cNvPr id="4" name="Shape 2"/>
          <p:cNvSpPr/>
          <p:nvPr/>
        </p:nvSpPr>
        <p:spPr>
          <a:xfrm>
            <a:off x="1508760" y="749808"/>
            <a:ext cx="502920" cy="502920"/>
          </a:xfrm>
          <a:prstGeom prst="ellipse">
            <a:avLst/>
          </a:prstGeom>
          <a:solidFill>
            <a:srgbClr val="D93025"/>
          </a:solidFill>
          <a:ln w="12700">
            <a:solidFill>
              <a:srgbClr val="D93025"/>
            </a:solidFill>
            <a:prstDash val="solid"/>
          </a:ln>
        </p:spPr>
        <p:txBody>
          <a:bodyPr/>
          <a:lstStyle/>
          <a:p>
            <a:endParaRPr lang="en-US"/>
          </a:p>
        </p:txBody>
      </p:sp>
      <p:sp>
        <p:nvSpPr>
          <p:cNvPr id="5" name="Text 3"/>
          <p:cNvSpPr/>
          <p:nvPr/>
        </p:nvSpPr>
        <p:spPr>
          <a:xfrm>
            <a:off x="1508760" y="749808"/>
            <a:ext cx="502920" cy="50292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6" name="Text 4"/>
          <p:cNvSpPr/>
          <p:nvPr/>
        </p:nvSpPr>
        <p:spPr>
          <a:xfrm>
            <a:off x="521208" y="1005840"/>
            <a:ext cx="2478024" cy="594360"/>
          </a:xfrm>
          <a:prstGeom prst="rect">
            <a:avLst/>
          </a:prstGeom>
          <a:noFill/>
          <a:ln/>
        </p:spPr>
        <p:txBody>
          <a:bodyPr wrap="square" rtlCol="0" anchor="ctr"/>
          <a:lstStyle/>
          <a:p>
            <a:pPr marL="0" indent="0" algn="ctr">
              <a:buNone/>
            </a:pPr>
            <a:r>
              <a:rPr lang="en-US" sz="1600" b="1" dirty="0">
                <a:solidFill>
                  <a:srgbClr val="D93025"/>
                </a:solidFill>
                <a:latin typeface="Calibri" pitchFamily="34" charset="0"/>
                <a:ea typeface="Calibri" pitchFamily="34" charset="-122"/>
                <a:cs typeface="Calibri" pitchFamily="34" charset="-120"/>
              </a:rPr>
              <a:t>Never read once.</a:t>
            </a:r>
            <a:endParaRPr lang="en-US" sz="1600" dirty="0"/>
          </a:p>
        </p:txBody>
      </p:sp>
      <p:sp>
        <p:nvSpPr>
          <p:cNvPr id="7" name="Shape 5"/>
          <p:cNvSpPr/>
          <p:nvPr/>
        </p:nvSpPr>
        <p:spPr>
          <a:xfrm>
            <a:off x="594360" y="1627632"/>
            <a:ext cx="2331720" cy="0"/>
          </a:xfrm>
          <a:prstGeom prst="line">
            <a:avLst/>
          </a:prstGeom>
          <a:noFill/>
          <a:ln w="12700">
            <a:solidFill>
              <a:srgbClr val="D93025"/>
            </a:solidFill>
            <a:prstDash val="dash"/>
          </a:ln>
        </p:spPr>
        <p:txBody>
          <a:bodyPr/>
          <a:lstStyle/>
          <a:p>
            <a:endParaRPr lang="en-US"/>
          </a:p>
        </p:txBody>
      </p:sp>
      <p:sp>
        <p:nvSpPr>
          <p:cNvPr id="8" name="Text 6"/>
          <p:cNvSpPr/>
          <p:nvPr/>
        </p:nvSpPr>
        <p:spPr>
          <a:xfrm>
            <a:off x="548640" y="1691640"/>
            <a:ext cx="640080" cy="274320"/>
          </a:xfrm>
          <a:prstGeom prst="rect">
            <a:avLst/>
          </a:prstGeom>
          <a:noFill/>
          <a:ln/>
        </p:spPr>
        <p:txBody>
          <a:bodyPr wrap="square" rtlCol="0" anchor="ctr"/>
          <a:lstStyle/>
          <a:p>
            <a:pPr marL="0" indent="0">
              <a:buNone/>
            </a:pPr>
            <a:r>
              <a:rPr lang="en-US" sz="1050" b="1" dirty="0">
                <a:solidFill>
                  <a:srgbClr val="D93025"/>
                </a:solidFill>
                <a:latin typeface="Calibri" pitchFamily="34" charset="0"/>
                <a:ea typeface="Calibri" pitchFamily="34" charset="-122"/>
                <a:cs typeface="Calibri" pitchFamily="34" charset="-120"/>
              </a:rPr>
              <a:t>FORM:</a:t>
            </a:r>
            <a:endParaRPr lang="en-US" sz="1050" dirty="0"/>
          </a:p>
        </p:txBody>
      </p:sp>
      <p:sp>
        <p:nvSpPr>
          <p:cNvPr id="9" name="Text 7"/>
          <p:cNvSpPr/>
          <p:nvPr/>
        </p:nvSpPr>
        <p:spPr>
          <a:xfrm>
            <a:off x="548640" y="1984248"/>
            <a:ext cx="2423160" cy="868680"/>
          </a:xfrm>
          <a:prstGeom prst="rect">
            <a:avLst/>
          </a:prstGeom>
          <a:noFill/>
          <a:ln/>
        </p:spPr>
        <p:txBody>
          <a:bodyPr wrap="square" rtlCol="0" anchor="ctr"/>
          <a:lstStyle/>
          <a:p>
            <a:pPr marL="0" indent="0">
              <a:buNone/>
            </a:pPr>
            <a:r>
              <a:rPr lang="en-US" sz="1250" dirty="0">
                <a:solidFill>
                  <a:srgbClr val="1A1A1A"/>
                </a:solidFill>
                <a:latin typeface="Calibri" pitchFamily="34" charset="0"/>
                <a:ea typeface="Calibri" pitchFamily="34" charset="-122"/>
                <a:cs typeface="Calibri" pitchFamily="34" charset="-120"/>
              </a:rPr>
              <a:t>3 passes: caps → spelling → grammar</a:t>
            </a:r>
            <a:endParaRPr lang="en-US" sz="1250" dirty="0"/>
          </a:p>
        </p:txBody>
      </p:sp>
      <p:sp>
        <p:nvSpPr>
          <p:cNvPr id="10" name="Shape 8"/>
          <p:cNvSpPr/>
          <p:nvPr/>
        </p:nvSpPr>
        <p:spPr>
          <a:xfrm>
            <a:off x="594360" y="2880360"/>
            <a:ext cx="2331720" cy="0"/>
          </a:xfrm>
          <a:prstGeom prst="line">
            <a:avLst/>
          </a:prstGeom>
          <a:noFill/>
          <a:ln w="12700">
            <a:solidFill>
              <a:srgbClr val="D93025"/>
            </a:solidFill>
            <a:prstDash val="sysDot"/>
          </a:ln>
        </p:spPr>
        <p:txBody>
          <a:bodyPr/>
          <a:lstStyle/>
          <a:p>
            <a:endParaRPr lang="en-US"/>
          </a:p>
        </p:txBody>
      </p:sp>
      <p:sp>
        <p:nvSpPr>
          <p:cNvPr id="11" name="Text 9"/>
          <p:cNvSpPr/>
          <p:nvPr/>
        </p:nvSpPr>
        <p:spPr>
          <a:xfrm>
            <a:off x="548640" y="2926080"/>
            <a:ext cx="914400" cy="274320"/>
          </a:xfrm>
          <a:prstGeom prst="rect">
            <a:avLst/>
          </a:prstGeom>
          <a:noFill/>
          <a:ln/>
        </p:spPr>
        <p:txBody>
          <a:bodyPr wrap="square" rtlCol="0" anchor="ctr"/>
          <a:lstStyle/>
          <a:p>
            <a:pPr marL="0" indent="0">
              <a:buNone/>
            </a:pPr>
            <a:r>
              <a:rPr lang="en-US" sz="1050" b="1" dirty="0">
                <a:solidFill>
                  <a:srgbClr val="1A5EA8"/>
                </a:solidFill>
                <a:latin typeface="Calibri" pitchFamily="34" charset="0"/>
                <a:ea typeface="Calibri" pitchFamily="34" charset="-122"/>
                <a:cs typeface="Calibri" pitchFamily="34" charset="-120"/>
              </a:rPr>
              <a:t>MEANING:</a:t>
            </a:r>
            <a:endParaRPr lang="en-US" sz="1050" dirty="0"/>
          </a:p>
        </p:txBody>
      </p:sp>
      <p:sp>
        <p:nvSpPr>
          <p:cNvPr id="12" name="Text 10"/>
          <p:cNvSpPr/>
          <p:nvPr/>
        </p:nvSpPr>
        <p:spPr>
          <a:xfrm>
            <a:off x="548640" y="3218688"/>
            <a:ext cx="2423160" cy="91440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Each pass targets a different layer of meaning — don't conflate them.</a:t>
            </a:r>
            <a:endParaRPr lang="en-US" sz="1200" dirty="0"/>
          </a:p>
        </p:txBody>
      </p:sp>
      <p:sp>
        <p:nvSpPr>
          <p:cNvPr id="13" name="Shape 11"/>
          <p:cNvSpPr/>
          <p:nvPr/>
        </p:nvSpPr>
        <p:spPr>
          <a:xfrm>
            <a:off x="3319272" y="960120"/>
            <a:ext cx="2697480" cy="3291840"/>
          </a:xfrm>
          <a:prstGeom prst="roundRect">
            <a:avLst>
              <a:gd name="adj" fmla="val 2712"/>
            </a:avLst>
          </a:prstGeom>
          <a:solidFill>
            <a:srgbClr val="FFFFFF"/>
          </a:solidFill>
          <a:ln w="25400">
            <a:solidFill>
              <a:srgbClr val="CC5500"/>
            </a:solidFill>
            <a:prstDash val="solid"/>
          </a:ln>
        </p:spPr>
        <p:txBody>
          <a:bodyPr/>
          <a:lstStyle/>
          <a:p>
            <a:endParaRPr lang="en-US"/>
          </a:p>
        </p:txBody>
      </p:sp>
      <p:sp>
        <p:nvSpPr>
          <p:cNvPr id="14" name="Shape 12"/>
          <p:cNvSpPr/>
          <p:nvPr/>
        </p:nvSpPr>
        <p:spPr>
          <a:xfrm>
            <a:off x="4416552" y="749808"/>
            <a:ext cx="502920" cy="502920"/>
          </a:xfrm>
          <a:prstGeom prst="ellipse">
            <a:avLst/>
          </a:prstGeom>
          <a:solidFill>
            <a:srgbClr val="CC5500"/>
          </a:solidFill>
          <a:ln w="12700">
            <a:solidFill>
              <a:srgbClr val="CC5500"/>
            </a:solidFill>
            <a:prstDash val="solid"/>
          </a:ln>
        </p:spPr>
        <p:txBody>
          <a:bodyPr/>
          <a:lstStyle/>
          <a:p>
            <a:endParaRPr lang="en-US"/>
          </a:p>
        </p:txBody>
      </p:sp>
      <p:sp>
        <p:nvSpPr>
          <p:cNvPr id="15" name="Text 13"/>
          <p:cNvSpPr/>
          <p:nvPr/>
        </p:nvSpPr>
        <p:spPr>
          <a:xfrm>
            <a:off x="4416552" y="749808"/>
            <a:ext cx="502920" cy="50292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6" name="Text 14"/>
          <p:cNvSpPr/>
          <p:nvPr/>
        </p:nvSpPr>
        <p:spPr>
          <a:xfrm>
            <a:off x="3429000" y="1005840"/>
            <a:ext cx="2478024" cy="594360"/>
          </a:xfrm>
          <a:prstGeom prst="rect">
            <a:avLst/>
          </a:prstGeom>
          <a:noFill/>
          <a:ln/>
        </p:spPr>
        <p:txBody>
          <a:bodyPr wrap="square" rtlCol="0" anchor="ctr"/>
          <a:lstStyle/>
          <a:p>
            <a:pPr marL="0" indent="0" algn="ctr">
              <a:buNone/>
            </a:pPr>
            <a:r>
              <a:rPr lang="en-US" sz="1600" b="1" dirty="0">
                <a:solidFill>
                  <a:srgbClr val="CC5500"/>
                </a:solidFill>
                <a:latin typeface="Calibri" pitchFamily="34" charset="0"/>
                <a:ea typeface="Calibri" pitchFamily="34" charset="-122"/>
                <a:cs typeface="Calibri" pitchFamily="34" charset="-120"/>
              </a:rPr>
              <a:t>Name the error.</a:t>
            </a:r>
            <a:endParaRPr lang="en-US" sz="1600" dirty="0"/>
          </a:p>
        </p:txBody>
      </p:sp>
      <p:sp>
        <p:nvSpPr>
          <p:cNvPr id="17" name="Shape 15"/>
          <p:cNvSpPr/>
          <p:nvPr/>
        </p:nvSpPr>
        <p:spPr>
          <a:xfrm>
            <a:off x="3502152" y="1627632"/>
            <a:ext cx="2331720" cy="0"/>
          </a:xfrm>
          <a:prstGeom prst="line">
            <a:avLst/>
          </a:prstGeom>
          <a:noFill/>
          <a:ln w="12700">
            <a:solidFill>
              <a:srgbClr val="CC5500"/>
            </a:solidFill>
            <a:prstDash val="dash"/>
          </a:ln>
        </p:spPr>
        <p:txBody>
          <a:bodyPr/>
          <a:lstStyle/>
          <a:p>
            <a:endParaRPr lang="en-US"/>
          </a:p>
        </p:txBody>
      </p:sp>
      <p:sp>
        <p:nvSpPr>
          <p:cNvPr id="18" name="Text 16"/>
          <p:cNvSpPr/>
          <p:nvPr/>
        </p:nvSpPr>
        <p:spPr>
          <a:xfrm>
            <a:off x="3456432" y="1691640"/>
            <a:ext cx="640080" cy="274320"/>
          </a:xfrm>
          <a:prstGeom prst="rect">
            <a:avLst/>
          </a:prstGeom>
          <a:noFill/>
          <a:ln/>
        </p:spPr>
        <p:txBody>
          <a:bodyPr wrap="square" rtlCol="0" anchor="ctr"/>
          <a:lstStyle/>
          <a:p>
            <a:pPr marL="0" indent="0">
              <a:buNone/>
            </a:pPr>
            <a:r>
              <a:rPr lang="en-US" sz="1050" b="1" dirty="0">
                <a:solidFill>
                  <a:srgbClr val="D93025"/>
                </a:solidFill>
                <a:latin typeface="Calibri" pitchFamily="34" charset="0"/>
                <a:ea typeface="Calibri" pitchFamily="34" charset="-122"/>
                <a:cs typeface="Calibri" pitchFamily="34" charset="-120"/>
              </a:rPr>
              <a:t>FORM:</a:t>
            </a:r>
            <a:endParaRPr lang="en-US" sz="1050" dirty="0"/>
          </a:p>
        </p:txBody>
      </p:sp>
      <p:sp>
        <p:nvSpPr>
          <p:cNvPr id="19" name="Text 17"/>
          <p:cNvSpPr/>
          <p:nvPr/>
        </p:nvSpPr>
        <p:spPr>
          <a:xfrm>
            <a:off x="3456432" y="1984248"/>
            <a:ext cx="2423160" cy="868680"/>
          </a:xfrm>
          <a:prstGeom prst="rect">
            <a:avLst/>
          </a:prstGeom>
          <a:noFill/>
          <a:ln/>
        </p:spPr>
        <p:txBody>
          <a:bodyPr wrap="square" rtlCol="0" anchor="ctr"/>
          <a:lstStyle/>
          <a:p>
            <a:pPr marL="0" indent="0">
              <a:buNone/>
            </a:pPr>
            <a:r>
              <a:rPr lang="en-US" sz="1250" dirty="0">
                <a:solidFill>
                  <a:srgbClr val="1A1A1A"/>
                </a:solidFill>
                <a:latin typeface="Calibri" pitchFamily="34" charset="0"/>
                <a:ea typeface="Calibri" pitchFamily="34" charset="-122"/>
                <a:cs typeface="Calibri" pitchFamily="34" charset="-120"/>
              </a:rPr>
              <a:t>Say the rule: 'Past tense needed'</a:t>
            </a:r>
            <a:endParaRPr lang="en-US" sz="1250" dirty="0"/>
          </a:p>
          <a:p>
            <a:pPr marL="0" indent="0">
              <a:buNone/>
            </a:pPr>
            <a:r>
              <a:rPr lang="en-US" sz="1250" dirty="0">
                <a:solidFill>
                  <a:srgbClr val="1A1A1A"/>
                </a:solidFill>
                <a:latin typeface="Calibri" pitchFamily="34" charset="0"/>
                <a:ea typeface="Calibri" pitchFamily="34" charset="-122"/>
                <a:cs typeface="Calibri" pitchFamily="34" charset="-120"/>
              </a:rPr>
              <a:t>not just 'it's wrong'</a:t>
            </a:r>
            <a:endParaRPr lang="en-US" sz="1250" dirty="0"/>
          </a:p>
        </p:txBody>
      </p:sp>
      <p:sp>
        <p:nvSpPr>
          <p:cNvPr id="20" name="Shape 18"/>
          <p:cNvSpPr/>
          <p:nvPr/>
        </p:nvSpPr>
        <p:spPr>
          <a:xfrm>
            <a:off x="3502152" y="2880360"/>
            <a:ext cx="2331720" cy="0"/>
          </a:xfrm>
          <a:prstGeom prst="line">
            <a:avLst/>
          </a:prstGeom>
          <a:noFill/>
          <a:ln w="12700">
            <a:solidFill>
              <a:srgbClr val="CC5500"/>
            </a:solidFill>
            <a:prstDash val="sysDot"/>
          </a:ln>
        </p:spPr>
        <p:txBody>
          <a:bodyPr/>
          <a:lstStyle/>
          <a:p>
            <a:endParaRPr lang="en-US"/>
          </a:p>
        </p:txBody>
      </p:sp>
      <p:sp>
        <p:nvSpPr>
          <p:cNvPr id="21" name="Text 19"/>
          <p:cNvSpPr/>
          <p:nvPr/>
        </p:nvSpPr>
        <p:spPr>
          <a:xfrm>
            <a:off x="3456432" y="2926080"/>
            <a:ext cx="914400" cy="274320"/>
          </a:xfrm>
          <a:prstGeom prst="rect">
            <a:avLst/>
          </a:prstGeom>
          <a:noFill/>
          <a:ln/>
        </p:spPr>
        <p:txBody>
          <a:bodyPr wrap="square" rtlCol="0" anchor="ctr"/>
          <a:lstStyle/>
          <a:p>
            <a:pPr marL="0" indent="0">
              <a:buNone/>
            </a:pPr>
            <a:r>
              <a:rPr lang="en-US" sz="1050" b="1" dirty="0">
                <a:solidFill>
                  <a:srgbClr val="1A5EA8"/>
                </a:solidFill>
                <a:latin typeface="Calibri" pitchFamily="34" charset="0"/>
                <a:ea typeface="Calibri" pitchFamily="34" charset="-122"/>
                <a:cs typeface="Calibri" pitchFamily="34" charset="-120"/>
              </a:rPr>
              <a:t>MEANING:</a:t>
            </a:r>
            <a:endParaRPr lang="en-US" sz="1050" dirty="0"/>
          </a:p>
        </p:txBody>
      </p:sp>
      <p:sp>
        <p:nvSpPr>
          <p:cNvPr id="22" name="Text 20"/>
          <p:cNvSpPr/>
          <p:nvPr/>
        </p:nvSpPr>
        <p:spPr>
          <a:xfrm>
            <a:off x="3456432" y="3218688"/>
            <a:ext cx="2423160" cy="91440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Naming the form helps you explain the meaning gap to the reader.</a:t>
            </a:r>
            <a:endParaRPr lang="en-US" sz="1200" dirty="0"/>
          </a:p>
        </p:txBody>
      </p:sp>
      <p:sp>
        <p:nvSpPr>
          <p:cNvPr id="23" name="Shape 21"/>
          <p:cNvSpPr/>
          <p:nvPr/>
        </p:nvSpPr>
        <p:spPr>
          <a:xfrm>
            <a:off x="6227064" y="960120"/>
            <a:ext cx="2697480" cy="3291840"/>
          </a:xfrm>
          <a:prstGeom prst="roundRect">
            <a:avLst>
              <a:gd name="adj" fmla="val 2712"/>
            </a:avLst>
          </a:prstGeom>
          <a:solidFill>
            <a:srgbClr val="FFFFFF"/>
          </a:solidFill>
          <a:ln w="25400">
            <a:solidFill>
              <a:srgbClr val="1A5EA8"/>
            </a:solidFill>
            <a:prstDash val="solid"/>
          </a:ln>
        </p:spPr>
        <p:txBody>
          <a:bodyPr/>
          <a:lstStyle/>
          <a:p>
            <a:endParaRPr lang="en-US"/>
          </a:p>
        </p:txBody>
      </p:sp>
      <p:sp>
        <p:nvSpPr>
          <p:cNvPr id="24" name="Shape 22"/>
          <p:cNvSpPr/>
          <p:nvPr/>
        </p:nvSpPr>
        <p:spPr>
          <a:xfrm>
            <a:off x="7324344" y="749808"/>
            <a:ext cx="502920" cy="502920"/>
          </a:xfrm>
          <a:prstGeom prst="ellipse">
            <a:avLst/>
          </a:prstGeom>
          <a:solidFill>
            <a:srgbClr val="1A5EA8"/>
          </a:solidFill>
          <a:ln w="12700">
            <a:solidFill>
              <a:srgbClr val="1A5EA8"/>
            </a:solidFill>
            <a:prstDash val="solid"/>
          </a:ln>
        </p:spPr>
        <p:txBody>
          <a:bodyPr/>
          <a:lstStyle/>
          <a:p>
            <a:endParaRPr lang="en-US"/>
          </a:p>
        </p:txBody>
      </p:sp>
      <p:sp>
        <p:nvSpPr>
          <p:cNvPr id="25" name="Text 23"/>
          <p:cNvSpPr/>
          <p:nvPr/>
        </p:nvSpPr>
        <p:spPr>
          <a:xfrm>
            <a:off x="7324344" y="749808"/>
            <a:ext cx="502920" cy="50292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6" name="Text 24"/>
          <p:cNvSpPr/>
          <p:nvPr/>
        </p:nvSpPr>
        <p:spPr>
          <a:xfrm>
            <a:off x="6336792" y="1005840"/>
            <a:ext cx="2478024" cy="594360"/>
          </a:xfrm>
          <a:prstGeom prst="rect">
            <a:avLst/>
          </a:prstGeom>
          <a:noFill/>
          <a:ln/>
        </p:spPr>
        <p:txBody>
          <a:bodyPr wrap="square" rtlCol="0" anchor="ctr"/>
          <a:lstStyle/>
          <a:p>
            <a:pPr marL="0" indent="0" algn="ctr">
              <a:buNone/>
            </a:pPr>
            <a:r>
              <a:rPr lang="en-US" sz="1600" b="1" dirty="0">
                <a:solidFill>
                  <a:srgbClr val="1A5EA8"/>
                </a:solidFill>
                <a:latin typeface="Calibri" pitchFamily="34" charset="0"/>
                <a:ea typeface="Calibri" pitchFamily="34" charset="-122"/>
                <a:cs typeface="Calibri" pitchFamily="34" charset="-120"/>
              </a:rPr>
              <a:t>Explain the meaning.</a:t>
            </a:r>
            <a:endParaRPr lang="en-US" sz="1600" dirty="0"/>
          </a:p>
        </p:txBody>
      </p:sp>
      <p:sp>
        <p:nvSpPr>
          <p:cNvPr id="27" name="Shape 25"/>
          <p:cNvSpPr/>
          <p:nvPr/>
        </p:nvSpPr>
        <p:spPr>
          <a:xfrm>
            <a:off x="6409944" y="1627632"/>
            <a:ext cx="2331720" cy="0"/>
          </a:xfrm>
          <a:prstGeom prst="line">
            <a:avLst/>
          </a:prstGeom>
          <a:noFill/>
          <a:ln w="12700">
            <a:solidFill>
              <a:srgbClr val="1A5EA8"/>
            </a:solidFill>
            <a:prstDash val="dash"/>
          </a:ln>
        </p:spPr>
        <p:txBody>
          <a:bodyPr/>
          <a:lstStyle/>
          <a:p>
            <a:endParaRPr lang="en-US"/>
          </a:p>
        </p:txBody>
      </p:sp>
      <p:sp>
        <p:nvSpPr>
          <p:cNvPr id="28" name="Text 26"/>
          <p:cNvSpPr/>
          <p:nvPr/>
        </p:nvSpPr>
        <p:spPr>
          <a:xfrm>
            <a:off x="6364224" y="1691640"/>
            <a:ext cx="640080" cy="274320"/>
          </a:xfrm>
          <a:prstGeom prst="rect">
            <a:avLst/>
          </a:prstGeom>
          <a:noFill/>
          <a:ln/>
        </p:spPr>
        <p:txBody>
          <a:bodyPr wrap="square" rtlCol="0" anchor="ctr"/>
          <a:lstStyle/>
          <a:p>
            <a:pPr marL="0" indent="0">
              <a:buNone/>
            </a:pPr>
            <a:r>
              <a:rPr lang="en-US" sz="1050" b="1" dirty="0">
                <a:solidFill>
                  <a:srgbClr val="D93025"/>
                </a:solidFill>
                <a:latin typeface="Calibri" pitchFamily="34" charset="0"/>
                <a:ea typeface="Calibri" pitchFamily="34" charset="-122"/>
                <a:cs typeface="Calibri" pitchFamily="34" charset="-120"/>
              </a:rPr>
              <a:t>FORM:</a:t>
            </a:r>
            <a:endParaRPr lang="en-US" sz="1050" dirty="0"/>
          </a:p>
        </p:txBody>
      </p:sp>
      <p:sp>
        <p:nvSpPr>
          <p:cNvPr id="29" name="Text 27"/>
          <p:cNvSpPr/>
          <p:nvPr/>
        </p:nvSpPr>
        <p:spPr>
          <a:xfrm>
            <a:off x="6364224" y="1984248"/>
            <a:ext cx="2423160" cy="868680"/>
          </a:xfrm>
          <a:prstGeom prst="rect">
            <a:avLst/>
          </a:prstGeom>
          <a:noFill/>
          <a:ln/>
        </p:spPr>
        <p:txBody>
          <a:bodyPr wrap="square" rtlCol="0" anchor="ctr"/>
          <a:lstStyle/>
          <a:p>
            <a:pPr marL="0" indent="0">
              <a:buNone/>
            </a:pPr>
            <a:r>
              <a:rPr lang="en-US" sz="1250" dirty="0">
                <a:solidFill>
                  <a:srgbClr val="1A1A1A"/>
                </a:solidFill>
                <a:latin typeface="Calibri" pitchFamily="34" charset="0"/>
                <a:ea typeface="Calibri" pitchFamily="34" charset="-122"/>
                <a:cs typeface="Calibri" pitchFamily="34" charset="-120"/>
              </a:rPr>
              <a:t>Ask: what signal does the</a:t>
            </a:r>
            <a:endParaRPr lang="en-US" sz="1250" dirty="0"/>
          </a:p>
          <a:p>
            <a:pPr marL="0" indent="0">
              <a:buNone/>
            </a:pPr>
            <a:r>
              <a:rPr lang="en-US" sz="1250" dirty="0">
                <a:solidFill>
                  <a:srgbClr val="1A1A1A"/>
                </a:solidFill>
                <a:latin typeface="Calibri" pitchFamily="34" charset="0"/>
                <a:ea typeface="Calibri" pitchFamily="34" charset="-122"/>
                <a:cs typeface="Calibri" pitchFamily="34" charset="-120"/>
              </a:rPr>
              <a:t>correct form send?</a:t>
            </a:r>
            <a:endParaRPr lang="en-US" sz="1250" dirty="0"/>
          </a:p>
        </p:txBody>
      </p:sp>
      <p:sp>
        <p:nvSpPr>
          <p:cNvPr id="30" name="Shape 28"/>
          <p:cNvSpPr/>
          <p:nvPr/>
        </p:nvSpPr>
        <p:spPr>
          <a:xfrm>
            <a:off x="6409944" y="2880360"/>
            <a:ext cx="2331720" cy="0"/>
          </a:xfrm>
          <a:prstGeom prst="line">
            <a:avLst/>
          </a:prstGeom>
          <a:noFill/>
          <a:ln w="12700">
            <a:solidFill>
              <a:srgbClr val="1A5EA8"/>
            </a:solidFill>
            <a:prstDash val="sysDot"/>
          </a:ln>
        </p:spPr>
        <p:txBody>
          <a:bodyPr/>
          <a:lstStyle/>
          <a:p>
            <a:endParaRPr lang="en-US"/>
          </a:p>
        </p:txBody>
      </p:sp>
      <p:sp>
        <p:nvSpPr>
          <p:cNvPr id="31" name="Text 29"/>
          <p:cNvSpPr/>
          <p:nvPr/>
        </p:nvSpPr>
        <p:spPr>
          <a:xfrm>
            <a:off x="6364224" y="2926080"/>
            <a:ext cx="914400" cy="274320"/>
          </a:xfrm>
          <a:prstGeom prst="rect">
            <a:avLst/>
          </a:prstGeom>
          <a:noFill/>
          <a:ln/>
        </p:spPr>
        <p:txBody>
          <a:bodyPr wrap="square" rtlCol="0" anchor="ctr"/>
          <a:lstStyle/>
          <a:p>
            <a:pPr marL="0" indent="0">
              <a:buNone/>
            </a:pPr>
            <a:r>
              <a:rPr lang="en-US" sz="1050" b="1" dirty="0">
                <a:solidFill>
                  <a:srgbClr val="1A5EA8"/>
                </a:solidFill>
                <a:latin typeface="Calibri" pitchFamily="34" charset="0"/>
                <a:ea typeface="Calibri" pitchFamily="34" charset="-122"/>
                <a:cs typeface="Calibri" pitchFamily="34" charset="-120"/>
              </a:rPr>
              <a:t>MEANING:</a:t>
            </a:r>
            <a:endParaRPr lang="en-US" sz="1050" dirty="0"/>
          </a:p>
        </p:txBody>
      </p:sp>
      <p:sp>
        <p:nvSpPr>
          <p:cNvPr id="32" name="Text 30"/>
          <p:cNvSpPr/>
          <p:nvPr/>
        </p:nvSpPr>
        <p:spPr>
          <a:xfrm>
            <a:off x="6364224" y="3218688"/>
            <a:ext cx="2423160" cy="91440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Every grammar rule communicates something. Find it and state it.</a:t>
            </a:r>
            <a:endParaRPr lang="en-US" sz="1200" dirty="0"/>
          </a:p>
        </p:txBody>
      </p:sp>
      <p:sp>
        <p:nvSpPr>
          <p:cNvPr id="33" name="Shape 31"/>
          <p:cNvSpPr/>
          <p:nvPr/>
        </p:nvSpPr>
        <p:spPr>
          <a:xfrm>
            <a:off x="550926" y="4382719"/>
            <a:ext cx="544068" cy="544068"/>
          </a:xfrm>
          <a:prstGeom prst="roundRect">
            <a:avLst>
              <a:gd name="adj" fmla="val 58824"/>
            </a:avLst>
          </a:prstGeom>
          <a:solidFill>
            <a:srgbClr val="1A1A1A"/>
          </a:solidFill>
          <a:ln w="12700">
            <a:solidFill>
              <a:srgbClr val="1A1A1A"/>
            </a:solidFill>
            <a:prstDash val="solid"/>
          </a:ln>
        </p:spPr>
        <p:txBody>
          <a:bodyPr/>
          <a:lstStyle/>
          <a:p>
            <a:endParaRPr lang="en-US"/>
          </a:p>
        </p:txBody>
      </p:sp>
      <p:sp>
        <p:nvSpPr>
          <p:cNvPr id="34" name="Shape 32"/>
          <p:cNvSpPr/>
          <p:nvPr/>
        </p:nvSpPr>
        <p:spPr>
          <a:xfrm>
            <a:off x="675284" y="4475988"/>
            <a:ext cx="77724" cy="77724"/>
          </a:xfrm>
          <a:prstGeom prst="ellipse">
            <a:avLst/>
          </a:prstGeom>
          <a:solidFill>
            <a:srgbClr val="FFFFFF"/>
          </a:solidFill>
          <a:ln w="12700">
            <a:solidFill>
              <a:srgbClr val="FFFFFF"/>
            </a:solidFill>
            <a:prstDash val="solid"/>
          </a:ln>
        </p:spPr>
        <p:txBody>
          <a:bodyPr/>
          <a:lstStyle/>
          <a:p>
            <a:endParaRPr lang="en-US"/>
          </a:p>
        </p:txBody>
      </p:sp>
      <p:sp>
        <p:nvSpPr>
          <p:cNvPr id="35" name="Shape 33"/>
          <p:cNvSpPr/>
          <p:nvPr/>
        </p:nvSpPr>
        <p:spPr>
          <a:xfrm>
            <a:off x="885139" y="4475988"/>
            <a:ext cx="77724" cy="77724"/>
          </a:xfrm>
          <a:prstGeom prst="ellipse">
            <a:avLst/>
          </a:prstGeom>
          <a:solidFill>
            <a:srgbClr val="FFFFFF"/>
          </a:solidFill>
          <a:ln w="12700">
            <a:solidFill>
              <a:srgbClr val="FFFFFF"/>
            </a:solidFill>
            <a:prstDash val="solid"/>
          </a:ln>
        </p:spPr>
        <p:txBody>
          <a:bodyPr/>
          <a:lstStyle/>
          <a:p>
            <a:endParaRPr lang="en-US"/>
          </a:p>
        </p:txBody>
      </p:sp>
      <p:sp>
        <p:nvSpPr>
          <p:cNvPr id="36" name="Shape 34"/>
          <p:cNvSpPr/>
          <p:nvPr/>
        </p:nvSpPr>
        <p:spPr>
          <a:xfrm>
            <a:off x="683057" y="4926787"/>
            <a:ext cx="46634" cy="233172"/>
          </a:xfrm>
          <a:prstGeom prst="line">
            <a:avLst/>
          </a:prstGeom>
          <a:noFill/>
          <a:ln w="31750">
            <a:solidFill>
              <a:srgbClr val="1A1A1A"/>
            </a:solidFill>
            <a:prstDash val="solid"/>
          </a:ln>
        </p:spPr>
        <p:txBody>
          <a:bodyPr/>
          <a:lstStyle/>
          <a:p>
            <a:endParaRPr lang="en-US"/>
          </a:p>
        </p:txBody>
      </p:sp>
      <p:sp>
        <p:nvSpPr>
          <p:cNvPr id="37" name="Shape 35"/>
          <p:cNvSpPr/>
          <p:nvPr/>
        </p:nvSpPr>
        <p:spPr>
          <a:xfrm>
            <a:off x="916229" y="4926787"/>
            <a:ext cx="46634" cy="233172"/>
          </a:xfrm>
          <a:prstGeom prst="line">
            <a:avLst/>
          </a:prstGeom>
          <a:noFill/>
          <a:ln w="31750">
            <a:solidFill>
              <a:srgbClr val="1A1A1A"/>
            </a:solidFill>
            <a:prstDash val="solid"/>
          </a:ln>
        </p:spPr>
        <p:txBody>
          <a:bodyPr/>
          <a:lstStyle/>
          <a:p>
            <a:endParaRPr lang="en-US"/>
          </a:p>
        </p:txBody>
      </p:sp>
      <p:sp>
        <p:nvSpPr>
          <p:cNvPr id="38" name="Text 36"/>
          <p:cNvSpPr/>
          <p:nvPr/>
        </p:nvSpPr>
        <p:spPr>
          <a:xfrm>
            <a:off x="1417320" y="4480560"/>
            <a:ext cx="7315200" cy="548640"/>
          </a:xfrm>
          <a:prstGeom prst="rect">
            <a:avLst/>
          </a:prstGeom>
          <a:noFill/>
          <a:ln/>
        </p:spPr>
        <p:txBody>
          <a:bodyPr wrap="square" rtlCol="0" anchor="ctr"/>
          <a:lstStyle/>
          <a:p>
            <a:pPr marL="0" indent="0">
              <a:buNone/>
            </a:pPr>
            <a:r>
              <a:rPr lang="en-US" sz="1500" i="1" dirty="0">
                <a:solidFill>
                  <a:srgbClr val="CC5500"/>
                </a:solidFill>
                <a:latin typeface="Cambria" pitchFamily="34" charset="0"/>
                <a:ea typeface="Cambria" pitchFamily="34" charset="-122"/>
                <a:cs typeface="Cambria" pitchFamily="34" charset="-120"/>
              </a:rPr>
              <a:t>Grammar rules are not random — they carry meaning. You are the reader's guide.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E0D35F-6DAD-BA2E-7CCA-89F85E207FFA}"/>
              </a:ext>
            </a:extLst>
          </p:cNvPr>
          <p:cNvSpPr txBox="1"/>
          <p:nvPr/>
        </p:nvSpPr>
        <p:spPr>
          <a:xfrm>
            <a:off x="669365" y="587711"/>
            <a:ext cx="8092141" cy="4154984"/>
          </a:xfrm>
          <a:prstGeom prst="rect">
            <a:avLst/>
          </a:prstGeom>
          <a:noFill/>
        </p:spPr>
        <p:txBody>
          <a:bodyPr wrap="square">
            <a:spAutoFit/>
          </a:bodyPr>
          <a:lstStyle/>
          <a:p>
            <a:pPr>
              <a:buNone/>
            </a:pPr>
            <a:r>
              <a:rPr lang="en-GB" sz="2400" b="1" dirty="0"/>
              <a:t>Paragraph A — The Science Fair</a:t>
            </a:r>
            <a:endParaRPr lang="en-GB" sz="2400" dirty="0"/>
          </a:p>
          <a:p>
            <a:pPr>
              <a:buNone/>
            </a:pPr>
            <a:r>
              <a:rPr lang="en-GB" sz="2400" dirty="0"/>
              <a:t>Last </a:t>
            </a:r>
            <a:r>
              <a:rPr lang="en-GB" sz="2400" dirty="0" err="1"/>
              <a:t>friday</a:t>
            </a:r>
            <a:r>
              <a:rPr lang="en-GB" sz="2400" dirty="0"/>
              <a:t>, the students in Ms. Rivera's class presented their science projects to the school. Each group work very hard for two weeks to prepare their experiments. One team, led by a girl named Sofia, demonstrated how plants grow different in sunlight versus shade. Their results was surprising: the shaded plants grew taller but produced less leaves overall. Sofia explained the findings clear to the audience, and several teachers asked questions afterward. At the end of the event, the principal congratulated everyone and said that next year's fair would be even more impressive</a:t>
            </a:r>
          </a:p>
        </p:txBody>
      </p:sp>
    </p:spTree>
    <p:extLst>
      <p:ext uri="{BB962C8B-B14F-4D97-AF65-F5344CB8AC3E}">
        <p14:creationId xmlns:p14="http://schemas.microsoft.com/office/powerpoint/2010/main" val="4140240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EB16AD-D5FE-6A03-3996-EF04331EB4F7}"/>
              </a:ext>
            </a:extLst>
          </p:cNvPr>
          <p:cNvSpPr txBox="1"/>
          <p:nvPr/>
        </p:nvSpPr>
        <p:spPr>
          <a:xfrm>
            <a:off x="669365" y="587711"/>
            <a:ext cx="8092141" cy="4154984"/>
          </a:xfrm>
          <a:prstGeom prst="rect">
            <a:avLst/>
          </a:prstGeom>
          <a:noFill/>
        </p:spPr>
        <p:txBody>
          <a:bodyPr wrap="square">
            <a:spAutoFit/>
          </a:bodyPr>
          <a:lstStyle/>
          <a:p>
            <a:r>
              <a:rPr lang="en-GB" sz="2400" b="1" dirty="0"/>
              <a:t>Paragraph B — The Weekend Trip</a:t>
            </a:r>
            <a:endParaRPr lang="en-GB" sz="2400" dirty="0"/>
          </a:p>
          <a:p>
            <a:r>
              <a:rPr lang="en-GB" sz="2400" dirty="0"/>
              <a:t>On </a:t>
            </a:r>
            <a:r>
              <a:rPr lang="en-GB" sz="2400" dirty="0" err="1"/>
              <a:t>saturday</a:t>
            </a:r>
            <a:r>
              <a:rPr lang="en-GB" sz="2400" dirty="0"/>
              <a:t> morning, a group of friends decide to visit the old market near the river. They arrived early because they wanted to find fresh vegetables before the crowds came. Marcus, who love cooking, bought tomatoes, herbs, and a small bag of spices. His friend Layla helped him carry the bags, but she forgot to bring his own wallet, so Marcus paid for everything. The market was loud and </a:t>
            </a:r>
            <a:r>
              <a:rPr lang="en-GB" sz="2400" dirty="0" err="1"/>
              <a:t>colorful</a:t>
            </a:r>
            <a:r>
              <a:rPr lang="en-GB" sz="2400" dirty="0"/>
              <a:t>, and everyone enjoyed </a:t>
            </a:r>
            <a:r>
              <a:rPr lang="en-GB" sz="2400" dirty="0" err="1"/>
              <a:t>theirself</a:t>
            </a:r>
            <a:r>
              <a:rPr lang="en-GB" sz="2400" dirty="0"/>
              <a:t> walking through the stalls. By noon, the friends was tired but happy, and they stopped at a small café for lunch before heading home.</a:t>
            </a:r>
          </a:p>
        </p:txBody>
      </p:sp>
    </p:spTree>
    <p:extLst>
      <p:ext uri="{BB962C8B-B14F-4D97-AF65-F5344CB8AC3E}">
        <p14:creationId xmlns:p14="http://schemas.microsoft.com/office/powerpoint/2010/main" val="10845150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112</TotalTime>
  <Words>2307</Words>
  <Application>Microsoft Macintosh PowerPoint</Application>
  <PresentationFormat>On-screen Show (16:9)</PresentationFormat>
  <Paragraphs>191</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Grammar Detective – TOEFL Primary (Junior)</dc:title>
  <dc:subject>PptxGenJS Presentation</dc:subject>
  <dc:creator>PptxGenJS</dc:creator>
  <cp:lastModifiedBy>askR</cp:lastModifiedBy>
  <cp:revision>4</cp:revision>
  <dcterms:created xsi:type="dcterms:W3CDTF">2026-06-11T05:57:58Z</dcterms:created>
  <dcterms:modified xsi:type="dcterms:W3CDTF">2026-06-13T06:53:16Z</dcterms:modified>
</cp:coreProperties>
</file>