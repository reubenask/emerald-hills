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1" r:id="rId24"/>
    <p:sldId id="280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86602"/>
  </p:normalViewPr>
  <p:slideViewPr>
    <p:cSldViewPr snapToGrid="0" snapToObjects="1">
      <p:cViewPr varScale="1">
        <p:scale>
          <a:sx n="144" d="100"/>
          <a:sy n="144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49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enpQqJkYBaY&amp;t=64" TargetMode="External"/><Relationship Id="rId3" Type="http://schemas.openxmlformats.org/officeDocument/2006/relationships/hyperlink" Target="https://www.youtube.com/watch?v=enpQqJkYBaY&amp;t=12" TargetMode="External"/><Relationship Id="rId7" Type="http://schemas.openxmlformats.org/officeDocument/2006/relationships/hyperlink" Target="https://www.youtube.com/watch?v=enpQqJkYBaY&amp;t=74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youtube.com/watch?v=enpQqJkYBaY&amp;t=49" TargetMode="External"/><Relationship Id="rId5" Type="http://schemas.openxmlformats.org/officeDocument/2006/relationships/hyperlink" Target="https://www.youtube.com/watch?v=enpQqJkYBaY&amp;t=40" TargetMode="External"/><Relationship Id="rId10" Type="http://schemas.openxmlformats.org/officeDocument/2006/relationships/hyperlink" Target="https://www.youtube.com/watch?v=enpQqJkYBaY&amp;t=99" TargetMode="External"/><Relationship Id="rId4" Type="http://schemas.openxmlformats.org/officeDocument/2006/relationships/hyperlink" Target="https://www.youtube.com/watch?v=enpQqJkYBaY&amp;t=21" TargetMode="External"/><Relationship Id="rId9" Type="http://schemas.openxmlformats.org/officeDocument/2006/relationships/hyperlink" Target="https://www.youtube.com/watch?v=enpQqJkYBaY&amp;t=84" TargetMode="External"/></Relationships>
</file>

<file path=ppt/notesSlides/_rels/notes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enpQqJkYBaY&amp;t=64" TargetMode="External"/><Relationship Id="rId3" Type="http://schemas.openxmlformats.org/officeDocument/2006/relationships/hyperlink" Target="https://www.youtube.com/watch?v=enpQqJkYBaY&amp;t=12" TargetMode="External"/><Relationship Id="rId7" Type="http://schemas.openxmlformats.org/officeDocument/2006/relationships/hyperlink" Target="https://www.youtube.com/watch?v=enpQqJkYBaY&amp;t=74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youtube.com/watch?v=enpQqJkYBaY&amp;t=49" TargetMode="External"/><Relationship Id="rId5" Type="http://schemas.openxmlformats.org/officeDocument/2006/relationships/hyperlink" Target="https://www.youtube.com/watch?v=enpQqJkYBaY&amp;t=40" TargetMode="External"/><Relationship Id="rId10" Type="http://schemas.openxmlformats.org/officeDocument/2006/relationships/hyperlink" Target="https://www.youtube.com/watch?v=enpQqJkYBaY&amp;t=99" TargetMode="External"/><Relationship Id="rId4" Type="http://schemas.openxmlformats.org/officeDocument/2006/relationships/hyperlink" Target="https://www.youtube.com/watch?v=enpQqJkYBaY&amp;t=21" TargetMode="External"/><Relationship Id="rId9" Type="http://schemas.openxmlformats.org/officeDocument/2006/relationships/hyperlink" Target="https://www.youtube.com/watch?v=enpQqJkYBaY&amp;t=84" TargetMode="External"/></Relationships>
</file>

<file path=ppt/notesSlides/_rels/notes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enpQqJkYBaY&amp;t=64" TargetMode="External"/><Relationship Id="rId3" Type="http://schemas.openxmlformats.org/officeDocument/2006/relationships/hyperlink" Target="https://www.youtube.com/watch?v=enpQqJkYBaY&amp;t=12" TargetMode="External"/><Relationship Id="rId7" Type="http://schemas.openxmlformats.org/officeDocument/2006/relationships/hyperlink" Target="https://www.youtube.com/watch?v=enpQqJkYBaY&amp;t=74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youtube.com/watch?v=enpQqJkYBaY&amp;t=49" TargetMode="External"/><Relationship Id="rId5" Type="http://schemas.openxmlformats.org/officeDocument/2006/relationships/hyperlink" Target="https://www.youtube.com/watch?v=enpQqJkYBaY&amp;t=40" TargetMode="External"/><Relationship Id="rId10" Type="http://schemas.openxmlformats.org/officeDocument/2006/relationships/hyperlink" Target="https://www.youtube.com/watch?v=enpQqJkYBaY&amp;t=99" TargetMode="External"/><Relationship Id="rId4" Type="http://schemas.openxmlformats.org/officeDocument/2006/relationships/hyperlink" Target="https://www.youtube.com/watch?v=enpQqJkYBaY&amp;t=21" TargetMode="External"/><Relationship Id="rId9" Type="http://schemas.openxmlformats.org/officeDocument/2006/relationships/hyperlink" Target="https://www.youtube.com/watch?v=enpQqJkYBaY&amp;t=84" TargetMode="External"/></Relationships>
</file>

<file path=ppt/notesSlides/_rels/notes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enpQqJkYBaY&amp;t=64" TargetMode="External"/><Relationship Id="rId3" Type="http://schemas.openxmlformats.org/officeDocument/2006/relationships/hyperlink" Target="https://www.youtube.com/watch?v=enpQqJkYBaY&amp;t=12" TargetMode="External"/><Relationship Id="rId7" Type="http://schemas.openxmlformats.org/officeDocument/2006/relationships/hyperlink" Target="https://www.youtube.com/watch?v=enpQqJkYBaY&amp;t=74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youtube.com/watch?v=enpQqJkYBaY&amp;t=49" TargetMode="External"/><Relationship Id="rId5" Type="http://schemas.openxmlformats.org/officeDocument/2006/relationships/hyperlink" Target="https://www.youtube.com/watch?v=enpQqJkYBaY&amp;t=40" TargetMode="External"/><Relationship Id="rId10" Type="http://schemas.openxmlformats.org/officeDocument/2006/relationships/hyperlink" Target="https://www.youtube.com/watch?v=enpQqJkYBaY&amp;t=99" TargetMode="External"/><Relationship Id="rId4" Type="http://schemas.openxmlformats.org/officeDocument/2006/relationships/hyperlink" Target="https://www.youtube.com/watch?v=enpQqJkYBaY&amp;t=21" TargetMode="External"/><Relationship Id="rId9" Type="http://schemas.openxmlformats.org/officeDocument/2006/relationships/hyperlink" Target="https://www.youtube.com/watch?v=enpQqJkYBaY&amp;t=84" TargetMode="External"/></Relationships>
</file>

<file path=ppt/notesSlides/_rels/notes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lffgNrfWNzI&amp;t=105" TargetMode="External"/><Relationship Id="rId3" Type="http://schemas.openxmlformats.org/officeDocument/2006/relationships/hyperlink" Target="https://www.youtube.com/watch?v=lffgNrfWNzI&amp;t=27" TargetMode="External"/><Relationship Id="rId7" Type="http://schemas.openxmlformats.org/officeDocument/2006/relationships/hyperlink" Target="https://www.youtube.com/watch?v=lffgNrfWNzI&amp;t=0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youtube.com/watch?v=lffgNrfWNzI&amp;t=229" TargetMode="External"/><Relationship Id="rId11" Type="http://schemas.openxmlformats.org/officeDocument/2006/relationships/hyperlink" Target="https://www.youtube.com/watch?v=lffgNrfWNzI&amp;t=219" TargetMode="External"/><Relationship Id="rId5" Type="http://schemas.openxmlformats.org/officeDocument/2006/relationships/hyperlink" Target="https://www.youtube.com/watch?v=lffgNrfWNzI&amp;t=119" TargetMode="External"/><Relationship Id="rId10" Type="http://schemas.openxmlformats.org/officeDocument/2006/relationships/hyperlink" Target="https://www.youtube.com/watch?v=lffgNrfWNzI&amp;t=206" TargetMode="External"/><Relationship Id="rId4" Type="http://schemas.openxmlformats.org/officeDocument/2006/relationships/hyperlink" Target="https://www.youtube.com/watch?v=lffgNrfWNzI&amp;t=54" TargetMode="External"/><Relationship Id="rId9" Type="http://schemas.openxmlformats.org/officeDocument/2006/relationships/hyperlink" Target="https://www.youtube.com/watch?v=lffgNrfWNzI&amp;t=165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four question types students will learn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TOEFL Listening is about hearing a short recording and answering questions. Keep it simple and relatable.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idea = the overall topic or message. Not a small detail. Encourage students to listen for the first and last sentences — often the main idea is stated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eliminating wrong answers. A is too narrow (only tricks). C and D are not mentioned. B covers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questions ask about specific facts. Tell students the answer is always directly stated in the recording — they just need to catch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 Key:</a:t>
            </a: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C) Green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C) Mike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C) She wiggles even more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B) Purple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C) Chocolate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/J5Q12FvqK6w?list=PLlfBQqiQC2dljaTrDwqw1HnYYhz3nVWxv</a:t>
            </a:r>
          </a:p>
        </p:txBody>
      </p:sp>
    </p:spTree>
    <p:extLst>
      <p:ext uri="{BB962C8B-B14F-4D97-AF65-F5344CB8AC3E}">
        <p14:creationId xmlns:p14="http://schemas.microsoft.com/office/powerpoint/2010/main" val="1670300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/9X4mQFDFutc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161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answer '30 minutes' is said word-for-word in the recording. Detail answers are always directly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questions test word meaning in context. Students should not rely only on memorized definitions — they must use surrounding sentences.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students how the next sentence gives away the meaning. 'stay by their owner's side' = faithful/true = loyal.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= the speaker's intention. Ask students to think about WHY someone would say this — to inform, warn, encourage, compare,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 words like 'for example', 'however', 'in contrast' reveal the speaker's PURPOSE. Teach students to listen for these signal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all four types together. Ask students to repeat back what each type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lesson with positivity. Remind students that listening is a skill that improves with daily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GB" b="1" dirty="0"/>
              <a:t>https://</a:t>
            </a:r>
            <a:r>
              <a:rPr lang="en-GB" b="1" dirty="0" err="1"/>
              <a:t>youtu.be</a:t>
            </a:r>
            <a:r>
              <a:rPr lang="en-GB" b="1" dirty="0"/>
              <a:t>/</a:t>
            </a:r>
            <a:r>
              <a:rPr lang="en-GB" b="1" dirty="0" err="1"/>
              <a:t>enpQqJkYBaY</a:t>
            </a:r>
            <a:r>
              <a:rPr lang="en-GB" b="1" dirty="0"/>
              <a:t> this too:</a:t>
            </a:r>
          </a:p>
          <a:p>
            <a:r>
              <a:rPr lang="en-GB" b="1" dirty="0"/>
              <a:t>Answer Key &amp; Timestamps:</a:t>
            </a:r>
          </a:p>
          <a:p>
            <a:r>
              <a:rPr lang="en-GB" b="1" dirty="0"/>
              <a:t>B</a:t>
            </a:r>
            <a:r>
              <a:rPr lang="en-GB" dirty="0"/>
              <a:t> [</a:t>
            </a:r>
            <a:r>
              <a:rPr lang="en-GB" dirty="0">
                <a:hlinkClick r:id="rId3"/>
              </a:rPr>
              <a:t>00:12</a:t>
            </a:r>
            <a:r>
              <a:rPr lang="en-GB" dirty="0"/>
              <a:t>]</a:t>
            </a:r>
          </a:p>
          <a:p>
            <a:r>
              <a:rPr lang="en-GB" b="1" dirty="0"/>
              <a:t>A</a:t>
            </a:r>
            <a:r>
              <a:rPr lang="en-GB" dirty="0"/>
              <a:t> [</a:t>
            </a:r>
            <a:r>
              <a:rPr lang="en-GB" dirty="0">
                <a:hlinkClick r:id="rId4"/>
              </a:rPr>
              <a:t>00:21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[</a:t>
            </a:r>
            <a:r>
              <a:rPr lang="en-GB" dirty="0">
                <a:hlinkClick r:id="rId5"/>
              </a:rPr>
              <a:t>00:40</a:t>
            </a:r>
            <a:r>
              <a:rPr lang="en-GB" dirty="0"/>
              <a:t>]</a:t>
            </a:r>
          </a:p>
          <a:p>
            <a:r>
              <a:rPr lang="en-GB" b="1" dirty="0"/>
              <a:t>A</a:t>
            </a:r>
            <a:r>
              <a:rPr lang="en-GB" dirty="0"/>
              <a:t> [</a:t>
            </a:r>
            <a:r>
              <a:rPr lang="en-GB" dirty="0">
                <a:hlinkClick r:id="rId6"/>
              </a:rPr>
              <a:t>00:49</a:t>
            </a:r>
            <a:r>
              <a:rPr lang="en-GB" dirty="0"/>
              <a:t>]</a:t>
            </a:r>
          </a:p>
          <a:p>
            <a:r>
              <a:rPr lang="en-GB" b="1" dirty="0"/>
              <a:t>B</a:t>
            </a:r>
            <a:r>
              <a:rPr lang="en-GB" dirty="0"/>
              <a:t> [</a:t>
            </a:r>
            <a:r>
              <a:rPr lang="en-GB" dirty="0">
                <a:hlinkClick r:id="rId7"/>
              </a:rPr>
              <a:t>01:14</a:t>
            </a:r>
            <a:r>
              <a:rPr lang="en-GB" dirty="0"/>
              <a:t>]</a:t>
            </a:r>
          </a:p>
          <a:p>
            <a:r>
              <a:rPr lang="en-GB" b="1" dirty="0"/>
              <a:t>B</a:t>
            </a:r>
            <a:r>
              <a:rPr lang="en-GB" dirty="0"/>
              <a:t> (A station worker) [</a:t>
            </a:r>
            <a:r>
              <a:rPr lang="en-GB" dirty="0">
                <a:hlinkClick r:id="rId3"/>
              </a:rPr>
              <a:t>00:12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(London) [</a:t>
            </a:r>
            <a:r>
              <a:rPr lang="en-GB" dirty="0">
                <a:hlinkClick r:id="rId4"/>
              </a:rPr>
              <a:t>00:21</a:t>
            </a:r>
            <a:r>
              <a:rPr lang="en-GB" dirty="0"/>
              <a:t>]</a:t>
            </a:r>
          </a:p>
          <a:p>
            <a:r>
              <a:rPr lang="en-GB" b="1" dirty="0"/>
              <a:t>B</a:t>
            </a:r>
            <a:r>
              <a:rPr lang="en-GB" dirty="0"/>
              <a:t> (Tomorrow) [</a:t>
            </a:r>
            <a:r>
              <a:rPr lang="en-GB" dirty="0">
                <a:hlinkClick r:id="rId8"/>
              </a:rPr>
              <a:t>01:04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(10:00) [</a:t>
            </a:r>
            <a:r>
              <a:rPr lang="en-GB" dirty="0">
                <a:hlinkClick r:id="rId7"/>
              </a:rPr>
              <a:t>01:14</a:t>
            </a:r>
            <a:r>
              <a:rPr lang="en-GB" dirty="0"/>
              <a:t>] </a:t>
            </a:r>
            <a:r>
              <a:rPr lang="en-GB" i="1" dirty="0"/>
              <a:t>(Note: It leaves at 9:00, arrives at 10:00)</a:t>
            </a:r>
            <a:endParaRPr lang="en-GB" dirty="0"/>
          </a:p>
          <a:p>
            <a:r>
              <a:rPr lang="en-GB" b="1" dirty="0"/>
              <a:t>A</a:t>
            </a:r>
            <a:r>
              <a:rPr lang="en-GB" dirty="0"/>
              <a:t> (You can pay with cash or a card) [</a:t>
            </a:r>
            <a:r>
              <a:rPr lang="en-GB" dirty="0">
                <a:hlinkClick r:id="rId9"/>
              </a:rPr>
              <a:t>01:24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(Go straight ahead, turn right, and go up the stairs) [</a:t>
            </a:r>
            <a:r>
              <a:rPr lang="en-GB" dirty="0">
                <a:hlinkClick r:id="rId10"/>
              </a:rPr>
              <a:t>01:39</a:t>
            </a:r>
            <a:r>
              <a:rPr lang="en-GB" dirty="0"/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602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GB" b="1" dirty="0"/>
              <a:t>Answer Key &amp; Timestamps:</a:t>
            </a:r>
          </a:p>
          <a:p>
            <a:r>
              <a:rPr lang="en-GB" b="1" dirty="0"/>
              <a:t>B</a:t>
            </a:r>
            <a:r>
              <a:rPr lang="en-GB" dirty="0"/>
              <a:t> [</a:t>
            </a:r>
            <a:r>
              <a:rPr lang="en-GB" dirty="0">
                <a:hlinkClick r:id="rId3"/>
              </a:rPr>
              <a:t>00:12</a:t>
            </a:r>
            <a:r>
              <a:rPr lang="en-GB" dirty="0"/>
              <a:t>]</a:t>
            </a:r>
          </a:p>
          <a:p>
            <a:r>
              <a:rPr lang="en-GB" b="1" dirty="0"/>
              <a:t>A</a:t>
            </a:r>
            <a:r>
              <a:rPr lang="en-GB" dirty="0"/>
              <a:t> [</a:t>
            </a:r>
            <a:r>
              <a:rPr lang="en-GB" dirty="0">
                <a:hlinkClick r:id="rId4"/>
              </a:rPr>
              <a:t>00:21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[</a:t>
            </a:r>
            <a:r>
              <a:rPr lang="en-GB" dirty="0">
                <a:hlinkClick r:id="rId5"/>
              </a:rPr>
              <a:t>00:40</a:t>
            </a:r>
            <a:r>
              <a:rPr lang="en-GB" dirty="0"/>
              <a:t>]</a:t>
            </a:r>
          </a:p>
          <a:p>
            <a:r>
              <a:rPr lang="en-GB" b="1" dirty="0"/>
              <a:t>A</a:t>
            </a:r>
            <a:r>
              <a:rPr lang="en-GB" dirty="0"/>
              <a:t> [</a:t>
            </a:r>
            <a:r>
              <a:rPr lang="en-GB" dirty="0">
                <a:hlinkClick r:id="rId6"/>
              </a:rPr>
              <a:t>00:49</a:t>
            </a:r>
            <a:r>
              <a:rPr lang="en-GB" dirty="0"/>
              <a:t>]</a:t>
            </a:r>
          </a:p>
          <a:p>
            <a:r>
              <a:rPr lang="en-GB" b="1" dirty="0"/>
              <a:t>B</a:t>
            </a:r>
            <a:r>
              <a:rPr lang="en-GB" dirty="0"/>
              <a:t> [</a:t>
            </a:r>
            <a:r>
              <a:rPr lang="en-GB" dirty="0">
                <a:hlinkClick r:id="rId7"/>
              </a:rPr>
              <a:t>01:14</a:t>
            </a:r>
            <a:r>
              <a:rPr lang="en-GB" dirty="0"/>
              <a:t>]</a:t>
            </a:r>
          </a:p>
          <a:p>
            <a:r>
              <a:rPr lang="en-GB" b="1" dirty="0"/>
              <a:t>B</a:t>
            </a:r>
            <a:r>
              <a:rPr lang="en-GB" dirty="0"/>
              <a:t> (A station worker) [</a:t>
            </a:r>
            <a:r>
              <a:rPr lang="en-GB" dirty="0">
                <a:hlinkClick r:id="rId3"/>
              </a:rPr>
              <a:t>00:12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(London) [</a:t>
            </a:r>
            <a:r>
              <a:rPr lang="en-GB" dirty="0">
                <a:hlinkClick r:id="rId4"/>
              </a:rPr>
              <a:t>00:21</a:t>
            </a:r>
            <a:r>
              <a:rPr lang="en-GB" dirty="0"/>
              <a:t>]</a:t>
            </a:r>
          </a:p>
          <a:p>
            <a:r>
              <a:rPr lang="en-GB" b="1" dirty="0"/>
              <a:t>B</a:t>
            </a:r>
            <a:r>
              <a:rPr lang="en-GB" dirty="0"/>
              <a:t> (Tomorrow) [</a:t>
            </a:r>
            <a:r>
              <a:rPr lang="en-GB" dirty="0">
                <a:hlinkClick r:id="rId8"/>
              </a:rPr>
              <a:t>01:04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(10:00) [</a:t>
            </a:r>
            <a:r>
              <a:rPr lang="en-GB" dirty="0">
                <a:hlinkClick r:id="rId7"/>
              </a:rPr>
              <a:t>01:14</a:t>
            </a:r>
            <a:r>
              <a:rPr lang="en-GB" dirty="0"/>
              <a:t>] </a:t>
            </a:r>
            <a:r>
              <a:rPr lang="en-GB" i="1" dirty="0"/>
              <a:t>(Note: It leaves at 9:00, arrives at 10:00)</a:t>
            </a:r>
            <a:endParaRPr lang="en-GB" dirty="0"/>
          </a:p>
          <a:p>
            <a:r>
              <a:rPr lang="en-GB" b="1" dirty="0"/>
              <a:t>A</a:t>
            </a:r>
            <a:r>
              <a:rPr lang="en-GB" dirty="0"/>
              <a:t> (You can pay with cash or a card) [</a:t>
            </a:r>
            <a:r>
              <a:rPr lang="en-GB" dirty="0">
                <a:hlinkClick r:id="rId9"/>
              </a:rPr>
              <a:t>01:24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(Go straight ahead, turn right, and go up the stairs) [</a:t>
            </a:r>
            <a:r>
              <a:rPr lang="en-GB" dirty="0">
                <a:hlinkClick r:id="rId10"/>
              </a:rPr>
              <a:t>01:39</a:t>
            </a:r>
            <a:r>
              <a:rPr lang="en-GB" dirty="0"/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8259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GB" b="1" dirty="0"/>
              <a:t>Answer Key &amp; Timestamps:</a:t>
            </a:r>
          </a:p>
          <a:p>
            <a:r>
              <a:rPr lang="en-GB" b="1" dirty="0"/>
              <a:t>B</a:t>
            </a:r>
            <a:r>
              <a:rPr lang="en-GB" dirty="0"/>
              <a:t> [</a:t>
            </a:r>
            <a:r>
              <a:rPr lang="en-GB" dirty="0">
                <a:hlinkClick r:id="rId3"/>
              </a:rPr>
              <a:t>00:12</a:t>
            </a:r>
            <a:r>
              <a:rPr lang="en-GB" dirty="0"/>
              <a:t>]</a:t>
            </a:r>
          </a:p>
          <a:p>
            <a:r>
              <a:rPr lang="en-GB" b="1" dirty="0"/>
              <a:t>A</a:t>
            </a:r>
            <a:r>
              <a:rPr lang="en-GB" dirty="0"/>
              <a:t> [</a:t>
            </a:r>
            <a:r>
              <a:rPr lang="en-GB" dirty="0">
                <a:hlinkClick r:id="rId4"/>
              </a:rPr>
              <a:t>00:21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[</a:t>
            </a:r>
            <a:r>
              <a:rPr lang="en-GB" dirty="0">
                <a:hlinkClick r:id="rId5"/>
              </a:rPr>
              <a:t>00:40</a:t>
            </a:r>
            <a:r>
              <a:rPr lang="en-GB" dirty="0"/>
              <a:t>]</a:t>
            </a:r>
          </a:p>
          <a:p>
            <a:r>
              <a:rPr lang="en-GB" b="1" dirty="0"/>
              <a:t>A</a:t>
            </a:r>
            <a:r>
              <a:rPr lang="en-GB" dirty="0"/>
              <a:t> [</a:t>
            </a:r>
            <a:r>
              <a:rPr lang="en-GB" dirty="0">
                <a:hlinkClick r:id="rId6"/>
              </a:rPr>
              <a:t>00:49</a:t>
            </a:r>
            <a:r>
              <a:rPr lang="en-GB" dirty="0"/>
              <a:t>]</a:t>
            </a:r>
          </a:p>
          <a:p>
            <a:r>
              <a:rPr lang="en-GB" b="1" dirty="0"/>
              <a:t>B</a:t>
            </a:r>
            <a:r>
              <a:rPr lang="en-GB" dirty="0"/>
              <a:t> [</a:t>
            </a:r>
            <a:r>
              <a:rPr lang="en-GB" dirty="0">
                <a:hlinkClick r:id="rId7"/>
              </a:rPr>
              <a:t>01:14</a:t>
            </a:r>
            <a:r>
              <a:rPr lang="en-GB" dirty="0"/>
              <a:t>]</a:t>
            </a:r>
          </a:p>
          <a:p>
            <a:r>
              <a:rPr lang="en-GB" b="1" dirty="0"/>
              <a:t>B</a:t>
            </a:r>
            <a:r>
              <a:rPr lang="en-GB" dirty="0"/>
              <a:t> (A station worker) [</a:t>
            </a:r>
            <a:r>
              <a:rPr lang="en-GB" dirty="0">
                <a:hlinkClick r:id="rId3"/>
              </a:rPr>
              <a:t>00:12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(London) [</a:t>
            </a:r>
            <a:r>
              <a:rPr lang="en-GB" dirty="0">
                <a:hlinkClick r:id="rId4"/>
              </a:rPr>
              <a:t>00:21</a:t>
            </a:r>
            <a:r>
              <a:rPr lang="en-GB" dirty="0"/>
              <a:t>]</a:t>
            </a:r>
          </a:p>
          <a:p>
            <a:r>
              <a:rPr lang="en-GB" b="1" dirty="0"/>
              <a:t>B</a:t>
            </a:r>
            <a:r>
              <a:rPr lang="en-GB" dirty="0"/>
              <a:t> (Tomorrow) [</a:t>
            </a:r>
            <a:r>
              <a:rPr lang="en-GB" dirty="0">
                <a:hlinkClick r:id="rId8"/>
              </a:rPr>
              <a:t>01:04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(10:00) [</a:t>
            </a:r>
            <a:r>
              <a:rPr lang="en-GB" dirty="0">
                <a:hlinkClick r:id="rId7"/>
              </a:rPr>
              <a:t>01:14</a:t>
            </a:r>
            <a:r>
              <a:rPr lang="en-GB" dirty="0"/>
              <a:t>] </a:t>
            </a:r>
            <a:r>
              <a:rPr lang="en-GB" i="1" dirty="0"/>
              <a:t>(Note: It leaves at 9:00, arrives at 10:00)</a:t>
            </a:r>
            <a:endParaRPr lang="en-GB" dirty="0"/>
          </a:p>
          <a:p>
            <a:r>
              <a:rPr lang="en-GB" b="1" dirty="0"/>
              <a:t>A</a:t>
            </a:r>
            <a:r>
              <a:rPr lang="en-GB" dirty="0"/>
              <a:t> (You can pay with cash or a card) [</a:t>
            </a:r>
            <a:r>
              <a:rPr lang="en-GB" dirty="0">
                <a:hlinkClick r:id="rId9"/>
              </a:rPr>
              <a:t>01:24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(Go straight ahead, turn right, and go up the stairs) [</a:t>
            </a:r>
            <a:r>
              <a:rPr lang="en-GB" dirty="0">
                <a:hlinkClick r:id="rId10"/>
              </a:rPr>
              <a:t>01:39</a:t>
            </a:r>
            <a:r>
              <a:rPr lang="en-GB" dirty="0"/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8468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GB" b="1" dirty="0"/>
              <a:t>Answer Key &amp; Timestamps:</a:t>
            </a:r>
          </a:p>
          <a:p>
            <a:r>
              <a:rPr lang="en-GB" b="1" dirty="0"/>
              <a:t>B</a:t>
            </a:r>
            <a:r>
              <a:rPr lang="en-GB" dirty="0"/>
              <a:t> [</a:t>
            </a:r>
            <a:r>
              <a:rPr lang="en-GB" dirty="0">
                <a:hlinkClick r:id="rId3"/>
              </a:rPr>
              <a:t>00:12</a:t>
            </a:r>
            <a:r>
              <a:rPr lang="en-GB" dirty="0"/>
              <a:t>]</a:t>
            </a:r>
          </a:p>
          <a:p>
            <a:r>
              <a:rPr lang="en-GB" b="1" dirty="0"/>
              <a:t>A</a:t>
            </a:r>
            <a:r>
              <a:rPr lang="en-GB" dirty="0"/>
              <a:t> [</a:t>
            </a:r>
            <a:r>
              <a:rPr lang="en-GB" dirty="0">
                <a:hlinkClick r:id="rId4"/>
              </a:rPr>
              <a:t>00:21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[</a:t>
            </a:r>
            <a:r>
              <a:rPr lang="en-GB" dirty="0">
                <a:hlinkClick r:id="rId5"/>
              </a:rPr>
              <a:t>00:40</a:t>
            </a:r>
            <a:r>
              <a:rPr lang="en-GB" dirty="0"/>
              <a:t>]</a:t>
            </a:r>
          </a:p>
          <a:p>
            <a:r>
              <a:rPr lang="en-GB" b="1" dirty="0"/>
              <a:t>A</a:t>
            </a:r>
            <a:r>
              <a:rPr lang="en-GB" dirty="0"/>
              <a:t> [</a:t>
            </a:r>
            <a:r>
              <a:rPr lang="en-GB" dirty="0">
                <a:hlinkClick r:id="rId6"/>
              </a:rPr>
              <a:t>00:49</a:t>
            </a:r>
            <a:r>
              <a:rPr lang="en-GB" dirty="0"/>
              <a:t>]</a:t>
            </a:r>
          </a:p>
          <a:p>
            <a:r>
              <a:rPr lang="en-GB" b="1" dirty="0"/>
              <a:t>B</a:t>
            </a:r>
            <a:r>
              <a:rPr lang="en-GB" dirty="0"/>
              <a:t> [</a:t>
            </a:r>
            <a:r>
              <a:rPr lang="en-GB" dirty="0">
                <a:hlinkClick r:id="rId7"/>
              </a:rPr>
              <a:t>01:14</a:t>
            </a:r>
            <a:r>
              <a:rPr lang="en-GB" dirty="0"/>
              <a:t>]</a:t>
            </a:r>
          </a:p>
          <a:p>
            <a:r>
              <a:rPr lang="en-GB" b="1" dirty="0"/>
              <a:t>B</a:t>
            </a:r>
            <a:r>
              <a:rPr lang="en-GB" dirty="0"/>
              <a:t> (A station worker) [</a:t>
            </a:r>
            <a:r>
              <a:rPr lang="en-GB" dirty="0">
                <a:hlinkClick r:id="rId3"/>
              </a:rPr>
              <a:t>00:12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(London) [</a:t>
            </a:r>
            <a:r>
              <a:rPr lang="en-GB" dirty="0">
                <a:hlinkClick r:id="rId4"/>
              </a:rPr>
              <a:t>00:21</a:t>
            </a:r>
            <a:r>
              <a:rPr lang="en-GB" dirty="0"/>
              <a:t>]</a:t>
            </a:r>
          </a:p>
          <a:p>
            <a:r>
              <a:rPr lang="en-GB" b="1" dirty="0"/>
              <a:t>B</a:t>
            </a:r>
            <a:r>
              <a:rPr lang="en-GB" dirty="0"/>
              <a:t> (Tomorrow) [</a:t>
            </a:r>
            <a:r>
              <a:rPr lang="en-GB" dirty="0">
                <a:hlinkClick r:id="rId8"/>
              </a:rPr>
              <a:t>01:04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(10:00) [</a:t>
            </a:r>
            <a:r>
              <a:rPr lang="en-GB" dirty="0">
                <a:hlinkClick r:id="rId7"/>
              </a:rPr>
              <a:t>01:14</a:t>
            </a:r>
            <a:r>
              <a:rPr lang="en-GB" dirty="0"/>
              <a:t>] </a:t>
            </a:r>
            <a:r>
              <a:rPr lang="en-GB" i="1" dirty="0"/>
              <a:t>(Note: It leaves at 9:00, arrives at 10:00)</a:t>
            </a:r>
            <a:endParaRPr lang="en-GB" dirty="0"/>
          </a:p>
          <a:p>
            <a:r>
              <a:rPr lang="en-GB" b="1" dirty="0"/>
              <a:t>A</a:t>
            </a:r>
            <a:r>
              <a:rPr lang="en-GB" dirty="0"/>
              <a:t> (You can pay with cash or a card) [</a:t>
            </a:r>
            <a:r>
              <a:rPr lang="en-GB" dirty="0">
                <a:hlinkClick r:id="rId9"/>
              </a:rPr>
              <a:t>01:24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(Go straight ahead, turn right, and go up the stairs) [</a:t>
            </a:r>
            <a:r>
              <a:rPr lang="en-GB" dirty="0">
                <a:hlinkClick r:id="rId10"/>
              </a:rPr>
              <a:t>01:39</a:t>
            </a:r>
            <a:r>
              <a:rPr lang="en-GB" dirty="0"/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5577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GB" b="1" dirty="0"/>
              <a:t>Answer Key &amp; Timestamps:</a:t>
            </a:r>
          </a:p>
          <a:p>
            <a:r>
              <a:rPr lang="en-GB" b="1" dirty="0"/>
              <a:t>B</a:t>
            </a:r>
            <a:r>
              <a:rPr lang="en-GB" dirty="0"/>
              <a:t> [00:00:00 - 00:03:58] (Summarizes the whole video)</a:t>
            </a:r>
          </a:p>
          <a:p>
            <a:r>
              <a:rPr lang="en-GB" b="1" dirty="0"/>
              <a:t>B</a:t>
            </a:r>
            <a:r>
              <a:rPr lang="en-GB" dirty="0"/>
              <a:t> [</a:t>
            </a:r>
            <a:r>
              <a:rPr lang="en-GB" dirty="0">
                <a:hlinkClick r:id="rId3"/>
              </a:rPr>
              <a:t>00:27</a:t>
            </a:r>
            <a:r>
              <a:rPr lang="en-GB" dirty="0"/>
              <a:t>]</a:t>
            </a:r>
          </a:p>
          <a:p>
            <a:r>
              <a:rPr lang="en-GB" b="1" dirty="0"/>
              <a:t>B</a:t>
            </a:r>
            <a:r>
              <a:rPr lang="en-GB" dirty="0"/>
              <a:t> [</a:t>
            </a:r>
            <a:r>
              <a:rPr lang="en-GB" dirty="0">
                <a:hlinkClick r:id="rId4"/>
              </a:rPr>
              <a:t>00:54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[</a:t>
            </a:r>
            <a:r>
              <a:rPr lang="en-GB" dirty="0">
                <a:hlinkClick r:id="rId5"/>
              </a:rPr>
              <a:t>01:59</a:t>
            </a:r>
            <a:r>
              <a:rPr lang="en-GB" dirty="0"/>
              <a:t>]</a:t>
            </a:r>
          </a:p>
          <a:p>
            <a:r>
              <a:rPr lang="en-GB" b="1" dirty="0"/>
              <a:t>https://</a:t>
            </a:r>
            <a:r>
              <a:rPr lang="en-GB" b="1" dirty="0" err="1"/>
              <a:t>youtu.be</a:t>
            </a:r>
            <a:r>
              <a:rPr lang="en-GB" b="1" dirty="0"/>
              <a:t>/</a:t>
            </a:r>
            <a:r>
              <a:rPr lang="en-GB" b="1" dirty="0" err="1"/>
              <a:t>lffgNrfWNzI</a:t>
            </a:r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A</a:t>
            </a:r>
            <a:r>
              <a:rPr lang="en-GB" dirty="0"/>
              <a:t> [</a:t>
            </a:r>
            <a:r>
              <a:rPr lang="en-GB" dirty="0">
                <a:hlinkClick r:id="rId6"/>
              </a:rPr>
              <a:t>03:49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(A big food lover) [</a:t>
            </a:r>
            <a:r>
              <a:rPr lang="en-GB" dirty="0">
                <a:hlinkClick r:id="rId7"/>
              </a:rPr>
              <a:t>00:00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(The salmon dish) [</a:t>
            </a:r>
            <a:r>
              <a:rPr lang="en-GB" dirty="0">
                <a:hlinkClick r:id="rId8"/>
              </a:rPr>
              <a:t>01:45</a:t>
            </a:r>
            <a:r>
              <a:rPr lang="en-GB" dirty="0"/>
              <a:t>]</a:t>
            </a:r>
          </a:p>
          <a:p>
            <a:r>
              <a:rPr lang="en-GB" b="1" dirty="0"/>
              <a:t>D</a:t>
            </a:r>
            <a:r>
              <a:rPr lang="en-GB" dirty="0"/>
              <a:t> (In a beautiful garden) [</a:t>
            </a:r>
            <a:r>
              <a:rPr lang="en-GB" dirty="0">
                <a:hlinkClick r:id="rId9"/>
              </a:rPr>
              <a:t>02:45</a:t>
            </a:r>
            <a:r>
              <a:rPr lang="en-GB" dirty="0"/>
              <a:t>] </a:t>
            </a:r>
            <a:r>
              <a:rPr lang="en-GB" i="1" dirty="0"/>
              <a:t>(Note: He imagines the beach when drinking his drink, and the deep sea when eating the salmon!)</a:t>
            </a:r>
            <a:endParaRPr lang="en-GB" dirty="0"/>
          </a:p>
          <a:p>
            <a:r>
              <a:rPr lang="en-GB" b="1" dirty="0"/>
              <a:t>D</a:t>
            </a:r>
            <a:r>
              <a:rPr lang="en-GB" dirty="0"/>
              <a:t> (When she brings the bill) [</a:t>
            </a:r>
            <a:r>
              <a:rPr lang="en-GB" dirty="0">
                <a:hlinkClick r:id="rId10"/>
              </a:rPr>
              <a:t>03:26</a:t>
            </a:r>
            <a:r>
              <a:rPr lang="en-GB" dirty="0"/>
              <a:t>]</a:t>
            </a:r>
          </a:p>
          <a:p>
            <a:r>
              <a:rPr lang="en-GB" b="1" dirty="0"/>
              <a:t>C</a:t>
            </a:r>
            <a:r>
              <a:rPr lang="en-GB" dirty="0"/>
              <a:t> (He forgot his wallet) [</a:t>
            </a:r>
            <a:r>
              <a:rPr lang="en-GB" dirty="0">
                <a:hlinkClick r:id="rId10"/>
              </a:rPr>
              <a:t>03:26</a:t>
            </a:r>
            <a:r>
              <a:rPr lang="en-GB" dirty="0"/>
              <a:t>]</a:t>
            </a:r>
          </a:p>
          <a:p>
            <a:r>
              <a:rPr lang="en-GB" b="1" dirty="0"/>
              <a:t>A</a:t>
            </a:r>
            <a:r>
              <a:rPr lang="en-GB" dirty="0"/>
              <a:t> (She says accidents happen but he has to find a way to settle it) [</a:t>
            </a:r>
            <a:r>
              <a:rPr lang="en-GB" dirty="0">
                <a:hlinkClick r:id="rId11"/>
              </a:rPr>
              <a:t>03:39</a:t>
            </a:r>
            <a:r>
              <a:rPr lang="en-GB" dirty="0"/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622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8778240" cy="47777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548640"/>
            <a:ext cx="1280160" cy="12801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43000" y="1188720"/>
            <a:ext cx="32004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49440" y="548640"/>
            <a:ext cx="1280160" cy="12801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78040" y="1188720"/>
            <a:ext cx="32004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 TOEFL Listening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Listening Skills!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920240" cy="6858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18288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Main Idea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06040" y="2286000"/>
            <a:ext cx="1920240" cy="6858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1760" y="2304288"/>
            <a:ext cx="18288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Details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1920240" cy="6858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2304288"/>
            <a:ext cx="18288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Vocabulary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03720" y="2286000"/>
            <a:ext cx="1920240" cy="6858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0" y="2304288"/>
            <a:ext cx="18288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Purpose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79976" y="324612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0" y="3630168"/>
            <a:ext cx="0" cy="603504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64762" y="3827678"/>
            <a:ext cx="614477" cy="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4233672"/>
            <a:ext cx="0" cy="329184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0" y="4233672"/>
            <a:ext cx="241402" cy="329184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82817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this! 💪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680960" y="3291840"/>
            <a:ext cx="1188720" cy="6400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80960" y="32918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Listening Mean in TOEFL?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1828800"/>
          </a:xfrm>
          <a:prstGeom prst="ellipse">
            <a:avLst/>
          </a:prstGeom>
          <a:solidFill>
            <a:srgbClr val="F2F2F2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822960" cy="1188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457200" cy="640080"/>
          </a:xfrm>
          <a:prstGeom prst="ellipse">
            <a:avLst/>
          </a:prstGeom>
          <a:solidFill>
            <a:srgbClr val="CCCCCC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dirty="0">
                <a:solidFill>
                  <a:srgbClr val="000000"/>
                </a:solidFill>
              </a:rPr>
              <a:t>👂</a:t>
            </a:r>
            <a:endParaRPr lang="en-US" sz="6800" dirty="0"/>
          </a:p>
        </p:txBody>
      </p:sp>
      <p:sp>
        <p:nvSpPr>
          <p:cNvPr id="8" name="Shape 6"/>
          <p:cNvSpPr/>
          <p:nvPr/>
        </p:nvSpPr>
        <p:spPr>
          <a:xfrm>
            <a:off x="1920240" y="1371600"/>
            <a:ext cx="1828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40280" y="1554480"/>
            <a:ext cx="18288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828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80360" y="1554480"/>
            <a:ext cx="18288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1828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66160" y="105156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0" y="114300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👂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343400" y="11430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HEAR a recording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343400" y="1554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teacher or speaker talks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66160" y="228600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0" y="237744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343400" y="23774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UNDERSTAND it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343400" y="2788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what they mean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66160" y="352044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0" y="361188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✏️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343400" y="36118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ANSWER questions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343400" y="4023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 understood!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  →  Think  →  Answer! 🎉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Question Type 1: MAIN IDEA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560320"/>
            <a:ext cx="457200" cy="1463040"/>
          </a:xfrm>
          <a:prstGeom prst="rect">
            <a:avLst/>
          </a:prstGeom>
          <a:solidFill>
            <a:srgbClr val="CCCCCC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280160" cy="1005840"/>
          </a:xfrm>
          <a:prstGeom prst="ellipse">
            <a:avLst/>
          </a:prstGeom>
          <a:solidFill>
            <a:srgbClr val="F2F2F2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188720"/>
            <a:ext cx="1280160" cy="1005840"/>
          </a:xfrm>
          <a:prstGeom prst="ellipse">
            <a:avLst/>
          </a:prstGeom>
          <a:solidFill>
            <a:srgbClr val="F2F2F2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645920"/>
            <a:ext cx="1280160" cy="1005840"/>
          </a:xfrm>
          <a:prstGeom prst="ellipse">
            <a:avLst/>
          </a:prstGeom>
          <a:solidFill>
            <a:srgbClr val="F2F2F2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100584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94560" y="105156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 What is Main Idea?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194560" y="144475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thing the recording is about. Like the title of a book!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3120" y="2286000"/>
            <a:ext cx="67665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94560" y="23317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question words like: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40280" y="2715768"/>
            <a:ext cx="201168" cy="2011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14600" y="26974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the talk mainly about?"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40280" y="3008376"/>
            <a:ext cx="201168" cy="2011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14600" y="299008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the main topic?"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40280" y="3300984"/>
            <a:ext cx="201168" cy="2011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14600" y="328269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does the speaker mostly discuss?"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794760"/>
            <a:ext cx="8595360" cy="109728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STRATEGY: Ask yourself: 'What is the speaker MOSTLY talking about?'  Think BIG picture!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Main Idea – Let's Practice!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9818" y="914400"/>
            <a:ext cx="352044" cy="3520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1266444"/>
            <a:ext cx="0" cy="553212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4205" y="1447495"/>
            <a:ext cx="563270" cy="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819656"/>
            <a:ext cx="0" cy="301752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" y="1819656"/>
            <a:ext cx="221285" cy="301752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868680"/>
            <a:ext cx="530352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16200000">
            <a:off x="1170432" y="1300734"/>
            <a:ext cx="228600" cy="228600"/>
          </a:xfrm>
          <a:prstGeom prst="rtTriangl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81328" y="960120"/>
            <a:ext cx="50840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 I will tell you about DOGS.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Dogs are loyal pets. They can learn tricks.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need exercise every day."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685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You hear this: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359152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Question: What is the talk mainly about?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4320" y="3154680"/>
            <a:ext cx="4206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26440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246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train dogs to do tricks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154680"/>
            <a:ext cx="4206240" cy="594360"/>
          </a:xfrm>
          <a:prstGeom prst="roundRect">
            <a:avLst>
              <a:gd name="adj" fmla="val 18462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3264408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6360" y="3246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Dogs as pets and their care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840480"/>
            <a:ext cx="4206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95020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3950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3931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history of different dog breeds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840480"/>
            <a:ext cx="4206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395020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3950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3931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dogs are better than cats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" y="45079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B — The talk is MOSTLY about dogs as pets!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5555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Question Type 2: DETAIL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371600" cy="1371600"/>
          </a:xfrm>
          <a:prstGeom prst="ellipse">
            <a:avLst/>
          </a:prstGeom>
          <a:solidFill>
            <a:srgbClr val="F2F2F2"/>
          </a:solidFill>
          <a:ln w="508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2240280"/>
            <a:ext cx="640080" cy="640080"/>
          </a:xfrm>
          <a:prstGeom prst="line">
            <a:avLst/>
          </a:prstGeom>
          <a:noFill/>
          <a:ln w="635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" y="96012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🔍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2103120" y="1005840"/>
            <a:ext cx="6766560" cy="1051560"/>
          </a:xfrm>
          <a:prstGeom prst="roundRect">
            <a:avLst>
              <a:gd name="adj" fmla="val 10435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94560" y="105156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  What is a Detail Question?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194560" y="144475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specific fact FROM the recording. One small piece of information.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2240280"/>
            <a:ext cx="67665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94560" y="228600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question words: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40280" y="2651760"/>
            <a:ext cx="201168" cy="2011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14600" y="263347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"According to the speaker, what...?"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40280" y="2944368"/>
            <a:ext cx="201168" cy="2011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14600" y="29260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does the man say about...?"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40280" y="3236976"/>
            <a:ext cx="201168" cy="2011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14600" y="321868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/ Where / Who / How many...?"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749040"/>
            <a:ext cx="8595360" cy="1143000"/>
          </a:xfrm>
          <a:prstGeom prst="roundRect">
            <a:avLst>
              <a:gd name="adj" fmla="val 9600"/>
            </a:avLst>
          </a:prstGeom>
          <a:solidFill>
            <a:srgbClr val="1A1A1A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767328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KEY TIP: Details are in the recording! Listen carefully and REMEMBER small facts.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Numbers, names, and places are often details!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96991D-0083-BCB7-B549-255B976134D9}"/>
              </a:ext>
            </a:extLst>
          </p:cNvPr>
          <p:cNvSpPr txBox="1"/>
          <p:nvPr/>
        </p:nvSpPr>
        <p:spPr>
          <a:xfrm>
            <a:off x="295836" y="245210"/>
            <a:ext cx="405503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Here are 5 multiple-choice questions based on the story, complete with possible answers to test how well someone remembers the details!</a:t>
            </a:r>
          </a:p>
          <a:p>
            <a:pPr>
              <a:buNone/>
            </a:pPr>
            <a:r>
              <a:rPr lang="en-GB" b="1" dirty="0"/>
              <a:t>1. What </a:t>
            </a:r>
            <a:r>
              <a:rPr lang="en-GB" b="1" dirty="0" err="1"/>
              <a:t>color</a:t>
            </a:r>
            <a:r>
              <a:rPr lang="en-GB" b="1" dirty="0"/>
              <a:t> is the car that the family drives to go shopping?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Blue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Green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Yellow</a:t>
            </a:r>
          </a:p>
          <a:p>
            <a:pPr>
              <a:buNone/>
            </a:pPr>
            <a:r>
              <a:rPr lang="en-GB" b="1" dirty="0"/>
              <a:t>2. Who gets their haircut first when they go to the barbershop?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Daddy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Pam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Mike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They go at the exact same time</a:t>
            </a:r>
          </a:p>
          <a:p>
            <a:pPr>
              <a:buNone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72142-F258-CC76-BCDE-A124EFFF7A07}"/>
              </a:ext>
            </a:extLst>
          </p:cNvPr>
          <p:cNvSpPr txBox="1"/>
          <p:nvPr/>
        </p:nvSpPr>
        <p:spPr>
          <a:xfrm>
            <a:off x="4419600" y="65187"/>
            <a:ext cx="457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3. What does Pam do in the barber's chair when Daddy tells her to stop?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She cries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She falls asleep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She wiggles even more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She starts singing</a:t>
            </a:r>
          </a:p>
          <a:p>
            <a:pPr>
              <a:buNone/>
            </a:pPr>
            <a:r>
              <a:rPr lang="en-GB" b="1" dirty="0"/>
              <a:t>4. What </a:t>
            </a:r>
            <a:r>
              <a:rPr lang="en-GB" b="1" dirty="0" err="1"/>
              <a:t>color</a:t>
            </a:r>
            <a:r>
              <a:rPr lang="en-GB" b="1" dirty="0"/>
              <a:t> balloon does Daddy pick for himself?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Purple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Blue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Green</a:t>
            </a:r>
          </a:p>
          <a:p>
            <a:pPr>
              <a:buNone/>
            </a:pPr>
            <a:r>
              <a:rPr lang="en-GB" b="1" dirty="0"/>
              <a:t>5. What </a:t>
            </a:r>
            <a:r>
              <a:rPr lang="en-GB" b="1" dirty="0" err="1"/>
              <a:t>flavor</a:t>
            </a:r>
            <a:r>
              <a:rPr lang="en-GB" b="1" dirty="0"/>
              <a:t> of ice cream do both Mike and Pam get at the end of the day?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Strawberry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Vanilla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Chocolate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Mint Chocolate Chip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083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866846-B1BF-9361-A768-B9DEA0BA3B70}"/>
              </a:ext>
            </a:extLst>
          </p:cNvPr>
          <p:cNvSpPr txBox="1"/>
          <p:nvPr/>
        </p:nvSpPr>
        <p:spPr>
          <a:xfrm>
            <a:off x="380419" y="171093"/>
            <a:ext cx="397519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1. Who got a new job starting next week?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John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They both did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Neither of them</a:t>
            </a:r>
          </a:p>
          <a:p>
            <a:pPr>
              <a:buNone/>
            </a:pPr>
            <a:r>
              <a:rPr lang="en-GB" b="1" dirty="0"/>
              <a:t>2. What is Mary's </a:t>
            </a:r>
            <a:r>
              <a:rPr lang="en-GB" b="1" dirty="0" err="1"/>
              <a:t>favorite</a:t>
            </a:r>
            <a:r>
              <a:rPr lang="en-GB" b="1" dirty="0"/>
              <a:t> book?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The Hobbit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The Lord of the Rings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Harry Potter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The Chronicles of Narnia</a:t>
            </a:r>
          </a:p>
          <a:p>
            <a:pPr>
              <a:buNone/>
            </a:pPr>
            <a:r>
              <a:rPr lang="en-GB" b="1" dirty="0"/>
              <a:t>3. Where will Mary be working at her new job?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A coffee shop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A movie </a:t>
            </a:r>
            <a:r>
              <a:rPr lang="en-GB" dirty="0" err="1"/>
              <a:t>theater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A gym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A bookstore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F7889A-7610-F619-A1A1-7473382A7729}"/>
              </a:ext>
            </a:extLst>
          </p:cNvPr>
          <p:cNvSpPr txBox="1"/>
          <p:nvPr/>
        </p:nvSpPr>
        <p:spPr>
          <a:xfrm>
            <a:off x="5008259" y="725090"/>
            <a:ext cx="32771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4. When does Mary come to the coffee shop?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Every Monday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Every Friday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Every Saturday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Every Sunday</a:t>
            </a:r>
          </a:p>
          <a:p>
            <a:pPr>
              <a:buNone/>
            </a:pPr>
            <a:r>
              <a:rPr lang="en-GB" b="1" dirty="0"/>
              <a:t>5. How does John relax after work?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He goes to the gym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He listens to music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He watches movies and reads books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He plays video games</a:t>
            </a:r>
          </a:p>
        </p:txBody>
      </p:sp>
    </p:spTree>
    <p:extLst>
      <p:ext uri="{BB962C8B-B14F-4D97-AF65-F5344CB8AC3E}">
        <p14:creationId xmlns:p14="http://schemas.microsoft.com/office/powerpoint/2010/main" val="3877375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Detail – Let's Practice!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9818" y="914400"/>
            <a:ext cx="352044" cy="3520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1266444"/>
            <a:ext cx="0" cy="553212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4205" y="1447495"/>
            <a:ext cx="563270" cy="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819656"/>
            <a:ext cx="0" cy="301752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" y="1819656"/>
            <a:ext cx="221285" cy="301752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822960"/>
            <a:ext cx="530352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16200000">
            <a:off x="1170432" y="1239012"/>
            <a:ext cx="228600" cy="228600"/>
          </a:xfrm>
          <a:prstGeom prst="rtTriangl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81328" y="914400"/>
            <a:ext cx="50840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"Dogs need exercise every day.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should walk your dog for 30 minutes."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8595360" cy="621792"/>
          </a:xfrm>
          <a:prstGeom prst="roundRect">
            <a:avLst>
              <a:gd name="adj" fmla="val 17647"/>
            </a:avLst>
          </a:prstGeom>
          <a:solidFill>
            <a:srgbClr val="000000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2402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Question: According to the speaker, how long should you walk your dog?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206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" y="315468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1546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206240" cy="566928"/>
          </a:xfrm>
          <a:prstGeom prst="roundRect">
            <a:avLst>
              <a:gd name="adj" fmla="val 19355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27448" y="3154680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27448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93792" y="31546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30 minutes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721608"/>
            <a:ext cx="4206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8328" y="381304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8328" y="3813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" y="3813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3721608"/>
            <a:ext cx="4206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27448" y="381304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27448" y="3813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93792" y="3813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speaker said it clearly: '30 minutes'! That's the detail!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Question Type 3: VOCABULARY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10058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📖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2103120" y="1005840"/>
            <a:ext cx="6766560" cy="1051560"/>
          </a:xfrm>
          <a:prstGeom prst="roundRect">
            <a:avLst>
              <a:gd name="adj" fmla="val 10435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94560" y="105156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What is a Vocabulary Question?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194560" y="144475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 WORD or PHRASE mean? Find the meaning from context!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03120" y="2240280"/>
            <a:ext cx="6766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4560" y="228600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question words: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40280" y="2651760"/>
            <a:ext cx="201168" cy="20116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263347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does the word '___' mean?"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40280" y="2944368"/>
            <a:ext cx="201168" cy="20116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14600" y="29260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does the speaker mean when she says '___'?"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40280" y="3236976"/>
            <a:ext cx="201168" cy="20116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14600" y="321868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word is closest in meaning to '___'?"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4114800" cy="1143000"/>
          </a:xfrm>
          <a:prstGeom prst="roundRect">
            <a:avLst>
              <a:gd name="adj" fmla="val 9600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94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1: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1148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the sentences AROUND the word. The meaning is often hidden nearby! 🕵️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74904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3794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2: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41148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putting each answer choice INTO the sentence. Which one makes sense? 🤔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Vocabulary – Let's Practice!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9818" y="914400"/>
            <a:ext cx="352044" cy="3520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1266444"/>
            <a:ext cx="0" cy="553212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4205" y="1447495"/>
            <a:ext cx="563270" cy="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819656"/>
            <a:ext cx="0" cy="301752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" y="1819656"/>
            <a:ext cx="221285" cy="301752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822960"/>
            <a:ext cx="530352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16200000">
            <a:off x="1170432" y="1239012"/>
            <a:ext cx="228600" cy="228600"/>
          </a:xfrm>
          <a:prstGeom prst="rtTriangl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81328" y="914400"/>
            <a:ext cx="50840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"Dogs are very loyal animals.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always stay by their owner's side."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214884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1A1A1A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2176272"/>
            <a:ext cx="26517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The word is:   "loyal"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" y="2212848"/>
            <a:ext cx="8595360" cy="594360"/>
          </a:xfrm>
          <a:prstGeom prst="roundRect">
            <a:avLst>
              <a:gd name="adj" fmla="val 18462"/>
            </a:avLst>
          </a:prstGeom>
          <a:solidFill>
            <a:srgbClr val="000000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2402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What does the word 'loyal' mean in this sentence?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3035808"/>
            <a:ext cx="4206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8328" y="312724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" y="3127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31272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 and scary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3035808"/>
            <a:ext cx="4206240" cy="566928"/>
          </a:xfrm>
          <a:prstGeom prst="roundRect">
            <a:avLst>
              <a:gd name="adj" fmla="val 19355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27448" y="3127248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27448" y="3127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93792" y="31272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Always faithful and true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3694176"/>
            <a:ext cx="4206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8328" y="37856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8328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" y="37856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fast and active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3694176"/>
            <a:ext cx="4206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27448" y="37856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27448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93792" y="37856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and strong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 'They always stay by their owner's side' → faithful and true!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5555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Question Type 4: PURPOSE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10058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🎯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2103120" y="1005840"/>
            <a:ext cx="6766560" cy="1051560"/>
          </a:xfrm>
          <a:prstGeom prst="roundRect">
            <a:avLst>
              <a:gd name="adj" fmla="val 10435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94560" y="105156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What is a Purpose Question?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194560" y="144475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speaker say something? What is the REASON behind the talk?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03120" y="2240280"/>
            <a:ext cx="6766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4560" y="228600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question words: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40280" y="2651760"/>
            <a:ext cx="201168" cy="2011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263347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does the speaker mention '___'?"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40280" y="2944368"/>
            <a:ext cx="201168" cy="2011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14600" y="29260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the purpose of the talk?"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40280" y="3236976"/>
            <a:ext cx="201168" cy="2011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14600" y="321868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does the man say '___'?"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8595360" cy="1143000"/>
          </a:xfrm>
          <a:prstGeom prst="roundRect">
            <a:avLst>
              <a:gd name="adj" fmla="val 9600"/>
            </a:avLst>
          </a:prstGeom>
          <a:solidFill>
            <a:srgbClr val="1A1A1A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Think: WHY is the speaker saying this? To EXPLAIN? To WARN? To COMPARE? To GIVE AN EXAMPLE?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the speaker's goal!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Purpose – Let's Practice!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9818" y="914400"/>
            <a:ext cx="352044" cy="3520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1266444"/>
            <a:ext cx="0" cy="553212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4205" y="1447495"/>
            <a:ext cx="563270" cy="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819656"/>
            <a:ext cx="0" cy="301752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" y="1819656"/>
            <a:ext cx="221285" cy="301752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822960"/>
            <a:ext cx="530352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16200000">
            <a:off x="1170432" y="1239012"/>
            <a:ext cx="228600" cy="228600"/>
          </a:xfrm>
          <a:prstGeom prst="rtTriangl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81328" y="914400"/>
            <a:ext cx="50840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 example, some dogs like Border Collies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excellent at learning new commands."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8595360" cy="594360"/>
          </a:xfrm>
          <a:prstGeom prst="roundRect">
            <a:avLst>
              <a:gd name="adj" fmla="val 18462"/>
            </a:avLst>
          </a:prstGeom>
          <a:solidFill>
            <a:srgbClr val="000000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2402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Why does the speaker mention Border Collies?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4320" y="3035808"/>
            <a:ext cx="4206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" y="312724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" y="3127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1272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say Border Collies are her favorite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035808"/>
            <a:ext cx="4206240" cy="566928"/>
          </a:xfrm>
          <a:prstGeom prst="roundRect">
            <a:avLst>
              <a:gd name="adj" fmla="val 19355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27448" y="3127248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27448" y="3127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93792" y="31272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To give an example of smart dogs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694176"/>
            <a:ext cx="4206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8328" y="37856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8328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" y="37856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warn about dangerous dogs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3694176"/>
            <a:ext cx="4206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27448" y="37856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27448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93792" y="37856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compare two types of dogs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Clue: The speaker said 'For example' — that tells you the purpose is to GIVE AN EXAMPLE!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Summary: The 4 Question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51560" y="1005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IDEA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talk MOSTLY about?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37947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Think BIG picture!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005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532120" y="1005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6642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SPECIFIC fact is mentioned?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2121408"/>
            <a:ext cx="37947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21762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Listen for names, numbers, facts!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292608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017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📖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51560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36758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 WORD mean?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133088"/>
            <a:ext cx="37947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1879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Use nearby sentences as clues!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3017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532120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6320" y="36758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speaker say this?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4133088"/>
            <a:ext cx="37947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41879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Look for signal words like 'for example'!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64592" cy="16459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" y="91440"/>
            <a:ext cx="164592" cy="16459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0" y="182880"/>
            <a:ext cx="164592" cy="16459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0" y="73152"/>
            <a:ext cx="164592" cy="16459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0" y="164592"/>
            <a:ext cx="164592" cy="16459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0" y="91440"/>
            <a:ext cx="164592" cy="16459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0" y="182880"/>
            <a:ext cx="164592" cy="16459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0" y="109728"/>
            <a:ext cx="164592" cy="16459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2860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You Are Ready!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8412480" cy="621792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1887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123444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the WHOLE recording before answering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1856232"/>
            <a:ext cx="8412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9019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1947672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simple notes — write key words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2569464"/>
            <a:ext cx="8412480" cy="621792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6151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2660904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miss something, move on and keep listening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3282696"/>
            <a:ext cx="8412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3284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374136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out obviously wrong answers first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5760" y="3995928"/>
            <a:ext cx="8412480" cy="621792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0416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51560" y="4087368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choose the BEST answer, not just a correct-sounding one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30000"/>
            </a:avLst>
          </a:prstGeom>
          <a:solidFill>
            <a:srgbClr val="000000"/>
          </a:solidFill>
          <a:ln w="254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 Practice every day and you will be a TOEFL Listening STAR!  🌟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394BF0-67BE-9032-C5B5-2EF0BA05026A}"/>
              </a:ext>
            </a:extLst>
          </p:cNvPr>
          <p:cNvSpPr txBox="1"/>
          <p:nvPr/>
        </p:nvSpPr>
        <p:spPr>
          <a:xfrm>
            <a:off x="2286000" y="310029"/>
            <a:ext cx="457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Main Idea Questions</a:t>
            </a:r>
          </a:p>
          <a:p>
            <a:pPr>
              <a:buNone/>
            </a:pPr>
            <a:r>
              <a:rPr lang="en-GB" b="1" dirty="0"/>
              <a:t>1. What is the main purpose of this conversation?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To apply for a job at the train station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To buy train tickets and find the correct platform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To complain about a late train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To learn how to drive a train</a:t>
            </a:r>
          </a:p>
          <a:p>
            <a:pPr>
              <a:buNone/>
            </a:pPr>
            <a:r>
              <a:rPr lang="en-GB" b="1" dirty="0"/>
              <a:t>2. Why do the women need to speak to the station worker?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They are confused about the options on the ticket machine.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They lost their luggage on the train.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They want to buy a cup of coffee but can't find a shop.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They missed their train and need a refund.</a:t>
            </a:r>
          </a:p>
        </p:txBody>
      </p:sp>
    </p:spTree>
    <p:extLst>
      <p:ext uri="{BB962C8B-B14F-4D97-AF65-F5344CB8AC3E}">
        <p14:creationId xmlns:p14="http://schemas.microsoft.com/office/powerpoint/2010/main" val="2749635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933517-893B-79E3-4917-89A122E05673}"/>
              </a:ext>
            </a:extLst>
          </p:cNvPr>
          <p:cNvSpPr txBox="1"/>
          <p:nvPr/>
        </p:nvSpPr>
        <p:spPr>
          <a:xfrm>
            <a:off x="450219" y="171093"/>
            <a:ext cx="837269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Vocabulary in Context Questions</a:t>
            </a:r>
          </a:p>
          <a:p>
            <a:pPr>
              <a:buNone/>
            </a:pPr>
            <a:r>
              <a:rPr lang="en-GB" b="1" dirty="0"/>
              <a:t>3. The worker explains what a "single ticket" is. What does "single" mean in this context?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A ticket for only one person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A ticket that is very expensive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A ticket for a one-way trip only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A ticket that you can use on any day</a:t>
            </a:r>
          </a:p>
          <a:p>
            <a:pPr>
              <a:buNone/>
            </a:pPr>
            <a:r>
              <a:rPr lang="en-GB" b="1" dirty="0"/>
              <a:t>4. The women decide to buy a "return ticket." What is a return ticket?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A ticket that lets you travel to a place and come back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A ticket you give back if you change your mind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A ticket you buy online instead of at the machine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A special ticket that lets you sit in first class</a:t>
            </a:r>
          </a:p>
          <a:p>
            <a:pPr>
              <a:buNone/>
            </a:pPr>
            <a:r>
              <a:rPr lang="en-GB" b="1" dirty="0"/>
              <a:t>5. The worker tells them to go to "platform 4." What is a platform at a train station?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A restaurant inside the station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The area where passengers stand to wait for and board the train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The seat number you choose inside the train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The screen that shows the train schedules</a:t>
            </a:r>
          </a:p>
        </p:txBody>
      </p:sp>
    </p:spTree>
    <p:extLst>
      <p:ext uri="{BB962C8B-B14F-4D97-AF65-F5344CB8AC3E}">
        <p14:creationId xmlns:p14="http://schemas.microsoft.com/office/powerpoint/2010/main" val="1776993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12E73B-6670-CAFC-1A49-55EE13C377B0}"/>
              </a:ext>
            </a:extLst>
          </p:cNvPr>
          <p:cNvSpPr txBox="1"/>
          <p:nvPr/>
        </p:nvSpPr>
        <p:spPr>
          <a:xfrm>
            <a:off x="2286000" y="171529"/>
            <a:ext cx="4572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Detail Questions (The 5 </a:t>
            </a:r>
            <a:r>
              <a:rPr lang="en-GB" b="1" dirty="0" err="1"/>
              <a:t>Ws</a:t>
            </a:r>
            <a:r>
              <a:rPr lang="en-GB" b="1" dirty="0"/>
              <a:t> and H)</a:t>
            </a:r>
          </a:p>
          <a:p>
            <a:pPr>
              <a:buNone/>
            </a:pPr>
            <a:r>
              <a:rPr lang="en-GB" b="1" dirty="0"/>
              <a:t>6. WHO helps the women buy their tickets?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A police officer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A station worker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Another </a:t>
            </a:r>
            <a:r>
              <a:rPr lang="en-GB" dirty="0" err="1"/>
              <a:t>traveler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The train conductor</a:t>
            </a:r>
          </a:p>
          <a:p>
            <a:pPr>
              <a:buNone/>
            </a:pPr>
            <a:r>
              <a:rPr lang="en-GB" b="1" dirty="0"/>
              <a:t>7. WHERE are the women traveling to?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Central Station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Paris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London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New York</a:t>
            </a:r>
          </a:p>
          <a:p>
            <a:pPr>
              <a:buNone/>
            </a:pPr>
            <a:r>
              <a:rPr lang="en-GB" b="1" dirty="0"/>
              <a:t>8. WHEN do the women plan to come back from their trip?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Tonight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Tomorrow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Next weekend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In a few hours</a:t>
            </a:r>
          </a:p>
        </p:txBody>
      </p:sp>
    </p:spTree>
    <p:extLst>
      <p:ext uri="{BB962C8B-B14F-4D97-AF65-F5344CB8AC3E}">
        <p14:creationId xmlns:p14="http://schemas.microsoft.com/office/powerpoint/2010/main" val="3689035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EA4007-3538-53BB-2640-14BDE7A80BE6}"/>
              </a:ext>
            </a:extLst>
          </p:cNvPr>
          <p:cNvSpPr txBox="1"/>
          <p:nvPr/>
        </p:nvSpPr>
        <p:spPr>
          <a:xfrm>
            <a:off x="968496" y="448091"/>
            <a:ext cx="720700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9. WHAT time will the train arrive at their destination?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8:00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9:00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10:00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11:00</a:t>
            </a:r>
          </a:p>
          <a:p>
            <a:pPr>
              <a:buNone/>
            </a:pPr>
            <a:r>
              <a:rPr lang="en-GB" b="1" dirty="0"/>
              <a:t>10. WHY is the ticket machine convenient to use?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You can pay with either cash or a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It is free on the weekends.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It gives you a map of the city.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You don't have to press any buttons.</a:t>
            </a:r>
          </a:p>
          <a:p>
            <a:pPr>
              <a:buNone/>
            </a:pPr>
            <a:r>
              <a:rPr lang="en-GB" b="1" dirty="0"/>
              <a:t>11. HOW do the women get to Platform 4?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Go outside, cross the street, and turn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Take the elevator to the second floor and turn left.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Go straight ahead, turn right, and go up the stairs.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Go straight ahead, turn left, and go down the stairs.</a:t>
            </a:r>
          </a:p>
        </p:txBody>
      </p:sp>
    </p:spTree>
    <p:extLst>
      <p:ext uri="{BB962C8B-B14F-4D97-AF65-F5344CB8AC3E}">
        <p14:creationId xmlns:p14="http://schemas.microsoft.com/office/powerpoint/2010/main" val="3768584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AC8E10-9FCB-D886-1D48-D9E7945ACB98}"/>
              </a:ext>
            </a:extLst>
          </p:cNvPr>
          <p:cNvSpPr txBox="1"/>
          <p:nvPr/>
        </p:nvSpPr>
        <p:spPr>
          <a:xfrm>
            <a:off x="945811" y="648387"/>
            <a:ext cx="69696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Main Idea Questions</a:t>
            </a:r>
          </a:p>
          <a:p>
            <a:pPr>
              <a:buNone/>
            </a:pPr>
            <a:r>
              <a:rPr lang="en-GB" b="1" dirty="0"/>
              <a:t>1. What is the main idea of this story?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A chef learns how to cook new dishes for a restaurant.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A food lover enjoys a great meal but realizes at the end that he forgot his money.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A waitress gets angry at a rude customer who doesn't like the food.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A man goes to the supermarket to buy fresh vegetables for dinner.</a:t>
            </a:r>
          </a:p>
          <a:p>
            <a:pPr>
              <a:buNone/>
            </a:pPr>
            <a:r>
              <a:rPr lang="en-GB" b="1" dirty="0"/>
              <a:t>2. What does the waitress wonder about Tom when he first arrives?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She wonders if he is a famous movie star.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She wonders if he is a "mystery customer" secretly sent by her company.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She wonders if he has enough money to pay for the food.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She wonders if he wants a job at the restaurant.</a:t>
            </a:r>
          </a:p>
        </p:txBody>
      </p:sp>
    </p:spTree>
    <p:extLst>
      <p:ext uri="{BB962C8B-B14F-4D97-AF65-F5344CB8AC3E}">
        <p14:creationId xmlns:p14="http://schemas.microsoft.com/office/powerpoint/2010/main" val="3739011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BBBBE0-D82C-C7AC-C116-3072EE5CCC27}"/>
              </a:ext>
            </a:extLst>
          </p:cNvPr>
          <p:cNvSpPr txBox="1"/>
          <p:nvPr/>
        </p:nvSpPr>
        <p:spPr>
          <a:xfrm>
            <a:off x="296656" y="171093"/>
            <a:ext cx="884734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Vocabulary in Context Questions</a:t>
            </a:r>
          </a:p>
          <a:p>
            <a:pPr>
              <a:buNone/>
            </a:pPr>
            <a:r>
              <a:rPr lang="en-GB" b="1" dirty="0"/>
              <a:t>3. Tom asks the waitress for the "menu." What is a </a:t>
            </a:r>
            <a:r>
              <a:rPr lang="en-GB" b="1" i="1" dirty="0"/>
              <a:t>menu</a:t>
            </a:r>
            <a:r>
              <a:rPr lang="en-GB" b="1" dirty="0"/>
              <a:t>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A special type of credit card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A list of food and drinks that you can order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A napkin used to clean your hands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A receipt showing how much you need to pay</a:t>
            </a:r>
          </a:p>
          <a:p>
            <a:pPr>
              <a:buNone/>
            </a:pPr>
            <a:r>
              <a:rPr lang="en-GB" b="1" dirty="0"/>
              <a:t>4. Tom asks for fresh vegetables "on the side." What does it mean to order something </a:t>
            </a:r>
            <a:r>
              <a:rPr lang="en-GB" b="1" i="1" dirty="0"/>
              <a:t>on the side</a:t>
            </a:r>
            <a:r>
              <a:rPr lang="en-GB" b="1" dirty="0"/>
              <a:t>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Eaten before the main meal starts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Cooked with extra salt and pepper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Served on a separate, smaller plate next to the main dish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Placed under the table</a:t>
            </a:r>
          </a:p>
          <a:p>
            <a:pPr>
              <a:buNone/>
            </a:pPr>
            <a:r>
              <a:rPr lang="en-GB" b="1" dirty="0"/>
              <a:t>5. The waitress tells Tom he needs to "settle" his bill. What does it mean to </a:t>
            </a:r>
            <a:r>
              <a:rPr lang="en-GB" b="1" i="1" dirty="0"/>
              <a:t>settle</a:t>
            </a:r>
            <a:r>
              <a:rPr lang="en-GB" b="1" dirty="0"/>
              <a:t> a bill?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To pay the money you owe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To complain about the food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To sit down and wait for the food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To ask for a discount</a:t>
            </a:r>
          </a:p>
        </p:txBody>
      </p:sp>
    </p:spTree>
    <p:extLst>
      <p:ext uri="{BB962C8B-B14F-4D97-AF65-F5344CB8AC3E}">
        <p14:creationId xmlns:p14="http://schemas.microsoft.com/office/powerpoint/2010/main" val="3445024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70D3D6-1BD8-4845-3DA5-00E4E185CE33}"/>
              </a:ext>
            </a:extLst>
          </p:cNvPr>
          <p:cNvSpPr txBox="1"/>
          <p:nvPr/>
        </p:nvSpPr>
        <p:spPr>
          <a:xfrm>
            <a:off x="781777" y="309592"/>
            <a:ext cx="758044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Detail Questions (The 5 </a:t>
            </a:r>
            <a:r>
              <a:rPr lang="en-GB" b="1" dirty="0" err="1"/>
              <a:t>Ws</a:t>
            </a:r>
            <a:r>
              <a:rPr lang="en-GB" b="1" dirty="0"/>
              <a:t> and H)</a:t>
            </a:r>
          </a:p>
          <a:p>
            <a:pPr>
              <a:buNone/>
            </a:pPr>
            <a:r>
              <a:rPr lang="en-GB" b="1" dirty="0"/>
              <a:t>6. WHO is Tom?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A restaurant manager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A farmer who grows fresh vegetables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A big food lover who enjoys trying new dishes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A professional swimmer</a:t>
            </a:r>
          </a:p>
          <a:p>
            <a:pPr>
              <a:buNone/>
            </a:pPr>
            <a:r>
              <a:rPr lang="en-GB" b="1" dirty="0"/>
              <a:t>7. WHAT does Tom order for his main meal?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Chicken and 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A pineapple drink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The salmon dish with fresh vegetables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A large bowl of soup</a:t>
            </a:r>
          </a:p>
          <a:p>
            <a:pPr>
              <a:buNone/>
            </a:pPr>
            <a:r>
              <a:rPr lang="en-GB" b="1" dirty="0"/>
              <a:t>8. WHERE does Tom feel like he is when he eats the fresh vegetables?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Swimming in the deep sea with the fish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Relaxing on a sunny beach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Sitting in his own kitchen at home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In a beautiful garden wearing a straw hat</a:t>
            </a:r>
          </a:p>
        </p:txBody>
      </p:sp>
    </p:spTree>
    <p:extLst>
      <p:ext uri="{BB962C8B-B14F-4D97-AF65-F5344CB8AC3E}">
        <p14:creationId xmlns:p14="http://schemas.microsoft.com/office/powerpoint/2010/main" val="1772111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3A4EFE-9613-3178-5145-EEB64018B935}"/>
              </a:ext>
            </a:extLst>
          </p:cNvPr>
          <p:cNvSpPr txBox="1"/>
          <p:nvPr/>
        </p:nvSpPr>
        <p:spPr>
          <a:xfrm>
            <a:off x="802717" y="508784"/>
            <a:ext cx="753856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9. WHEN does Tom realize he has a big problem?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When he first walks into the restaurant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While he is drinking his pineapple drink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Right after he finishes his salmon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When the waitress brings him the bill at the end of the meal</a:t>
            </a:r>
          </a:p>
          <a:p>
            <a:pPr>
              <a:buNone/>
            </a:pPr>
            <a:r>
              <a:rPr lang="en-GB" b="1" dirty="0"/>
              <a:t>10. WHY can't Tom pay for his food?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His credit card was declined.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He thinks the food was too expensive.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He completely forgot his wallet at home.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He lost his money on the beach.</a:t>
            </a:r>
          </a:p>
          <a:p>
            <a:pPr>
              <a:buNone/>
            </a:pPr>
            <a:r>
              <a:rPr lang="en-GB" b="1" dirty="0"/>
              <a:t>11. HOW does the waitress react when Tom says he cannot pay?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A) She tells him not to worry, but says he must find another way to pay.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B) She starts yelling at him to leave.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C) She calls the police immediately.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D) She gives him the meal for free.</a:t>
            </a:r>
          </a:p>
        </p:txBody>
      </p:sp>
    </p:spTree>
    <p:extLst>
      <p:ext uri="{BB962C8B-B14F-4D97-AF65-F5344CB8AC3E}">
        <p14:creationId xmlns:p14="http://schemas.microsoft.com/office/powerpoint/2010/main" val="1018799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37F447-A28C-97B6-373A-716EFEA608D4}"/>
              </a:ext>
            </a:extLst>
          </p:cNvPr>
          <p:cNvSpPr txBox="1"/>
          <p:nvPr/>
        </p:nvSpPr>
        <p:spPr>
          <a:xfrm>
            <a:off x="2166151" y="3338004"/>
            <a:ext cx="1218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Homework</a:t>
            </a:r>
          </a:p>
        </p:txBody>
      </p:sp>
    </p:spTree>
    <p:extLst>
      <p:ext uri="{BB962C8B-B14F-4D97-AF65-F5344CB8AC3E}">
        <p14:creationId xmlns:p14="http://schemas.microsoft.com/office/powerpoint/2010/main" val="1968529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D2E871-E644-3BB2-7B44-B36CBF8CC914}"/>
              </a:ext>
            </a:extLst>
          </p:cNvPr>
          <p:cNvSpPr txBox="1"/>
          <p:nvPr/>
        </p:nvSpPr>
        <p:spPr>
          <a:xfrm>
            <a:off x="155359" y="263426"/>
            <a:ext cx="528665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1" dirty="0">
                <a:latin typeface="Book Antiqua" panose="02040602050305030304" pitchFamily="18" charset="0"/>
              </a:rPr>
              <a:t>Main Idea Questions</a:t>
            </a:r>
          </a:p>
          <a:p>
            <a:pPr>
              <a:buNone/>
            </a:pPr>
            <a:r>
              <a:rPr lang="en-GB" sz="1400" b="1" dirty="0">
                <a:latin typeface="Book Antiqua" panose="02040602050305030304" pitchFamily="18" charset="0"/>
              </a:rPr>
              <a:t>1. What is the main idea of this story?</a:t>
            </a:r>
            <a:endParaRPr lang="en-GB" sz="1400" dirty="0">
              <a:latin typeface="Book Antiqua" panose="02040602050305030304" pitchFamily="18" charset="0"/>
            </a:endParaRPr>
          </a:p>
          <a:p>
            <a:r>
              <a:rPr lang="en-GB" sz="1400" dirty="0">
                <a:latin typeface="Book Antiqua" panose="02040602050305030304" pitchFamily="18" charset="0"/>
              </a:rPr>
              <a:t>A) A chef learns how to cook new dishes for a restaurant.</a:t>
            </a:r>
          </a:p>
          <a:p>
            <a:r>
              <a:rPr lang="en-GB" sz="1400" dirty="0">
                <a:latin typeface="Book Antiqua" panose="02040602050305030304" pitchFamily="18" charset="0"/>
              </a:rPr>
              <a:t>B) A food lover enjoys a great meal but realizes at the end that he forgot his money.</a:t>
            </a:r>
          </a:p>
          <a:p>
            <a:r>
              <a:rPr lang="en-GB" sz="1400" dirty="0">
                <a:latin typeface="Book Antiqua" panose="02040602050305030304" pitchFamily="18" charset="0"/>
              </a:rPr>
              <a:t>C) A waitress gets angry at a rude customer who doesn't like the food.</a:t>
            </a:r>
          </a:p>
          <a:p>
            <a:r>
              <a:rPr lang="en-GB" sz="1400" dirty="0">
                <a:latin typeface="Book Antiqua" panose="02040602050305030304" pitchFamily="18" charset="0"/>
              </a:rPr>
              <a:t>D) A man goes to the supermarket to buy fresh vegetables for dinner.</a:t>
            </a:r>
          </a:p>
          <a:p>
            <a:endParaRPr lang="en-GB" sz="1400" dirty="0">
              <a:latin typeface="Book Antiqua" panose="02040602050305030304" pitchFamily="18" charset="0"/>
            </a:endParaRPr>
          </a:p>
          <a:p>
            <a:r>
              <a:rPr lang="en-GB" sz="1400" b="1" dirty="0">
                <a:latin typeface="Book Antiqua" panose="02040602050305030304" pitchFamily="18" charset="0"/>
              </a:rPr>
              <a:t>2. Tom asks the waitress for the "menu." What is a </a:t>
            </a:r>
            <a:r>
              <a:rPr lang="en-GB" sz="1400" b="1" i="1" dirty="0">
                <a:latin typeface="Book Antiqua" panose="02040602050305030304" pitchFamily="18" charset="0"/>
              </a:rPr>
              <a:t>menu</a:t>
            </a:r>
            <a:r>
              <a:rPr lang="en-GB" sz="1400" b="1" dirty="0">
                <a:latin typeface="Book Antiqua" panose="02040602050305030304" pitchFamily="18" charset="0"/>
              </a:rPr>
              <a:t>?</a:t>
            </a:r>
            <a:endParaRPr lang="en-GB" sz="1400" dirty="0">
              <a:latin typeface="Book Antiqua" panose="02040602050305030304" pitchFamily="18" charset="0"/>
            </a:endParaRPr>
          </a:p>
          <a:p>
            <a:r>
              <a:rPr lang="en-GB" sz="1400" dirty="0">
                <a:latin typeface="Book Antiqua" panose="02040602050305030304" pitchFamily="18" charset="0"/>
              </a:rPr>
              <a:t>A) A special type of credit card</a:t>
            </a:r>
          </a:p>
          <a:p>
            <a:r>
              <a:rPr lang="en-GB" sz="1400" dirty="0">
                <a:latin typeface="Book Antiqua" panose="02040602050305030304" pitchFamily="18" charset="0"/>
              </a:rPr>
              <a:t>B) A list of food and drinks that you can order</a:t>
            </a:r>
          </a:p>
          <a:p>
            <a:r>
              <a:rPr lang="en-GB" sz="1400" dirty="0">
                <a:latin typeface="Book Antiqua" panose="02040602050305030304" pitchFamily="18" charset="0"/>
              </a:rPr>
              <a:t>C) A napkin used to clean your hands</a:t>
            </a:r>
          </a:p>
          <a:p>
            <a:r>
              <a:rPr lang="en-GB" sz="1400" dirty="0">
                <a:latin typeface="Book Antiqua" panose="02040602050305030304" pitchFamily="18" charset="0"/>
              </a:rPr>
              <a:t>D) A receipt showing how much you need to pay</a:t>
            </a:r>
          </a:p>
          <a:p>
            <a:endParaRPr lang="en-GB" sz="1400" dirty="0">
              <a:latin typeface="Book Antiqua" panose="02040602050305030304" pitchFamily="18" charset="0"/>
            </a:endParaRPr>
          </a:p>
          <a:p>
            <a:r>
              <a:rPr lang="en-GB" sz="1400" b="1" dirty="0">
                <a:latin typeface="Book Antiqua" panose="02040602050305030304" pitchFamily="18" charset="0"/>
              </a:rPr>
              <a:t>3. WHEN does Tom realize he has a big problem?</a:t>
            </a:r>
            <a:endParaRPr lang="en-GB" sz="1400" dirty="0">
              <a:latin typeface="Book Antiqua" panose="02040602050305030304" pitchFamily="18" charset="0"/>
            </a:endParaRPr>
          </a:p>
          <a:p>
            <a:r>
              <a:rPr lang="en-GB" sz="1400" dirty="0">
                <a:latin typeface="Book Antiqua" panose="02040602050305030304" pitchFamily="18" charset="0"/>
              </a:rPr>
              <a:t>A) When he first walks into the restaurant</a:t>
            </a:r>
          </a:p>
          <a:p>
            <a:r>
              <a:rPr lang="en-GB" sz="1400" dirty="0">
                <a:latin typeface="Book Antiqua" panose="02040602050305030304" pitchFamily="18" charset="0"/>
              </a:rPr>
              <a:t>B) While he is drinking his pineapple drink</a:t>
            </a:r>
          </a:p>
          <a:p>
            <a:r>
              <a:rPr lang="en-GB" sz="1400" dirty="0">
                <a:latin typeface="Book Antiqua" panose="02040602050305030304" pitchFamily="18" charset="0"/>
              </a:rPr>
              <a:t>C) Right after he finishes his salmon</a:t>
            </a:r>
          </a:p>
          <a:p>
            <a:r>
              <a:rPr lang="en-GB" sz="1400" dirty="0">
                <a:latin typeface="Book Antiqua" panose="02040602050305030304" pitchFamily="18" charset="0"/>
              </a:rPr>
              <a:t>D) When the waitress brings him the bill at the end of the meal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77ADA-BFCB-1A1A-3FA0-3EE84CA4F476}"/>
              </a:ext>
            </a:extLst>
          </p:cNvPr>
          <p:cNvSpPr txBox="1"/>
          <p:nvPr/>
        </p:nvSpPr>
        <p:spPr>
          <a:xfrm>
            <a:off x="5424256" y="913889"/>
            <a:ext cx="356438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latin typeface="Book Antiqua" panose="02040602050305030304" pitchFamily="18" charset="0"/>
              </a:rPr>
              <a:t>4.WHY can't Tom pay for his food?</a:t>
            </a:r>
            <a:endParaRPr lang="en-GB" sz="1400" dirty="0">
              <a:latin typeface="Book Antiqua" panose="02040602050305030304" pitchFamily="18" charset="0"/>
            </a:endParaRPr>
          </a:p>
          <a:p>
            <a:r>
              <a:rPr lang="en-GB" sz="1400" dirty="0">
                <a:latin typeface="Book Antiqua" panose="02040602050305030304" pitchFamily="18" charset="0"/>
              </a:rPr>
              <a:t>A) His credit card was declined.</a:t>
            </a:r>
          </a:p>
          <a:p>
            <a:r>
              <a:rPr lang="en-GB" sz="1400" dirty="0">
                <a:latin typeface="Book Antiqua" panose="02040602050305030304" pitchFamily="18" charset="0"/>
              </a:rPr>
              <a:t>B) He thinks the food was too expensive.</a:t>
            </a:r>
          </a:p>
          <a:p>
            <a:r>
              <a:rPr lang="en-GB" sz="1400" dirty="0">
                <a:latin typeface="Book Antiqua" panose="02040602050305030304" pitchFamily="18" charset="0"/>
              </a:rPr>
              <a:t>C) He completely forgot his wallet at home.</a:t>
            </a:r>
          </a:p>
          <a:p>
            <a:r>
              <a:rPr lang="en-GB" sz="1400" dirty="0">
                <a:latin typeface="Book Antiqua" panose="02040602050305030304" pitchFamily="18" charset="0"/>
              </a:rPr>
              <a:t>D) He lost his money on the beach.</a:t>
            </a:r>
          </a:p>
          <a:p>
            <a:endParaRPr lang="en-GB" sz="1400" dirty="0">
              <a:latin typeface="Book Antiqua" panose="02040602050305030304" pitchFamily="18" charset="0"/>
            </a:endParaRPr>
          </a:p>
          <a:p>
            <a:endParaRPr lang="en-GB" sz="1400" dirty="0">
              <a:latin typeface="Book Antiqua" panose="02040602050305030304" pitchFamily="18" charset="0"/>
            </a:endParaRPr>
          </a:p>
          <a:p>
            <a:r>
              <a:rPr lang="en-GB" sz="1400" b="1" dirty="0">
                <a:latin typeface="Book Antiqua" panose="02040602050305030304" pitchFamily="18" charset="0"/>
              </a:rPr>
              <a:t>5. HOW does the waitress react when Tom says he cannot pay?</a:t>
            </a:r>
            <a:endParaRPr lang="en-GB" sz="1400" dirty="0">
              <a:latin typeface="Book Antiqua" panose="02040602050305030304" pitchFamily="18" charset="0"/>
            </a:endParaRPr>
          </a:p>
          <a:p>
            <a:r>
              <a:rPr lang="en-GB" sz="1400" dirty="0">
                <a:latin typeface="Book Antiqua" panose="02040602050305030304" pitchFamily="18" charset="0"/>
              </a:rPr>
              <a:t>A) She tells him not to worry but says he must find another way to pay.</a:t>
            </a:r>
          </a:p>
          <a:p>
            <a:r>
              <a:rPr lang="en-GB" sz="1400" dirty="0">
                <a:latin typeface="Book Antiqua" panose="02040602050305030304" pitchFamily="18" charset="0"/>
              </a:rPr>
              <a:t>B) She starts yelling at him to leave.</a:t>
            </a:r>
          </a:p>
          <a:p>
            <a:r>
              <a:rPr lang="en-GB" sz="1400" dirty="0">
                <a:latin typeface="Book Antiqua" panose="02040602050305030304" pitchFamily="18" charset="0"/>
              </a:rPr>
              <a:t>C) She calls the police immediately.</a:t>
            </a:r>
          </a:p>
          <a:p>
            <a:r>
              <a:rPr lang="en-GB" sz="1400" dirty="0">
                <a:latin typeface="Book Antiqua" panose="02040602050305030304" pitchFamily="18" charset="0"/>
              </a:rPr>
              <a:t>D) She gives him the meal for free.</a:t>
            </a:r>
          </a:p>
        </p:txBody>
      </p:sp>
    </p:spTree>
    <p:extLst>
      <p:ext uri="{BB962C8B-B14F-4D97-AF65-F5344CB8AC3E}">
        <p14:creationId xmlns:p14="http://schemas.microsoft.com/office/powerpoint/2010/main" val="1897602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3508</Words>
  <Application>Microsoft Macintosh PowerPoint</Application>
  <PresentationFormat>On-screen Show (16:9)</PresentationFormat>
  <Paragraphs>441</Paragraphs>
  <Slides>24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Book Antiqua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TOEFL Listening - Step 2</dc:title>
  <dc:subject>PptxGenJS Presentation</dc:subject>
  <dc:creator>PptxGenJS</dc:creator>
  <cp:lastModifiedBy>askR</cp:lastModifiedBy>
  <cp:revision>8</cp:revision>
  <dcterms:created xsi:type="dcterms:W3CDTF">2026-06-13T15:39:37Z</dcterms:created>
  <dcterms:modified xsi:type="dcterms:W3CDTF">2026-06-17T12:17:46Z</dcterms:modified>
</cp:coreProperties>
</file>